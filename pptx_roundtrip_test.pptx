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0" r:id="rId4"/>
    <p:sldId id="258" r:id="rId5"/>
    <p:sldId id="259" r:id="rId6"/>
    <p:sldId id="261" r:id="rId7"/>
    <p:sldId id="267" r:id="rId8"/>
    <p:sldId id="272" r:id="rId9"/>
    <p:sldId id="262" r:id="rId10"/>
    <p:sldId id="263" r:id="rId11"/>
    <p:sldId id="264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8BAAF"/>
    <a:srgbClr val="087F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179" autoAdjust="0"/>
  </p:normalViewPr>
  <p:slideViewPr>
    <p:cSldViewPr snapToGrid="0" snapToObjects="1">
      <p:cViewPr varScale="1">
        <p:scale>
          <a:sx n="55" d="100"/>
          <a:sy n="55" d="100"/>
        </p:scale>
        <p:origin x="1072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42096B-04F5-475D-A996-EA022195660B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F307E7-51A2-4240-BAD1-CAB0BA945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21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F307E7-51A2-4240-BAD1-CAB0BA945C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9502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F307E7-51A2-4240-BAD1-CAB0BA945C1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28351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Gunung Ibu Kembali Erupsi, Tinggi Letusan 600 Meter di Atas Puncak ...">
            <a:extLst>
              <a:ext uri="{FF2B5EF4-FFF2-40B4-BE49-F238E27FC236}">
                <a16:creationId xmlns:a16="http://schemas.microsoft.com/office/drawing/2014/main" id="{D7E3CF04-62E3-027A-4131-0C6A23C31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DD6C8"/>
          </a:solidFill>
          <a:ln>
            <a:solidFill>
              <a:srgbClr val="8DD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50274" y="816861"/>
            <a:ext cx="3740331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100" b="1" dirty="0">
                <a:solidFill>
                  <a:srgbClr val="8DD6C8"/>
                </a:solidFill>
                <a:latin typeface="Aptos"/>
              </a:rPr>
              <a:t>Pusat </a:t>
            </a:r>
            <a:r>
              <a:rPr lang="en-US" sz="1100" b="1" dirty="0" err="1">
                <a:solidFill>
                  <a:srgbClr val="8DD6C8"/>
                </a:solidFill>
                <a:latin typeface="Aptos"/>
              </a:rPr>
              <a:t>Vulkanologi</a:t>
            </a:r>
            <a:r>
              <a:rPr lang="en-US" sz="1100" b="1" dirty="0">
                <a:solidFill>
                  <a:srgbClr val="8DD6C8"/>
                </a:solidFill>
                <a:latin typeface="Aptos"/>
              </a:rPr>
              <a:t> dan </a:t>
            </a:r>
          </a:p>
          <a:p>
            <a:pPr algn="l"/>
            <a:r>
              <a:rPr lang="en-US" sz="1100" b="1" dirty="0" err="1">
                <a:solidFill>
                  <a:srgbClr val="8DD6C8"/>
                </a:solidFill>
                <a:latin typeface="Aptos"/>
              </a:rPr>
              <a:t>Mitigasi</a:t>
            </a:r>
            <a:r>
              <a:rPr lang="en-US" sz="1100" b="1" dirty="0">
                <a:solidFill>
                  <a:srgbClr val="8DD6C8"/>
                </a:solidFill>
                <a:latin typeface="Aptos"/>
              </a:rPr>
              <a:t> </a:t>
            </a:r>
            <a:r>
              <a:rPr lang="en-US" sz="1100" b="1" dirty="0" err="1">
                <a:solidFill>
                  <a:srgbClr val="8DD6C8"/>
                </a:solidFill>
                <a:latin typeface="Aptos"/>
              </a:rPr>
              <a:t>Bencana</a:t>
            </a:r>
            <a:r>
              <a:rPr lang="en-US" sz="1100" b="1" dirty="0">
                <a:solidFill>
                  <a:srgbClr val="8DD6C8"/>
                </a:solidFill>
                <a:latin typeface="Aptos"/>
              </a:rPr>
              <a:t> </a:t>
            </a:r>
            <a:r>
              <a:rPr lang="en-US" sz="1100" b="1" dirty="0" err="1">
                <a:solidFill>
                  <a:srgbClr val="8DD6C8"/>
                </a:solidFill>
                <a:latin typeface="Aptos"/>
              </a:rPr>
              <a:t>Geologi</a:t>
            </a:r>
            <a:endParaRPr sz="1100" b="1" dirty="0">
              <a:solidFill>
                <a:srgbClr val="8DD6C8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8597538" cy="3785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fi-FI" sz="4000" b="1" dirty="0">
                <a:solidFill>
                  <a:srgbClr val="FFFFFF"/>
                </a:solidFill>
                <a:latin typeface="Aptos"/>
              </a:rPr>
              <a:t>SISTEM PEMANTAUAN HOTSPOT MODIS DAN </a:t>
            </a:r>
          </a:p>
          <a:p>
            <a:pPr algn="l"/>
            <a:r>
              <a:rPr lang="fi-FI" sz="4000" b="1" dirty="0">
                <a:solidFill>
                  <a:srgbClr val="FFFFFF"/>
                </a:solidFill>
                <a:latin typeface="Aptos"/>
              </a:rPr>
              <a:t>ESTIMASI VOLUME LAVA</a:t>
            </a:r>
            <a:r>
              <a:rPr lang="en-US" sz="4000" b="1" dirty="0">
                <a:solidFill>
                  <a:srgbClr val="FFFFFF"/>
                </a:solidFill>
                <a:latin typeface="Aptos"/>
              </a:rPr>
              <a:t> PADA GUNUNG IBU DAN GUNUNG LEWOTOLOK</a:t>
            </a:r>
          </a:p>
          <a:p>
            <a:pPr algn="l"/>
            <a:endParaRPr sz="40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439250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8DD6C8"/>
                </a:solidFill>
                <a:latin typeface="Aptos"/>
              </a:rPr>
              <a:t>Progress </a:t>
            </a:r>
            <a:r>
              <a:rPr sz="1300" b="0" dirty="0" err="1">
                <a:solidFill>
                  <a:srgbClr val="8DD6C8"/>
                </a:solidFill>
                <a:latin typeface="Aptos"/>
              </a:rPr>
              <a:t>pekerjaan</a:t>
            </a:r>
            <a:r>
              <a:rPr sz="1300" b="0" dirty="0">
                <a:solidFill>
                  <a:srgbClr val="8DD6C8"/>
                </a:solidFill>
                <a:latin typeface="Aptos"/>
              </a:rPr>
              <a:t> dan </a:t>
            </a:r>
            <a:r>
              <a:rPr sz="1300" b="0" dirty="0" err="1">
                <a:solidFill>
                  <a:srgbClr val="8DD6C8"/>
                </a:solidFill>
                <a:latin typeface="Aptos"/>
              </a:rPr>
              <a:t>rencana</a:t>
            </a:r>
            <a:r>
              <a:rPr sz="1300" b="0" dirty="0">
                <a:solidFill>
                  <a:srgbClr val="8DD6C8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8DD6C8"/>
                </a:solidFill>
                <a:latin typeface="Aptos"/>
              </a:rPr>
              <a:t>pengembangan</a:t>
            </a:r>
            <a:endParaRPr sz="1300" b="0" dirty="0">
              <a:solidFill>
                <a:srgbClr val="8DD6C8"/>
              </a:solidFill>
              <a:latin typeface="Apto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77240" y="4719429"/>
            <a:ext cx="4754880" cy="18288"/>
          </a:xfrm>
          <a:prstGeom prst="rect">
            <a:avLst/>
          </a:prstGeom>
          <a:solidFill>
            <a:srgbClr val="8DD6C8"/>
          </a:solidFill>
          <a:ln>
            <a:solidFill>
              <a:srgbClr val="8DD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4779318"/>
            <a:ext cx="36576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Aptos"/>
              </a:rPr>
              <a:t>Salma Aulia Nisa</a:t>
            </a:r>
            <a:endParaRPr lang="en-US" sz="1400" b="1" dirty="0">
              <a:solidFill>
                <a:srgbClr val="FFFFFF"/>
              </a:solidFill>
              <a:latin typeface="Aptos"/>
            </a:endParaRPr>
          </a:p>
          <a:p>
            <a:pPr algn="l"/>
            <a:r>
              <a:rPr lang="en-US" sz="1400" b="1" dirty="0">
                <a:solidFill>
                  <a:srgbClr val="FFFFFF"/>
                </a:solidFill>
                <a:latin typeface="Aptos"/>
              </a:rPr>
              <a:t>Aditya </a:t>
            </a:r>
            <a:r>
              <a:rPr lang="en-US" sz="1400" b="1" dirty="0" err="1">
                <a:solidFill>
                  <a:srgbClr val="FFFFFF"/>
                </a:solidFill>
                <a:latin typeface="Aptos"/>
              </a:rPr>
              <a:t>Permana</a:t>
            </a:r>
            <a:endParaRPr sz="1400" b="1" dirty="0">
              <a:solidFill>
                <a:srgbClr val="FFFFFF"/>
              </a:solidFill>
              <a:latin typeface="Apto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40CA2EA-0A81-216A-B0AC-211C329A9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578" y="638503"/>
            <a:ext cx="813872" cy="7772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Gunung Ibu Kembali Erupsi, Tinggi Letusan 600 Meter di Atas Puncak ...">
            <a:extLst>
              <a:ext uri="{FF2B5EF4-FFF2-40B4-BE49-F238E27FC236}">
                <a16:creationId xmlns:a16="http://schemas.microsoft.com/office/drawing/2014/main" id="{BE30A395-6114-FF96-7962-F9789801F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B7A"/>
                </a:solidFill>
                <a:latin typeface="Aptos"/>
              </a:rPr>
              <a:t>MODIS VOLCANO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87F8C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chemeClr val="bg1"/>
                </a:solidFill>
                <a:latin typeface="Aptos"/>
              </a:rPr>
              <a:t>01  IDENTITAS PEKERJAAN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69848"/>
            <a:ext cx="1078992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 err="1">
                <a:solidFill>
                  <a:schemeClr val="bg1"/>
                </a:solidFill>
                <a:latin typeface="Aptos"/>
              </a:rPr>
              <a:t>Tentang</a:t>
            </a:r>
            <a:r>
              <a:rPr sz="270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2700" b="1" dirty="0" err="1">
                <a:solidFill>
                  <a:schemeClr val="bg1"/>
                </a:solidFill>
                <a:latin typeface="Aptos"/>
              </a:rPr>
              <a:t>proyek</a:t>
            </a:r>
            <a:r>
              <a:rPr sz="270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2700" b="1" dirty="0" err="1">
                <a:solidFill>
                  <a:schemeClr val="bg1"/>
                </a:solidFill>
                <a:latin typeface="Aptos"/>
              </a:rPr>
              <a:t>ini</a:t>
            </a:r>
            <a:endParaRPr sz="27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3383280" cy="2103120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240280"/>
            <a:ext cx="73152" cy="2103120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" y="242316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Penyusun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07208"/>
            <a:ext cx="2926080" cy="12464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dirty="0">
                <a:solidFill>
                  <a:srgbClr val="5C6B7A"/>
                </a:solidFill>
                <a:latin typeface="Aptos"/>
              </a:rPr>
              <a:t>Salma Aulia Nisa
</a:t>
            </a:r>
            <a:r>
              <a:rPr lang="en-US" sz="1500" dirty="0">
                <a:solidFill>
                  <a:srgbClr val="5C6B7A"/>
                </a:solidFill>
                <a:latin typeface="Aptos"/>
              </a:rPr>
              <a:t>Aditya </a:t>
            </a:r>
            <a:r>
              <a:rPr lang="en-US" sz="1500" dirty="0" err="1">
                <a:solidFill>
                  <a:srgbClr val="5C6B7A"/>
                </a:solidFill>
                <a:latin typeface="Aptos"/>
              </a:rPr>
              <a:t>Permana</a:t>
            </a:r>
            <a:r>
              <a:rPr lang="en-US" sz="1500" dirty="0">
                <a:solidFill>
                  <a:srgbClr val="5C6B7A"/>
                </a:solidFill>
                <a:latin typeface="Aptos"/>
              </a:rPr>
              <a:t> </a:t>
            </a:r>
            <a:r>
              <a:rPr sz="1500" b="0" dirty="0">
                <a:solidFill>
                  <a:srgbClr val="5C6B7A"/>
                </a:solidFill>
                <a:latin typeface="Aptos"/>
              </a:rPr>
              <a:t>
</a:t>
            </a:r>
            <a:endParaRPr lang="en-US" sz="1500" b="0" dirty="0">
              <a:solidFill>
                <a:srgbClr val="5C6B7A"/>
              </a:solidFill>
              <a:latin typeface="Aptos"/>
            </a:endParaRPr>
          </a:p>
          <a:p>
            <a:pPr algn="l"/>
            <a:r>
              <a:rPr sz="1500" b="0" dirty="0" err="1">
                <a:solidFill>
                  <a:srgbClr val="5C6B7A"/>
                </a:solidFill>
                <a:latin typeface="Aptos"/>
              </a:rPr>
              <a:t>Pembimbing</a:t>
            </a:r>
            <a:r>
              <a:rPr sz="1500" b="0" dirty="0">
                <a:solidFill>
                  <a:srgbClr val="5C6B7A"/>
                </a:solidFill>
                <a:latin typeface="Aptos"/>
              </a:rPr>
              <a:t>: </a:t>
            </a:r>
            <a:r>
              <a:rPr sz="1500" b="0" dirty="0" err="1">
                <a:solidFill>
                  <a:srgbClr val="5C6B7A"/>
                </a:solidFill>
                <a:latin typeface="Aptos"/>
              </a:rPr>
              <a:t>Bpk</a:t>
            </a:r>
            <a:r>
              <a:rPr sz="1500" b="0" dirty="0">
                <a:solidFill>
                  <a:srgbClr val="5C6B7A"/>
                </a:solidFill>
                <a:latin typeface="Aptos"/>
              </a:rPr>
              <a:t> Dary</a:t>
            </a:r>
            <a:r>
              <a:rPr lang="en-US" sz="1500" b="0" dirty="0">
                <a:solidFill>
                  <a:srgbClr val="5C6B7A"/>
                </a:solidFill>
                <a:latin typeface="Aptos"/>
              </a:rPr>
              <a:t> Putra Utama </a:t>
            </a:r>
            <a:r>
              <a:rPr lang="en-US" sz="1500" b="0" dirty="0" err="1">
                <a:solidFill>
                  <a:srgbClr val="5C6B7A"/>
                </a:solidFill>
                <a:latin typeface="Aptos"/>
              </a:rPr>
              <a:t>S.Si</a:t>
            </a:r>
            <a:endParaRPr sz="1500" b="0" dirty="0">
              <a:solidFill>
                <a:srgbClr val="5C6B7A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89120" y="2240280"/>
            <a:ext cx="3383280" cy="2103120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2240280"/>
            <a:ext cx="73152" cy="2103120"/>
          </a:xfrm>
          <a:prstGeom prst="rect">
            <a:avLst/>
          </a:prstGeom>
          <a:solidFill>
            <a:srgbClr val="A96710"/>
          </a:solidFill>
          <a:ln>
            <a:solidFill>
              <a:srgbClr val="A967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36008" y="242316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Topik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807208"/>
            <a:ext cx="2926080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Sistem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Pemantauan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 Hotspot Modis Dan </a:t>
            </a:r>
          </a:p>
          <a:p>
            <a:pPr algn="l"/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Estimasi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 Volume Lava Pada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Gunung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 Ibu Dan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Gunung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Lewotolok</a:t>
            </a:r>
            <a:endParaRPr lang="en-US" sz="1300" b="0" dirty="0">
              <a:solidFill>
                <a:srgbClr val="5C6B7A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46720" y="2240280"/>
            <a:ext cx="3383280" cy="2103120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2240280"/>
            <a:ext cx="73152" cy="2103120"/>
          </a:xfrm>
          <a:prstGeom prst="rect">
            <a:avLst/>
          </a:prstGeom>
          <a:solidFill>
            <a:srgbClr val="237E5A"/>
          </a:solidFill>
          <a:ln>
            <a:solidFill>
              <a:srgbClr val="237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8" y="242316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807208"/>
            <a:ext cx="2926080" cy="6924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 err="1">
                <a:solidFill>
                  <a:srgbClr val="5C6B7A"/>
                </a:solidFill>
                <a:latin typeface="Aptos"/>
              </a:rPr>
              <a:t>Aplikasi</a:t>
            </a:r>
            <a:r>
              <a:rPr sz="1300" b="0" dirty="0">
                <a:solidFill>
                  <a:srgbClr val="5C6B7A"/>
                </a:solidFill>
                <a:latin typeface="Aptos"/>
              </a:rPr>
              <a:t> web </a:t>
            </a:r>
            <a:r>
              <a:rPr sz="1300" b="0" dirty="0" err="1">
                <a:solidFill>
                  <a:srgbClr val="5C6B7A"/>
                </a:solidFill>
                <a:latin typeface="Aptos"/>
              </a:rPr>
              <a:t>dengan</a:t>
            </a:r>
            <a:r>
              <a:rPr sz="1300" b="0" dirty="0">
                <a:solidFill>
                  <a:srgbClr val="5C6B7A"/>
                </a:solidFill>
                <a:latin typeface="Aptos"/>
              </a:rPr>
              <a:t> collector </a:t>
            </a:r>
            <a:r>
              <a:rPr sz="1300" b="0" dirty="0" err="1">
                <a:solidFill>
                  <a:srgbClr val="5C6B7A"/>
                </a:solidFill>
                <a:latin typeface="Aptos"/>
              </a:rPr>
              <a:t>otomatis</a:t>
            </a:r>
            <a:r>
              <a:rPr sz="1300" b="0" dirty="0">
                <a:solidFill>
                  <a:srgbClr val="5C6B7A"/>
                </a:solidFill>
                <a:latin typeface="Aptos"/>
              </a:rPr>
              <a:t>, database, </a:t>
            </a:r>
            <a:r>
              <a:rPr sz="1300" b="0" dirty="0" err="1">
                <a:solidFill>
                  <a:srgbClr val="5C6B7A"/>
                </a:solidFill>
                <a:latin typeface="Aptos"/>
              </a:rPr>
              <a:t>kalkulasi</a:t>
            </a:r>
            <a:r>
              <a:rPr sz="1300" b="0" dirty="0">
                <a:solidFill>
                  <a:srgbClr val="5C6B7A"/>
                </a:solidFill>
                <a:latin typeface="Aptos"/>
              </a:rPr>
              <a:t> lava, dashboard, </a:t>
            </a:r>
            <a:r>
              <a:rPr sz="1300" b="0" dirty="0" err="1">
                <a:solidFill>
                  <a:srgbClr val="5C6B7A"/>
                </a:solidFill>
                <a:latin typeface="Aptos"/>
              </a:rPr>
              <a:t>grafik</a:t>
            </a:r>
            <a:r>
              <a:rPr sz="1300" b="0" dirty="0">
                <a:solidFill>
                  <a:srgbClr val="5C6B7A"/>
                </a:solidFill>
                <a:latin typeface="Aptos"/>
              </a:rPr>
              <a:t>, </a:t>
            </a:r>
            <a:r>
              <a:rPr lang="en-US" sz="1300" dirty="0">
                <a:solidFill>
                  <a:srgbClr val="5C6B7A"/>
                </a:solidFill>
                <a:latin typeface="Aptos"/>
              </a:rPr>
              <a:t>dan Peta Hotspot</a:t>
            </a:r>
            <a:r>
              <a:rPr sz="1300" b="0" dirty="0">
                <a:solidFill>
                  <a:srgbClr val="5C6B7A"/>
                </a:solidFill>
                <a:latin typeface="Aptos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0292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 err="1">
                <a:solidFill>
                  <a:schemeClr val="bg1"/>
                </a:solidFill>
                <a:latin typeface="Aptos"/>
              </a:rPr>
              <a:t>Fokus</a:t>
            </a:r>
            <a:r>
              <a:rPr sz="140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1400" b="1" dirty="0" err="1">
                <a:solidFill>
                  <a:schemeClr val="bg1"/>
                </a:solidFill>
                <a:latin typeface="Aptos"/>
              </a:rPr>
              <a:t>utama</a:t>
            </a:r>
            <a:r>
              <a:rPr sz="1400" b="1" dirty="0">
                <a:solidFill>
                  <a:schemeClr val="bg1"/>
                </a:solidFill>
                <a:latin typeface="Aptos"/>
              </a:rPr>
              <a:t>: </a:t>
            </a:r>
            <a:r>
              <a:rPr sz="1400" b="1" dirty="0" err="1">
                <a:solidFill>
                  <a:schemeClr val="bg1"/>
                </a:solidFill>
                <a:latin typeface="Aptos"/>
              </a:rPr>
              <a:t>mengubah</a:t>
            </a:r>
            <a:r>
              <a:rPr sz="1400" b="1" dirty="0">
                <a:solidFill>
                  <a:schemeClr val="bg1"/>
                </a:solidFill>
                <a:latin typeface="Aptos"/>
              </a:rPr>
              <a:t> data </a:t>
            </a:r>
            <a:r>
              <a:rPr sz="1400" b="1" dirty="0" err="1">
                <a:solidFill>
                  <a:schemeClr val="bg1"/>
                </a:solidFill>
                <a:latin typeface="Aptos"/>
              </a:rPr>
              <a:t>observasi</a:t>
            </a:r>
            <a:r>
              <a:rPr sz="140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1400" b="1" dirty="0" err="1">
                <a:solidFill>
                  <a:schemeClr val="bg1"/>
                </a:solidFill>
                <a:latin typeface="Aptos"/>
              </a:rPr>
              <a:t>menjadi</a:t>
            </a:r>
            <a:r>
              <a:rPr sz="140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1400" b="1" dirty="0" err="1">
                <a:solidFill>
                  <a:schemeClr val="bg1"/>
                </a:solidFill>
                <a:latin typeface="Aptos"/>
              </a:rPr>
              <a:t>informasi</a:t>
            </a:r>
            <a:r>
              <a:rPr sz="1400" b="1" dirty="0">
                <a:solidFill>
                  <a:schemeClr val="bg1"/>
                </a:solidFill>
                <a:latin typeface="Aptos"/>
              </a:rPr>
              <a:t> yang </a:t>
            </a:r>
            <a:r>
              <a:rPr sz="1400" b="1" dirty="0" err="1">
                <a:solidFill>
                  <a:schemeClr val="bg1"/>
                </a:solidFill>
                <a:latin typeface="Aptos"/>
              </a:rPr>
              <a:t>lebih</a:t>
            </a:r>
            <a:r>
              <a:rPr sz="140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1400" b="1" dirty="0" err="1">
                <a:solidFill>
                  <a:schemeClr val="bg1"/>
                </a:solidFill>
                <a:latin typeface="Aptos"/>
              </a:rPr>
              <a:t>terstruktur</a:t>
            </a:r>
            <a:r>
              <a:rPr sz="1400" b="1" dirty="0">
                <a:solidFill>
                  <a:schemeClr val="bg1"/>
                </a:solidFill>
                <a:latin typeface="Aptos"/>
              </a:rPr>
              <a:t> dan </a:t>
            </a:r>
            <a:r>
              <a:rPr sz="1400" b="1" dirty="0" err="1">
                <a:solidFill>
                  <a:schemeClr val="bg1"/>
                </a:solidFill>
                <a:latin typeface="Aptos"/>
              </a:rPr>
              <a:t>mudah</a:t>
            </a:r>
            <a:r>
              <a:rPr sz="140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1400" b="1" dirty="0" err="1">
                <a:solidFill>
                  <a:schemeClr val="bg1"/>
                </a:solidFill>
                <a:latin typeface="Aptos"/>
              </a:rPr>
              <a:t>dipantau</a:t>
            </a:r>
            <a:r>
              <a:rPr sz="1400" b="1" dirty="0">
                <a:solidFill>
                  <a:schemeClr val="bg1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 animBg="1"/>
      <p:bldP spid="9" grpId="0" animBg="1"/>
      <p:bldP spid="10" grpId="0"/>
      <p:bldP spid="11" grpId="0"/>
      <p:bldP spid="12" grpId="0" animBg="1"/>
      <p:bldP spid="13" grpId="0" animBg="1"/>
      <p:bldP spid="14" grpId="0"/>
      <p:bldP spid="15" grpId="0"/>
      <p:bldP spid="16" grpId="0" animBg="1"/>
      <p:bldP spid="17" grpId="0" animBg="1"/>
      <p:bldP spid="18" grpId="0"/>
      <p:bldP spid="19" grpId="0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Gunung Ibu Kembali Erupsi, Tinggi Letusan 600 Meter di Atas Puncak ...">
            <a:extLst>
              <a:ext uri="{FF2B5EF4-FFF2-40B4-BE49-F238E27FC236}">
                <a16:creationId xmlns:a16="http://schemas.microsoft.com/office/drawing/2014/main" id="{D5859261-CFCB-B781-F612-D938E95C2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B7A"/>
                </a:solidFill>
                <a:latin typeface="Aptos"/>
              </a:rPr>
              <a:t>MODIS VOLCANO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75126" y="64282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dirty="0">
                <a:solidFill>
                  <a:srgbClr val="087F8C"/>
                </a:solidFill>
                <a:latin typeface="Aptos"/>
              </a:rPr>
              <a:t>0</a:t>
            </a:r>
            <a:r>
              <a:rPr lang="en-US" sz="900" b="1" dirty="0">
                <a:solidFill>
                  <a:srgbClr val="087F8C"/>
                </a:solidFill>
                <a:latin typeface="Aptos"/>
              </a:rPr>
              <a:t>3</a:t>
            </a:r>
            <a:endParaRPr sz="900" b="1" dirty="0">
              <a:solidFill>
                <a:srgbClr val="087F8C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chemeClr val="bg1"/>
                </a:solidFill>
                <a:latin typeface="Aptos"/>
              </a:rPr>
              <a:t>0</a:t>
            </a:r>
            <a:r>
              <a:rPr lang="en-US" sz="1000" b="1" dirty="0">
                <a:solidFill>
                  <a:schemeClr val="bg1"/>
                </a:solidFill>
                <a:latin typeface="Aptos"/>
              </a:rPr>
              <a:t>2</a:t>
            </a:r>
            <a:r>
              <a:rPr sz="1000" b="1" dirty="0">
                <a:solidFill>
                  <a:schemeClr val="bg1"/>
                </a:solidFill>
                <a:latin typeface="Aptos"/>
              </a:rPr>
              <a:t>  LATAR BELAKANG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97197"/>
            <a:ext cx="1078992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dirty="0" err="1">
                <a:solidFill>
                  <a:schemeClr val="bg1"/>
                </a:solidFill>
                <a:latin typeface="Aptos"/>
              </a:rPr>
              <a:t>Mengapa</a:t>
            </a:r>
            <a:r>
              <a:rPr sz="360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3600" b="1" dirty="0" err="1">
                <a:solidFill>
                  <a:schemeClr val="bg1"/>
                </a:solidFill>
                <a:latin typeface="Aptos"/>
              </a:rPr>
              <a:t>sistem</a:t>
            </a:r>
            <a:r>
              <a:rPr sz="360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3600" b="1" dirty="0" err="1">
                <a:solidFill>
                  <a:schemeClr val="bg1"/>
                </a:solidFill>
                <a:latin typeface="Aptos"/>
              </a:rPr>
              <a:t>ini</a:t>
            </a:r>
            <a:r>
              <a:rPr sz="360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3600" b="1" dirty="0" err="1">
                <a:solidFill>
                  <a:schemeClr val="bg1"/>
                </a:solidFill>
                <a:latin typeface="Aptos"/>
              </a:rPr>
              <a:t>dibuat</a:t>
            </a:r>
            <a:r>
              <a:rPr sz="3600" b="1" dirty="0">
                <a:solidFill>
                  <a:schemeClr val="bg1"/>
                </a:solidFill>
                <a:latin typeface="Aptos"/>
              </a:rPr>
              <a:t>?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240280"/>
            <a:ext cx="73152" cy="2560320"/>
          </a:xfrm>
          <a:prstGeom prst="rect">
            <a:avLst/>
          </a:prstGeom>
          <a:solidFill>
            <a:srgbClr val="A96710"/>
          </a:solidFill>
          <a:ln>
            <a:solidFill>
              <a:srgbClr val="A967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7" y="2489388"/>
            <a:ext cx="9865942" cy="23083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600" b="1" dirty="0" err="1">
                <a:solidFill>
                  <a:schemeClr val="bg1"/>
                </a:solidFill>
                <a:latin typeface="Aptos"/>
              </a:rPr>
              <a:t>Gunung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Ibu dan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Gunung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Lewotolok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merupakan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gunung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api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aktif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yang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perlu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dipantau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secara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berkala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, salah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satunya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melalui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estimasi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laju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keluarnya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lava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untuk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memahami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perkembangan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erupsi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. Data MODIS Hotspot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dapat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dimanfaatkan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untuk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mengidentifikasi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titik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panas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,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namun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pengolahan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manual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membutuhkan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waktu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dan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kurang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efektif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,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serta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hasil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berupa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tabel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sulit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digunakan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untuk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melihat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perkembangan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aktivitas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secara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cepat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. Oleh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karena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itu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,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dibangun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sistem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pemantauan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berbasis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web yang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mengambil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dan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memperbarui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data MODIS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secara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berkala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,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lalu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mengolahnya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dengan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metode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Andrew J. L. Harris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untuk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menghasilkan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estimasi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laju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keluarnya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lava dan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aliran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panas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, yang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ditampilkan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dalam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bentuk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grafik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pada dashboard agar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perkembangan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aktivitas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gunung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api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dapat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dipantau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secara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lebih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terstruktur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,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efisien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, dan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mudah</a:t>
            </a:r>
            <a:endParaRPr sz="1600" b="1" dirty="0">
              <a:solidFill>
                <a:schemeClr val="bg1"/>
              </a:solidFill>
              <a:latin typeface="Aptos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 animBg="1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Gunung Ibu Kembali Erupsi, Tinggi Letusan 600 Meter di Atas Puncak ...">
            <a:extLst>
              <a:ext uri="{FF2B5EF4-FFF2-40B4-BE49-F238E27FC236}">
                <a16:creationId xmlns:a16="http://schemas.microsoft.com/office/drawing/2014/main" id="{B7D3026B-C7CD-B985-090D-CA5D9AE84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B7A"/>
                </a:solidFill>
                <a:latin typeface="Aptos"/>
              </a:rPr>
              <a:t>MODIS VOLCANO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dirty="0">
                <a:solidFill>
                  <a:srgbClr val="087F8C"/>
                </a:solidFill>
                <a:latin typeface="Aptos"/>
              </a:rPr>
              <a:t>0</a:t>
            </a:r>
            <a:r>
              <a:rPr lang="en-US" sz="900" b="1" dirty="0">
                <a:solidFill>
                  <a:srgbClr val="087F8C"/>
                </a:solidFill>
                <a:latin typeface="Aptos"/>
              </a:rPr>
              <a:t>4</a:t>
            </a:r>
            <a:endParaRPr sz="900" b="1" dirty="0">
              <a:solidFill>
                <a:srgbClr val="087F8C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chemeClr val="bg1"/>
                </a:solidFill>
                <a:latin typeface="Aptos"/>
              </a:rPr>
              <a:t>0</a:t>
            </a:r>
            <a:r>
              <a:rPr lang="en-US" sz="1000" b="1" dirty="0">
                <a:solidFill>
                  <a:schemeClr val="bg1"/>
                </a:solidFill>
                <a:latin typeface="Aptos"/>
              </a:rPr>
              <a:t>3</a:t>
            </a:r>
            <a:r>
              <a:rPr sz="1000" b="1" dirty="0">
                <a:solidFill>
                  <a:schemeClr val="bg1"/>
                </a:solidFill>
                <a:latin typeface="Aptos"/>
              </a:rPr>
              <a:t> 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68680"/>
            <a:ext cx="1078992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 err="1">
                <a:solidFill>
                  <a:schemeClr val="bg1"/>
                </a:solidFill>
                <a:latin typeface="Aptos"/>
              </a:rPr>
              <a:t>Teknologi</a:t>
            </a:r>
            <a:r>
              <a:rPr sz="2700" b="1" dirty="0">
                <a:solidFill>
                  <a:schemeClr val="bg1"/>
                </a:solidFill>
                <a:latin typeface="Aptos"/>
              </a:rPr>
              <a:t> yang </a:t>
            </a:r>
            <a:r>
              <a:rPr sz="2700" b="1" dirty="0" err="1">
                <a:solidFill>
                  <a:schemeClr val="bg1"/>
                </a:solidFill>
                <a:latin typeface="Aptos"/>
              </a:rPr>
              <a:t>digunakan</a:t>
            </a:r>
            <a:endParaRPr sz="27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5156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 err="1">
                <a:solidFill>
                  <a:schemeClr val="bg1"/>
                </a:solidFill>
                <a:latin typeface="Aptos"/>
              </a:rPr>
              <a:t>Komponen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teknologi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disusun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sebagai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sistem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terpisah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antara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pengambilan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data, API, database, dan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antarmuka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94560"/>
            <a:ext cx="2560320" cy="2286000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194560"/>
            <a:ext cx="73152" cy="2286000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37744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761488"/>
            <a:ext cx="210312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C6B7A"/>
                </a:solidFill>
                <a:latin typeface="Aptos"/>
              </a:rPr>
              <a:t>Worker collector dan modul perhitungan.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194560"/>
            <a:ext cx="2560320" cy="2286000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29000" y="2194560"/>
            <a:ext cx="73152" cy="2286000"/>
          </a:xfrm>
          <a:prstGeom prst="rect">
            <a:avLst/>
          </a:prstGeom>
          <a:solidFill>
            <a:srgbClr val="A96710"/>
          </a:solidFill>
          <a:ln>
            <a:solidFill>
              <a:srgbClr val="A967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75887" y="237744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Flask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2761488"/>
            <a:ext cx="210312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C6B7A"/>
                </a:solidFill>
                <a:latin typeface="Aptos"/>
              </a:rPr>
              <a:t>Backend API untuk dashboard dan data kalkulasi.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194560"/>
            <a:ext cx="2560320" cy="2286000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72200" y="2194560"/>
            <a:ext cx="73152" cy="2286000"/>
          </a:xfrm>
          <a:prstGeom prst="rect">
            <a:avLst/>
          </a:prstGeom>
          <a:solidFill>
            <a:srgbClr val="237E5A"/>
          </a:solidFill>
          <a:ln>
            <a:solidFill>
              <a:srgbClr val="237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19088" y="237744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172033"/>
                </a:solidFill>
                <a:latin typeface="Aptos"/>
              </a:rPr>
              <a:t>React + Vite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761488"/>
            <a:ext cx="210312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C6B7A"/>
                </a:solidFill>
                <a:latin typeface="Aptos"/>
              </a:rPr>
              <a:t>Frontend interaktif untuk monitoring dan visualisasi.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2194560"/>
            <a:ext cx="2560320" cy="2286000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915400" y="2194560"/>
            <a:ext cx="73152" cy="2286000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62288" y="237744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172033"/>
                </a:solidFill>
                <a:latin typeface="Aptos"/>
              </a:rPr>
              <a:t>MySQL + Docker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2288" y="2761488"/>
            <a:ext cx="210312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C6B7A"/>
                </a:solidFill>
                <a:latin typeface="Aptos"/>
              </a:rPr>
              <a:t>Penyimpanan data dan deployment layanan.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66360"/>
            <a:ext cx="1078992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dirty="0" err="1">
                <a:solidFill>
                  <a:schemeClr val="bg1"/>
                </a:solidFill>
                <a:latin typeface="Aptos"/>
              </a:rPr>
              <a:t>Pendukung</a:t>
            </a:r>
            <a:r>
              <a:rPr sz="1300" b="1" dirty="0">
                <a:solidFill>
                  <a:schemeClr val="bg1"/>
                </a:solidFill>
                <a:latin typeface="Aptos"/>
              </a:rPr>
              <a:t>: Matplotlib, Scikit-learn, Tailwind CSS, Nginx, dan Recharts.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  <p:bldP spid="9" grpId="0" animBg="1"/>
      <p:bldP spid="10" grpId="0"/>
      <p:bldP spid="11" grpId="0"/>
      <p:bldP spid="12" grpId="0" animBg="1"/>
      <p:bldP spid="13" grpId="0" animBg="1"/>
      <p:bldP spid="14" grpId="0"/>
      <p:bldP spid="15" grpId="0"/>
      <p:bldP spid="16" grpId="0" animBg="1"/>
      <p:bldP spid="17" grpId="0" animBg="1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Gunung Ibu Kembali Erupsi, Tinggi Letusan 600 Meter di Atas Puncak ...">
            <a:extLst>
              <a:ext uri="{FF2B5EF4-FFF2-40B4-BE49-F238E27FC236}">
                <a16:creationId xmlns:a16="http://schemas.microsoft.com/office/drawing/2014/main" id="{97C323EB-80C4-660D-9C95-4C7FDDAE1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B7A"/>
                </a:solidFill>
                <a:latin typeface="Aptos"/>
              </a:rPr>
              <a:t>MODIS VOLCANO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dirty="0">
                <a:solidFill>
                  <a:srgbClr val="087F8C"/>
                </a:solidFill>
                <a:latin typeface="Aptos"/>
              </a:rPr>
              <a:t>0</a:t>
            </a:r>
            <a:r>
              <a:rPr lang="en-US" sz="900" b="1" dirty="0">
                <a:solidFill>
                  <a:srgbClr val="087F8C"/>
                </a:solidFill>
                <a:latin typeface="Aptos"/>
              </a:rPr>
              <a:t>5</a:t>
            </a:r>
            <a:endParaRPr sz="900" b="1" dirty="0">
              <a:solidFill>
                <a:srgbClr val="087F8C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chemeClr val="bg1"/>
                </a:solidFill>
                <a:latin typeface="Aptos"/>
              </a:rPr>
              <a:t>0</a:t>
            </a:r>
            <a:r>
              <a:rPr lang="en-US" sz="1000" b="1" dirty="0">
                <a:solidFill>
                  <a:schemeClr val="bg1"/>
                </a:solidFill>
                <a:latin typeface="Aptos"/>
              </a:rPr>
              <a:t>4</a:t>
            </a:r>
            <a:r>
              <a:rPr sz="1000" b="1" dirty="0">
                <a:solidFill>
                  <a:schemeClr val="bg1"/>
                </a:solidFill>
                <a:latin typeface="Aptos"/>
              </a:rPr>
              <a:t>  DATA &amp; SPESIFIKASI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68680"/>
            <a:ext cx="1078992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chemeClr val="bg1"/>
                </a:solidFill>
                <a:latin typeface="Aptos"/>
              </a:rPr>
              <a:t>Data yang </a:t>
            </a:r>
            <a:r>
              <a:rPr sz="2700" b="1" dirty="0" err="1">
                <a:solidFill>
                  <a:schemeClr val="bg1"/>
                </a:solidFill>
                <a:latin typeface="Aptos"/>
              </a:rPr>
              <a:t>diproses</a:t>
            </a:r>
            <a:r>
              <a:rPr sz="270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2700" b="1" dirty="0" err="1">
                <a:solidFill>
                  <a:schemeClr val="bg1"/>
                </a:solidFill>
                <a:latin typeface="Aptos"/>
              </a:rPr>
              <a:t>sistem</a:t>
            </a:r>
            <a:endParaRPr sz="27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5156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chemeClr val="bg1"/>
                </a:solidFill>
                <a:latin typeface="Aptos"/>
              </a:rPr>
              <a:t>Data MODIS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difilter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berdasarkan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area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gunung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lalu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disimpan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untuk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pengolahan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berikutnya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48840"/>
            <a:ext cx="3429000" cy="3725174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148840"/>
            <a:ext cx="73152" cy="3725174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331720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Sumber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715768"/>
            <a:ext cx="2971800" cy="24929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300" b="0" dirty="0">
                <a:solidFill>
                  <a:srgbClr val="5C6B7A"/>
                </a:solidFill>
                <a:latin typeface="Aptos"/>
              </a:rPr>
              <a:t>Data alert MODIS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diperoleh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dari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 MODIS Volcano Monitoring (modis.higp.hawaii.edu) yang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menyediakan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informasi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titik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panas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dengan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 26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kolom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atribut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,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mencakup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waktu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 (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UNIX_Time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, datetime),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satelit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 (Sat),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koordinat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 (Longitude, Latitude),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nilai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 band radiance (B21, B22, B6, B31, B32),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geometri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pengamatan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 (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SatZen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,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SatAzi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,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SunZen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,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SunAzi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),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serta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indikator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termal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 (NTI, Temp, Excess, Err).</a:t>
            </a:r>
            <a:endParaRPr sz="1300" b="0" dirty="0">
              <a:solidFill>
                <a:srgbClr val="5C6B7A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89120" y="2148840"/>
            <a:ext cx="3429000" cy="2743200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2148840"/>
            <a:ext cx="73152" cy="2743200"/>
          </a:xfrm>
          <a:prstGeom prst="rect">
            <a:avLst/>
          </a:prstGeom>
          <a:solidFill>
            <a:srgbClr val="A96710"/>
          </a:solidFill>
          <a:ln>
            <a:solidFill>
              <a:srgbClr val="A967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36008" y="2331720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172033"/>
                </a:solidFill>
                <a:latin typeface="Aptos"/>
              </a:rPr>
              <a:t>Area </a:t>
            </a:r>
            <a:r>
              <a:rPr sz="1400" b="1" dirty="0" err="1">
                <a:solidFill>
                  <a:srgbClr val="172033"/>
                </a:solidFill>
                <a:latin typeface="Aptos"/>
              </a:rPr>
              <a:t>pengamatan</a:t>
            </a:r>
            <a:endParaRPr sz="1400" b="1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36008" y="2715768"/>
            <a:ext cx="297180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 err="1">
                <a:solidFill>
                  <a:srgbClr val="5C6B7A"/>
                </a:solidFill>
                <a:latin typeface="Aptos"/>
              </a:rPr>
              <a:t>Gunung</a:t>
            </a:r>
            <a:r>
              <a:rPr sz="1300" b="0" dirty="0">
                <a:solidFill>
                  <a:srgbClr val="5C6B7A"/>
                </a:solidFill>
                <a:latin typeface="Aptos"/>
              </a:rPr>
              <a:t> Ibu
</a:t>
            </a:r>
            <a:r>
              <a:rPr sz="1300" b="0" dirty="0" err="1">
                <a:solidFill>
                  <a:srgbClr val="5C6B7A"/>
                </a:solidFill>
                <a:latin typeface="Aptos"/>
              </a:rPr>
              <a:t>Gunung</a:t>
            </a:r>
            <a:r>
              <a:rPr sz="1300" b="0" dirty="0">
                <a:solidFill>
                  <a:srgbClr val="5C6B7A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5C6B7A"/>
                </a:solidFill>
                <a:latin typeface="Aptos"/>
              </a:rPr>
              <a:t>Lewotolok</a:t>
            </a:r>
            <a:r>
              <a:rPr sz="1300" b="0" dirty="0">
                <a:solidFill>
                  <a:srgbClr val="5C6B7A"/>
                </a:solidFill>
                <a:latin typeface="Aptos"/>
              </a:rPr>
              <a:t>
Data </a:t>
            </a:r>
            <a:r>
              <a:rPr sz="1300" b="0" dirty="0" err="1">
                <a:solidFill>
                  <a:srgbClr val="5C6B7A"/>
                </a:solidFill>
                <a:latin typeface="Aptos"/>
              </a:rPr>
              <a:t>difilter</a:t>
            </a:r>
            <a:r>
              <a:rPr sz="1300" b="0" dirty="0">
                <a:solidFill>
                  <a:srgbClr val="5C6B7A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5C6B7A"/>
                </a:solidFill>
                <a:latin typeface="Aptos"/>
              </a:rPr>
              <a:t>menggunakan</a:t>
            </a:r>
            <a:r>
              <a:rPr sz="1300" b="0" dirty="0">
                <a:solidFill>
                  <a:srgbClr val="5C6B7A"/>
                </a:solidFill>
                <a:latin typeface="Aptos"/>
              </a:rPr>
              <a:t> batas longitude dan latitude masing-masing area.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148840"/>
            <a:ext cx="3429000" cy="2743200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2148840"/>
            <a:ext cx="73152" cy="2743200"/>
          </a:xfrm>
          <a:prstGeom prst="rect">
            <a:avLst/>
          </a:prstGeom>
          <a:solidFill>
            <a:srgbClr val="237E5A"/>
          </a:solidFill>
          <a:ln>
            <a:solidFill>
              <a:srgbClr val="237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39327" y="2331720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Output kalkulasi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2715768"/>
            <a:ext cx="297180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5C6B7A"/>
                </a:solidFill>
                <a:latin typeface="Aptos"/>
              </a:rPr>
              <a:t>Effusion rate cold/hot
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Heat flux cold/hot
Volume lava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kumulatif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
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MeanE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 dan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MeanQ</a:t>
            </a:r>
            <a:endParaRPr sz="1300" b="0" dirty="0">
              <a:solidFill>
                <a:srgbClr val="5C6B7A"/>
              </a:solidFill>
              <a:latin typeface="Aptos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  <p:bldP spid="9" grpId="0" animBg="1"/>
      <p:bldP spid="10" grpId="0"/>
      <p:bldP spid="11" grpId="0"/>
      <p:bldP spid="12" grpId="0" animBg="1"/>
      <p:bldP spid="13" grpId="0" animBg="1"/>
      <p:bldP spid="14" grpId="0"/>
      <p:bldP spid="15" grpId="0"/>
      <p:bldP spid="16" grpId="0" animBg="1"/>
      <p:bldP spid="17" grpId="0" animBg="1"/>
      <p:bldP spid="18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Gunung Ibu Kembali Erupsi, Tinggi Letusan 600 Meter di Atas Puncak ...">
            <a:extLst>
              <a:ext uri="{FF2B5EF4-FFF2-40B4-BE49-F238E27FC236}">
                <a16:creationId xmlns:a16="http://schemas.microsoft.com/office/drawing/2014/main" id="{44797AA1-C0EC-66EA-285E-1813A8201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B7A"/>
                </a:solidFill>
                <a:latin typeface="Aptos"/>
              </a:rPr>
              <a:t>MODIS VOLCANO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87F8C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chemeClr val="bg1"/>
                </a:solidFill>
                <a:latin typeface="Aptos"/>
              </a:rPr>
              <a:t>0</a:t>
            </a:r>
            <a:r>
              <a:rPr lang="en-US" sz="1000" b="1" dirty="0">
                <a:solidFill>
                  <a:schemeClr val="bg1"/>
                </a:solidFill>
                <a:latin typeface="Aptos"/>
              </a:rPr>
              <a:t>5 </a:t>
            </a:r>
            <a:r>
              <a:rPr sz="1000" b="1" dirty="0">
                <a:solidFill>
                  <a:schemeClr val="bg1"/>
                </a:solidFill>
                <a:latin typeface="Aptos"/>
              </a:rPr>
              <a:t> ANALISIS PEKERJAAN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68680"/>
            <a:ext cx="1078992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chemeClr val="bg1"/>
                </a:solidFill>
                <a:latin typeface="Aptos"/>
              </a:rPr>
              <a:t>Tiga </a:t>
            </a:r>
            <a:r>
              <a:rPr sz="2700" b="1" dirty="0" err="1">
                <a:solidFill>
                  <a:schemeClr val="bg1"/>
                </a:solidFill>
                <a:latin typeface="Aptos"/>
              </a:rPr>
              <a:t>fokus</a:t>
            </a:r>
            <a:r>
              <a:rPr sz="270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2700" b="1" dirty="0" err="1">
                <a:solidFill>
                  <a:schemeClr val="bg1"/>
                </a:solidFill>
                <a:latin typeface="Aptos"/>
              </a:rPr>
              <a:t>utama</a:t>
            </a:r>
            <a:r>
              <a:rPr sz="270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2700" b="1" dirty="0" err="1">
                <a:solidFill>
                  <a:schemeClr val="bg1"/>
                </a:solidFill>
                <a:latin typeface="Aptos"/>
              </a:rPr>
              <a:t>proyek</a:t>
            </a:r>
            <a:endParaRPr sz="27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5156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 err="1">
                <a:solidFill>
                  <a:schemeClr val="bg1"/>
                </a:solidFill>
                <a:latin typeface="Aptos"/>
              </a:rPr>
              <a:t>Pekerjaan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dibagi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menjadi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pengumpulan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data,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pengolahan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indikator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, dan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visualisasi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hasil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48840"/>
            <a:ext cx="3429000" cy="2161903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148840"/>
            <a:ext cx="73152" cy="2161903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331720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Pengumpulan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715768"/>
            <a:ext cx="297180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087F8C"/>
                </a:solidFill>
                <a:latin typeface="Aptos"/>
              </a:rPr>
              <a:t>Worker </a:t>
            </a:r>
            <a:r>
              <a:rPr sz="1400" b="0" dirty="0" err="1">
                <a:solidFill>
                  <a:srgbClr val="087F8C"/>
                </a:solidFill>
                <a:latin typeface="Aptos"/>
              </a:rPr>
              <a:t>mengambil</a:t>
            </a:r>
            <a:r>
              <a:rPr sz="1400" b="0" dirty="0">
                <a:solidFill>
                  <a:srgbClr val="087F8C"/>
                </a:solidFill>
                <a:latin typeface="Aptos"/>
              </a:rPr>
              <a:t> data MODIS </a:t>
            </a:r>
            <a:r>
              <a:rPr sz="1400" b="0" dirty="0" err="1">
                <a:solidFill>
                  <a:srgbClr val="087F8C"/>
                </a:solidFill>
                <a:latin typeface="Aptos"/>
              </a:rPr>
              <a:t>secara</a:t>
            </a:r>
            <a:r>
              <a:rPr sz="1400" b="0" dirty="0">
                <a:solidFill>
                  <a:srgbClr val="087F8C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087F8C"/>
                </a:solidFill>
                <a:latin typeface="Aptos"/>
              </a:rPr>
              <a:t>berkala</a:t>
            </a:r>
            <a:r>
              <a:rPr sz="1400" b="0" dirty="0">
                <a:solidFill>
                  <a:srgbClr val="087F8C"/>
                </a:solidFill>
                <a:latin typeface="Aptos"/>
              </a:rPr>
              <a:t>, </a:t>
            </a:r>
            <a:r>
              <a:rPr sz="1400" b="0" dirty="0" err="1">
                <a:solidFill>
                  <a:srgbClr val="087F8C"/>
                </a:solidFill>
                <a:latin typeface="Aptos"/>
              </a:rPr>
              <a:t>memeriksa</a:t>
            </a:r>
            <a:r>
              <a:rPr sz="1400" b="0" dirty="0">
                <a:solidFill>
                  <a:srgbClr val="087F8C"/>
                </a:solidFill>
                <a:latin typeface="Aptos"/>
              </a:rPr>
              <a:t> format dan area, </a:t>
            </a:r>
            <a:r>
              <a:rPr sz="1400" b="0" dirty="0" err="1">
                <a:solidFill>
                  <a:srgbClr val="087F8C"/>
                </a:solidFill>
                <a:latin typeface="Aptos"/>
              </a:rPr>
              <a:t>lalu</a:t>
            </a:r>
            <a:r>
              <a:rPr sz="1400" b="0" dirty="0">
                <a:solidFill>
                  <a:srgbClr val="087F8C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087F8C"/>
                </a:solidFill>
                <a:latin typeface="Aptos"/>
              </a:rPr>
              <a:t>mencatat</a:t>
            </a:r>
            <a:r>
              <a:rPr sz="1400" b="0" dirty="0">
                <a:solidFill>
                  <a:srgbClr val="087F8C"/>
                </a:solidFill>
                <a:latin typeface="Aptos"/>
              </a:rPr>
              <a:t> status </a:t>
            </a:r>
            <a:r>
              <a:rPr sz="1400" b="0" dirty="0" err="1">
                <a:solidFill>
                  <a:srgbClr val="087F8C"/>
                </a:solidFill>
                <a:latin typeface="Aptos"/>
              </a:rPr>
              <a:t>setiap</a:t>
            </a:r>
            <a:r>
              <a:rPr sz="1400" b="0" dirty="0">
                <a:solidFill>
                  <a:srgbClr val="087F8C"/>
                </a:solidFill>
                <a:latin typeface="Aptos"/>
              </a:rPr>
              <a:t> proses.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48840"/>
            <a:ext cx="3429000" cy="2031274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2148840"/>
            <a:ext cx="73152" cy="2161903"/>
          </a:xfrm>
          <a:prstGeom prst="rect">
            <a:avLst/>
          </a:prstGeom>
          <a:solidFill>
            <a:srgbClr val="A96710"/>
          </a:solidFill>
          <a:ln>
            <a:solidFill>
              <a:srgbClr val="A967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36008" y="2331720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Analisis dan kalkulasi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715768"/>
            <a:ext cx="2971800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087F8C"/>
                </a:solidFill>
                <a:latin typeface="Aptos"/>
              </a:rPr>
              <a:t>Data Band 21 </a:t>
            </a:r>
            <a:r>
              <a:rPr sz="1300" b="0" dirty="0" err="1">
                <a:solidFill>
                  <a:srgbClr val="087F8C"/>
                </a:solidFill>
                <a:latin typeface="Aptos"/>
              </a:rPr>
              <a:t>digunakan</a:t>
            </a:r>
            <a:r>
              <a:rPr sz="1300" b="0" dirty="0">
                <a:solidFill>
                  <a:srgbClr val="087F8C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087F8C"/>
                </a:solidFill>
                <a:latin typeface="Aptos"/>
              </a:rPr>
              <a:t>untuk</a:t>
            </a:r>
            <a:r>
              <a:rPr sz="1300" b="0" dirty="0">
                <a:solidFill>
                  <a:srgbClr val="087F8C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087F8C"/>
                </a:solidFill>
                <a:latin typeface="Aptos"/>
              </a:rPr>
              <a:t>menghitung</a:t>
            </a:r>
            <a:r>
              <a:rPr sz="1300" b="0" dirty="0">
                <a:solidFill>
                  <a:srgbClr val="087F8C"/>
                </a:solidFill>
                <a:latin typeface="Aptos"/>
              </a:rPr>
              <a:t> effusion rate, heat flux, volume per interval, dan </a:t>
            </a:r>
            <a:r>
              <a:rPr sz="1300" b="0" dirty="0" err="1">
                <a:solidFill>
                  <a:srgbClr val="087F8C"/>
                </a:solidFill>
                <a:latin typeface="Aptos"/>
              </a:rPr>
              <a:t>nilai</a:t>
            </a:r>
            <a:r>
              <a:rPr sz="1300" b="0" dirty="0">
                <a:solidFill>
                  <a:srgbClr val="087F8C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087F8C"/>
                </a:solidFill>
                <a:latin typeface="Aptos"/>
              </a:rPr>
              <a:t>kumulatif</a:t>
            </a:r>
            <a:r>
              <a:rPr sz="1300" b="0" dirty="0">
                <a:solidFill>
                  <a:srgbClr val="087F8C"/>
                </a:solidFill>
                <a:latin typeface="Aptos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148840"/>
            <a:ext cx="3429000" cy="2031274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2148840"/>
            <a:ext cx="45719" cy="2031274"/>
          </a:xfrm>
          <a:prstGeom prst="rect">
            <a:avLst/>
          </a:prstGeom>
          <a:solidFill>
            <a:srgbClr val="237E5A"/>
          </a:solidFill>
          <a:ln>
            <a:solidFill>
              <a:srgbClr val="237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39327" y="2331720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Visualisasi hasil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2715768"/>
            <a:ext cx="2971800" cy="6924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087F8C"/>
                </a:solidFill>
                <a:latin typeface="Aptos"/>
              </a:rPr>
              <a:t>Dashboard </a:t>
            </a:r>
            <a:r>
              <a:rPr sz="1300" b="0" dirty="0" err="1">
                <a:solidFill>
                  <a:srgbClr val="087F8C"/>
                </a:solidFill>
                <a:latin typeface="Aptos"/>
              </a:rPr>
              <a:t>menampilkan</a:t>
            </a:r>
            <a:r>
              <a:rPr sz="1300" b="0" dirty="0">
                <a:solidFill>
                  <a:srgbClr val="087F8C"/>
                </a:solidFill>
                <a:latin typeface="Aptos"/>
              </a:rPr>
              <a:t> status worker, </a:t>
            </a:r>
            <a:r>
              <a:rPr sz="1300" b="0" dirty="0" err="1">
                <a:solidFill>
                  <a:srgbClr val="087F8C"/>
                </a:solidFill>
                <a:latin typeface="Aptos"/>
              </a:rPr>
              <a:t>tabel</a:t>
            </a:r>
            <a:r>
              <a:rPr sz="1300" b="0" dirty="0">
                <a:solidFill>
                  <a:srgbClr val="087F8C"/>
                </a:solidFill>
                <a:latin typeface="Aptos"/>
              </a:rPr>
              <a:t> data, </a:t>
            </a:r>
            <a:r>
              <a:rPr sz="1300" b="0" dirty="0" err="1">
                <a:solidFill>
                  <a:srgbClr val="087F8C"/>
                </a:solidFill>
                <a:latin typeface="Aptos"/>
              </a:rPr>
              <a:t>grafik</a:t>
            </a:r>
            <a:r>
              <a:rPr sz="1300" b="0" dirty="0">
                <a:solidFill>
                  <a:srgbClr val="087F8C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087F8C"/>
                </a:solidFill>
                <a:latin typeface="Aptos"/>
              </a:rPr>
              <a:t>estimasi</a:t>
            </a:r>
            <a:r>
              <a:rPr sz="1300" b="0" dirty="0">
                <a:solidFill>
                  <a:srgbClr val="087F8C"/>
                </a:solidFill>
                <a:latin typeface="Aptos"/>
              </a:rPr>
              <a:t>, filter </a:t>
            </a:r>
            <a:r>
              <a:rPr sz="1300" b="0" dirty="0" err="1">
                <a:solidFill>
                  <a:srgbClr val="087F8C"/>
                </a:solidFill>
                <a:latin typeface="Aptos"/>
              </a:rPr>
              <a:t>periode</a:t>
            </a:r>
            <a:r>
              <a:rPr sz="1300" b="0" dirty="0">
                <a:solidFill>
                  <a:srgbClr val="087F8C"/>
                </a:solidFill>
                <a:latin typeface="Aptos"/>
              </a:rPr>
              <a:t>, dan </a:t>
            </a:r>
            <a:r>
              <a:rPr sz="1300" b="0" dirty="0" err="1">
                <a:solidFill>
                  <a:srgbClr val="087F8C"/>
                </a:solidFill>
                <a:latin typeface="Aptos"/>
              </a:rPr>
              <a:t>ekspor</a:t>
            </a:r>
            <a:r>
              <a:rPr sz="1300" b="0" dirty="0">
                <a:solidFill>
                  <a:srgbClr val="087F8C"/>
                </a:solidFill>
                <a:latin typeface="Aptos"/>
              </a:rPr>
              <a:t> CSV.</a:t>
            </a: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Gunung Ibu Kembali Erupsi, Tinggi Letusan 600 Meter di Atas Puncak ...">
            <a:extLst>
              <a:ext uri="{FF2B5EF4-FFF2-40B4-BE49-F238E27FC236}">
                <a16:creationId xmlns:a16="http://schemas.microsoft.com/office/drawing/2014/main" id="{96D1C4ED-66A6-1471-938E-0D1700818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B7A"/>
                </a:solidFill>
                <a:latin typeface="Aptos"/>
              </a:rPr>
              <a:t>MODIS VOLCANO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87F8C"/>
                </a:solidFill>
                <a:latin typeface="Apto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  <a:latin typeface="Aptos"/>
              </a:rPr>
              <a:t>06</a:t>
            </a:r>
            <a:r>
              <a:rPr sz="1000" b="1" dirty="0">
                <a:solidFill>
                  <a:schemeClr val="bg1"/>
                </a:solidFill>
                <a:latin typeface="Aptos"/>
              </a:rPr>
              <a:t>  RUMUS PERHITUNGAN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68680"/>
            <a:ext cx="1078992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 err="1">
                <a:solidFill>
                  <a:schemeClr val="bg1"/>
                </a:solidFill>
                <a:latin typeface="Aptos"/>
              </a:rPr>
              <a:t>Rumus</a:t>
            </a:r>
            <a:r>
              <a:rPr sz="270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2700" b="1" dirty="0" err="1">
                <a:solidFill>
                  <a:schemeClr val="bg1"/>
                </a:solidFill>
                <a:latin typeface="Aptos"/>
              </a:rPr>
              <a:t>utama</a:t>
            </a:r>
            <a:r>
              <a:rPr sz="2700" b="1" dirty="0">
                <a:solidFill>
                  <a:schemeClr val="bg1"/>
                </a:solidFill>
                <a:latin typeface="Aptos"/>
              </a:rPr>
              <a:t> yang </a:t>
            </a:r>
            <a:r>
              <a:rPr sz="2700" b="1" dirty="0" err="1">
                <a:solidFill>
                  <a:schemeClr val="bg1"/>
                </a:solidFill>
                <a:latin typeface="Aptos"/>
              </a:rPr>
              <a:t>digunakan</a:t>
            </a:r>
            <a:endParaRPr sz="27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5800" y="2057400"/>
            <a:ext cx="5303520" cy="3246120"/>
          </a:xfrm>
          <a:prstGeom prst="roundRect">
            <a:avLst/>
          </a:prstGeom>
          <a:solidFill>
            <a:srgbClr val="102D35"/>
          </a:solidFill>
          <a:ln>
            <a:solidFill>
              <a:srgbClr val="10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33172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8DD6C8"/>
                </a:solidFill>
                <a:latin typeface="Aptos"/>
              </a:rPr>
              <a:t>Radiance dan effusion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43200"/>
            <a:ext cx="45720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R = Σ B21ᵢ
Ecold = 0.450 × R − 0.127
Ehot = 0.164 × R − 0.045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772420"/>
            <a:ext cx="4846320" cy="9848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600" b="1" dirty="0" err="1">
                <a:solidFill>
                  <a:srgbClr val="78BAAF"/>
                </a:solidFill>
                <a:latin typeface="Aptos"/>
              </a:rPr>
              <a:t>Konstanta</a:t>
            </a:r>
            <a:r>
              <a:rPr lang="en-US" sz="1600" b="1" dirty="0">
                <a:solidFill>
                  <a:srgbClr val="78BAAF"/>
                </a:solidFill>
                <a:latin typeface="Aptos"/>
              </a:rPr>
              <a:t> heat flux</a:t>
            </a:r>
          </a:p>
          <a:p>
            <a:pPr algn="l"/>
            <a:endParaRPr lang="en-US" sz="1400" b="1" dirty="0">
              <a:solidFill>
                <a:srgbClr val="FFFFFF"/>
              </a:solidFill>
              <a:latin typeface="Aptos"/>
            </a:endParaRPr>
          </a:p>
          <a:p>
            <a:pPr algn="l"/>
            <a:r>
              <a:rPr lang="en-US" sz="1400" b="1" dirty="0" err="1">
                <a:solidFill>
                  <a:srgbClr val="FFFFFF"/>
                </a:solidFill>
                <a:latin typeface="Aptos"/>
              </a:rPr>
              <a:t>Qcold</a:t>
            </a:r>
            <a:r>
              <a:rPr lang="en-US" sz="1400" b="1" dirty="0">
                <a:solidFill>
                  <a:srgbClr val="FFFFFF"/>
                </a:solidFill>
                <a:latin typeface="Aptos"/>
              </a:rPr>
              <a:t> = </a:t>
            </a:r>
            <a:r>
              <a:rPr lang="en-US" sz="1400" b="1" dirty="0" err="1">
                <a:solidFill>
                  <a:srgbClr val="FFFFFF"/>
                </a:solidFill>
                <a:latin typeface="Aptos"/>
              </a:rPr>
              <a:t>Ecold</a:t>
            </a:r>
            <a:r>
              <a:rPr lang="en-US" sz="1400" b="1" dirty="0">
                <a:solidFill>
                  <a:srgbClr val="FFFFFF"/>
                </a:solidFill>
                <a:latin typeface="Aptos"/>
              </a:rPr>
              <a:t> × 1.0075 × 10⁹</a:t>
            </a:r>
          </a:p>
          <a:p>
            <a:pPr algn="l"/>
            <a:r>
              <a:rPr lang="en-US" sz="1400" b="1" dirty="0" err="1">
                <a:solidFill>
                  <a:srgbClr val="FFFFFF"/>
                </a:solidFill>
                <a:latin typeface="Aptos"/>
              </a:rPr>
              <a:t>Qhot</a:t>
            </a:r>
            <a:r>
              <a:rPr lang="en-US" sz="1400" b="1" dirty="0">
                <a:solidFill>
                  <a:srgbClr val="FFFFFF"/>
                </a:solidFill>
                <a:latin typeface="Aptos"/>
              </a:rPr>
              <a:t> = </a:t>
            </a:r>
            <a:r>
              <a:rPr lang="en-US" sz="1400" b="1" dirty="0" err="1">
                <a:solidFill>
                  <a:srgbClr val="FFFFFF"/>
                </a:solidFill>
                <a:latin typeface="Aptos"/>
              </a:rPr>
              <a:t>Ehot</a:t>
            </a:r>
            <a:r>
              <a:rPr lang="en-US" sz="1400" b="1" dirty="0">
                <a:solidFill>
                  <a:srgbClr val="FFFFFF"/>
                </a:solidFill>
                <a:latin typeface="Aptos"/>
              </a:rPr>
              <a:t> × 1.456 × 10⁹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057400"/>
            <a:ext cx="5212080" cy="1234440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2057400"/>
            <a:ext cx="73152" cy="1234440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56248" y="224028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172033"/>
                </a:solidFill>
                <a:latin typeface="Aptos"/>
              </a:rPr>
              <a:t>Interval </a:t>
            </a:r>
            <a:r>
              <a:rPr sz="1400" b="1" dirty="0" err="1">
                <a:solidFill>
                  <a:srgbClr val="172033"/>
                </a:solidFill>
                <a:latin typeface="Aptos"/>
              </a:rPr>
              <a:t>waktu</a:t>
            </a:r>
            <a:endParaRPr sz="1400" b="1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56248" y="2624328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C6B7A"/>
                </a:solidFill>
                <a:latin typeface="Aptos"/>
              </a:rPr>
              <a:t>Δtᵢ = tᵢ − tᵢ₋₁
Δt pertama = 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12080" cy="1234440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60" y="3474720"/>
            <a:ext cx="73152" cy="1234440"/>
          </a:xfrm>
          <a:prstGeom prst="rect">
            <a:avLst/>
          </a:prstGeom>
          <a:solidFill>
            <a:srgbClr val="A96710"/>
          </a:solidFill>
          <a:ln>
            <a:solidFill>
              <a:srgbClr val="A967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56248" y="365760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Volume per interval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4041648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C6B7A"/>
                </a:solidFill>
                <a:latin typeface="Aptos"/>
              </a:rPr>
              <a:t>Vcoldᵢ = Ecoldᵢ₋₁ × Δtᵢ
Vhotᵢ = Ehotᵢ₋₁ × Δtᵢ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 animBg="1"/>
      <p:bldP spid="9" grpId="0"/>
      <p:bldP spid="10" grpId="0"/>
      <p:bldP spid="11" grpId="0"/>
      <p:bldP spid="12" grpId="0" animBg="1"/>
      <p:bldP spid="13" grpId="0" animBg="1"/>
      <p:bldP spid="14" grpId="0"/>
      <p:bldP spid="15" grpId="0"/>
      <p:bldP spid="16" grpId="0" animBg="1"/>
      <p:bldP spid="17" grpId="0" animBg="1"/>
      <p:bldP spid="18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 descr="Gunung Ibu Kembali Erupsi, Tinggi Letusan 600 Meter di Atas Puncak ...">
            <a:extLst>
              <a:ext uri="{FF2B5EF4-FFF2-40B4-BE49-F238E27FC236}">
                <a16:creationId xmlns:a16="http://schemas.microsoft.com/office/drawing/2014/main" id="{2614E5F5-96D9-C8FC-2A66-0A11D37D7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B7A"/>
                </a:solidFill>
                <a:latin typeface="Aptos"/>
              </a:rPr>
              <a:t>MODIS VOLCANO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87F8C"/>
                </a:solidFill>
                <a:latin typeface="Apto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  <a:latin typeface="Aptos"/>
              </a:rPr>
              <a:t>07</a:t>
            </a:r>
            <a:r>
              <a:rPr sz="1000" b="1" dirty="0">
                <a:solidFill>
                  <a:schemeClr val="bg1"/>
                </a:solidFill>
                <a:latin typeface="Aptos"/>
              </a:rPr>
              <a:t> RUMUS PERHITUNGAN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68680"/>
            <a:ext cx="1078992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 err="1">
                <a:solidFill>
                  <a:schemeClr val="bg1"/>
                </a:solidFill>
                <a:latin typeface="Aptos"/>
              </a:rPr>
              <a:t>Rumus</a:t>
            </a:r>
            <a:r>
              <a:rPr sz="270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2700" b="1" dirty="0" err="1">
                <a:solidFill>
                  <a:schemeClr val="bg1"/>
                </a:solidFill>
                <a:latin typeface="Aptos"/>
              </a:rPr>
              <a:t>kumulatif</a:t>
            </a:r>
            <a:r>
              <a:rPr sz="2700" b="1" dirty="0">
                <a:solidFill>
                  <a:schemeClr val="bg1"/>
                </a:solidFill>
                <a:latin typeface="Aptos"/>
              </a:rPr>
              <a:t> dan </a:t>
            </a:r>
            <a:r>
              <a:rPr sz="2700" b="1" dirty="0" err="1">
                <a:solidFill>
                  <a:schemeClr val="bg1"/>
                </a:solidFill>
                <a:latin typeface="Aptos"/>
              </a:rPr>
              <a:t>nilai</a:t>
            </a:r>
            <a:r>
              <a:rPr sz="2700" b="1" dirty="0">
                <a:solidFill>
                  <a:schemeClr val="bg1"/>
                </a:solidFill>
                <a:latin typeface="Aptos"/>
              </a:rPr>
              <a:t> rata-rata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5156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 err="1">
                <a:solidFill>
                  <a:schemeClr val="bg1"/>
                </a:solidFill>
                <a:latin typeface="Aptos"/>
              </a:rPr>
              <a:t>Perhitungan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baris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berikutnya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menggunakan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nilai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baris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sebelumnya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dan second pada baris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saat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ini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57400"/>
            <a:ext cx="5257800" cy="1234440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057400"/>
            <a:ext cx="73152" cy="1234440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240280"/>
            <a:ext cx="4800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CumEcold [B1] dan [B3]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624328"/>
            <a:ext cx="4800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B7A"/>
                </a:solidFill>
                <a:latin typeface="Aptos"/>
              </a:rPr>
              <a:t>B1: CumEcoldᵢ = CumEcoldᵢ₋₁ + Ecoldᵢ
B3: CumEcoldᵢ = (secondᵢ × Ecoldᵢ₋₁) + CumEcoldᵢ₋₁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474720"/>
            <a:ext cx="5257800" cy="1234440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3474720"/>
            <a:ext cx="73152" cy="1234440"/>
          </a:xfrm>
          <a:prstGeom prst="rect">
            <a:avLst/>
          </a:prstGeom>
          <a:solidFill>
            <a:srgbClr val="A96710"/>
          </a:solidFill>
          <a:ln>
            <a:solidFill>
              <a:srgbClr val="A967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3657600"/>
            <a:ext cx="4800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CumEhot [B1] dan [B3]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041648"/>
            <a:ext cx="4800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B7A"/>
                </a:solidFill>
                <a:latin typeface="Aptos"/>
              </a:rPr>
              <a:t>B1: CumEhotᵢ = CumEhotᵢ₋₁ + Ehotᵢ
B3: CumEhotᵢ = (secondᵢ × Ehotᵢ₋₁) + CumEhotᵢ₋₁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892040"/>
            <a:ext cx="5257800" cy="941832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4892040"/>
            <a:ext cx="73152" cy="713232"/>
          </a:xfrm>
          <a:prstGeom prst="rect">
            <a:avLst/>
          </a:prstGeom>
          <a:solidFill>
            <a:srgbClr val="237E5A"/>
          </a:solidFill>
          <a:ln>
            <a:solidFill>
              <a:srgbClr val="237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5074920"/>
            <a:ext cx="4800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MeanE [B1] dan [B3]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458968"/>
            <a:ext cx="4800600" cy="27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 err="1">
                <a:solidFill>
                  <a:srgbClr val="5C6B7A"/>
                </a:solidFill>
                <a:latin typeface="Aptos"/>
              </a:rPr>
              <a:t>MeanE</a:t>
            </a:r>
            <a:r>
              <a:rPr sz="1200" b="0" dirty="0">
                <a:solidFill>
                  <a:srgbClr val="5C6B7A"/>
                </a:solidFill>
                <a:latin typeface="Aptos"/>
              </a:rPr>
              <a:t> = (</a:t>
            </a:r>
            <a:r>
              <a:rPr sz="1200" b="0" dirty="0" err="1">
                <a:solidFill>
                  <a:srgbClr val="5C6B7A"/>
                </a:solidFill>
                <a:latin typeface="Aptos"/>
              </a:rPr>
              <a:t>CumEcold</a:t>
            </a:r>
            <a:r>
              <a:rPr sz="1200" b="0" dirty="0">
                <a:solidFill>
                  <a:srgbClr val="5C6B7A"/>
                </a:solidFill>
                <a:latin typeface="Aptos"/>
              </a:rPr>
              <a:t> + </a:t>
            </a:r>
            <a:r>
              <a:rPr sz="1200" b="0" dirty="0" err="1">
                <a:solidFill>
                  <a:srgbClr val="5C6B7A"/>
                </a:solidFill>
                <a:latin typeface="Aptos"/>
              </a:rPr>
              <a:t>CumEhot</a:t>
            </a:r>
            <a:r>
              <a:rPr sz="1200" b="0" dirty="0">
                <a:solidFill>
                  <a:srgbClr val="5C6B7A"/>
                </a:solidFill>
                <a:latin typeface="Aptos"/>
              </a:rPr>
              <a:t>) /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057400"/>
            <a:ext cx="5257800" cy="1234440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63640" y="2057400"/>
            <a:ext cx="73152" cy="1234440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10527" y="2240280"/>
            <a:ext cx="4800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CumQcold [B1] dan [B3]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7" y="2624328"/>
            <a:ext cx="4800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C6B7A"/>
                </a:solidFill>
                <a:latin typeface="Aptos"/>
              </a:rPr>
              <a:t>B1: CumQcoldᵢ = CumQcoldᵢ₋₁ + Qcoldᵢ
B3: CumQcoldᵢ = (secondᵢ × Qcoldᵢ₋₁) + CumQcoldᵢ₋₁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474720"/>
            <a:ext cx="5257800" cy="1234440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63640" y="3474720"/>
            <a:ext cx="73152" cy="1234440"/>
          </a:xfrm>
          <a:prstGeom prst="rect">
            <a:avLst/>
          </a:prstGeom>
          <a:solidFill>
            <a:srgbClr val="A96710"/>
          </a:solidFill>
          <a:ln>
            <a:solidFill>
              <a:srgbClr val="A967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10527" y="3657600"/>
            <a:ext cx="4800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CumQhot [B1] dan [B3]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7" y="4041648"/>
            <a:ext cx="4800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C6B7A"/>
                </a:solidFill>
                <a:latin typeface="Aptos"/>
              </a:rPr>
              <a:t>B1: CumQhotᵢ = CumQhotᵢ₋₁ + Qhotᵢ
B3: CumQhotᵢ = (secondᵢ × Qhotᵢ₋₁) + CumQhotᵢ₋₁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892040"/>
            <a:ext cx="5257800" cy="941832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63640" y="4892040"/>
            <a:ext cx="73152" cy="713232"/>
          </a:xfrm>
          <a:prstGeom prst="rect">
            <a:avLst/>
          </a:prstGeom>
          <a:solidFill>
            <a:srgbClr val="237E5A"/>
          </a:solidFill>
          <a:ln>
            <a:solidFill>
              <a:srgbClr val="237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10527" y="5074920"/>
            <a:ext cx="4800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MeanQ [B1] dan [B3]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7" y="5458968"/>
            <a:ext cx="4800600" cy="27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6B7A"/>
                </a:solidFill>
                <a:latin typeface="Aptos"/>
              </a:rPr>
              <a:t>MeanQ = (CumQcold + CumQhot) / 2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  <p:bldP spid="9" grpId="0" animBg="1"/>
      <p:bldP spid="10" grpId="0"/>
      <p:bldP spid="11" grpId="0"/>
      <p:bldP spid="12" grpId="0" animBg="1"/>
      <p:bldP spid="13" grpId="0" animBg="1"/>
      <p:bldP spid="14" grpId="0"/>
      <p:bldP spid="15" grpId="0"/>
      <p:bldP spid="16" grpId="0" animBg="1"/>
      <p:bldP spid="17" grpId="0" animBg="1"/>
      <p:bldP spid="18" grpId="0"/>
      <p:bldP spid="19" grpId="0"/>
      <p:bldP spid="20" grpId="0" animBg="1"/>
      <p:bldP spid="21" grpId="0" animBg="1"/>
      <p:bldP spid="22" grpId="0"/>
      <p:bldP spid="23" grpId="0"/>
      <p:bldP spid="24" grpId="0" animBg="1"/>
      <p:bldP spid="25" grpId="0" animBg="1"/>
      <p:bldP spid="26" grpId="0"/>
      <p:bldP spid="27" grpId="0"/>
      <p:bldP spid="28" grpId="0" animBg="1"/>
      <p:bldP spid="29" grpId="0" animBg="1"/>
      <p:bldP spid="30" grpId="0"/>
      <p:bldP spid="3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Gunung Ibu Kembali Erupsi, Tinggi Letusan 600 Meter di Atas Puncak ...">
            <a:extLst>
              <a:ext uri="{FF2B5EF4-FFF2-40B4-BE49-F238E27FC236}">
                <a16:creationId xmlns:a16="http://schemas.microsoft.com/office/drawing/2014/main" id="{AB7DDBE4-86FF-10C0-DD31-086167BDA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329184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chemeClr val="bg1"/>
                </a:solidFill>
                <a:latin typeface="Aptos"/>
              </a:rPr>
              <a:t>MODIS VOLCANO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chemeClr val="bg1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chemeClr val="bg1"/>
                </a:solidFill>
                <a:latin typeface="Aptos"/>
              </a:rPr>
              <a:t>0</a:t>
            </a:r>
            <a:r>
              <a:rPr lang="en-US" sz="1000" b="1" dirty="0">
                <a:solidFill>
                  <a:schemeClr val="bg1"/>
                </a:solidFill>
                <a:latin typeface="Aptos"/>
              </a:rPr>
              <a:t>8</a:t>
            </a:r>
            <a:r>
              <a:rPr sz="1000" b="1" dirty="0">
                <a:solidFill>
                  <a:schemeClr val="bg1"/>
                </a:solidFill>
                <a:latin typeface="Aptos"/>
              </a:rPr>
              <a:t> METODE ANALISIS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68680"/>
            <a:ext cx="1078992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chemeClr val="bg1"/>
                </a:solidFill>
                <a:latin typeface="Aptos"/>
              </a:rPr>
              <a:t>Alur </a:t>
            </a:r>
            <a:r>
              <a:rPr sz="2700" b="1" dirty="0" err="1">
                <a:solidFill>
                  <a:schemeClr val="bg1"/>
                </a:solidFill>
                <a:latin typeface="Aptos"/>
              </a:rPr>
              <a:t>pengolahan</a:t>
            </a:r>
            <a:r>
              <a:rPr sz="2700" b="1" dirty="0">
                <a:solidFill>
                  <a:schemeClr val="bg1"/>
                </a:solidFill>
                <a:latin typeface="Aptos"/>
              </a:rPr>
              <a:t>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5156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 err="1">
                <a:solidFill>
                  <a:schemeClr val="bg1"/>
                </a:solidFill>
                <a:latin typeface="Aptos"/>
              </a:rPr>
              <a:t>Setiap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observasi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melewati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tahapan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yang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sama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agar data dan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hasil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kalkulasi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dapat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ditelusuri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.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514600"/>
            <a:ext cx="530352" cy="530352"/>
          </a:xfrm>
          <a:prstGeom prst="ellipse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2660904"/>
            <a:ext cx="530352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>
                <a:solidFill>
                  <a:schemeClr val="bg1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46120"/>
            <a:ext cx="11887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chemeClr val="bg1"/>
                </a:solidFill>
                <a:latin typeface="Aptos"/>
              </a:rPr>
              <a:t>Ambil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3657600"/>
            <a:ext cx="15544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dirty="0">
                <a:solidFill>
                  <a:schemeClr val="bg1"/>
                </a:solidFill>
                <a:latin typeface="Aptos"/>
              </a:rPr>
              <a:t>Request data MODIS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44752" y="2761488"/>
            <a:ext cx="1664208" cy="27432"/>
          </a:xfrm>
          <a:prstGeom prst="rect">
            <a:avLst/>
          </a:prstGeom>
          <a:solidFill>
            <a:srgbClr val="DAE4ED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3108960" y="2514600"/>
            <a:ext cx="530352" cy="530352"/>
          </a:xfrm>
          <a:prstGeom prst="ellipse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108960" y="2660904"/>
            <a:ext cx="530352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chemeClr val="bg1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3246120"/>
            <a:ext cx="11887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chemeClr val="bg1"/>
                </a:solidFill>
                <a:latin typeface="Aptos"/>
              </a:rPr>
              <a:t>Filter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39" y="3657600"/>
            <a:ext cx="15544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chemeClr val="bg1"/>
                </a:solidFill>
                <a:latin typeface="Aptos"/>
              </a:rPr>
              <a:t>Area dan format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39312" y="2761488"/>
            <a:ext cx="1664208" cy="27432"/>
          </a:xfrm>
          <a:prstGeom prst="rect">
            <a:avLst/>
          </a:prstGeom>
          <a:solidFill>
            <a:srgbClr val="DAE4ED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5303520" y="2514600"/>
            <a:ext cx="530352" cy="530352"/>
          </a:xfrm>
          <a:prstGeom prst="ellipse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303520" y="2660904"/>
            <a:ext cx="530352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chemeClr val="bg1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3246120"/>
            <a:ext cx="11887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chemeClr val="bg1"/>
                </a:solidFill>
                <a:latin typeface="Aptos"/>
              </a:rPr>
              <a:t>Simpan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657600"/>
            <a:ext cx="15544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chemeClr val="bg1"/>
                </a:solidFill>
                <a:latin typeface="Aptos"/>
              </a:rPr>
              <a:t>MySQL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33872" y="2761488"/>
            <a:ext cx="1664208" cy="27432"/>
          </a:xfrm>
          <a:prstGeom prst="rect">
            <a:avLst/>
          </a:prstGeom>
          <a:solidFill>
            <a:srgbClr val="DAE4ED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3" name="Oval 22"/>
          <p:cNvSpPr/>
          <p:nvPr/>
        </p:nvSpPr>
        <p:spPr>
          <a:xfrm>
            <a:off x="7498079" y="2514600"/>
            <a:ext cx="530352" cy="530352"/>
          </a:xfrm>
          <a:prstGeom prst="ellipse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498079" y="2660904"/>
            <a:ext cx="530352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chemeClr val="bg1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3246120"/>
            <a:ext cx="11887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chemeClr val="bg1"/>
                </a:solidFill>
                <a:latin typeface="Aptos"/>
              </a:rPr>
              <a:t>Hitung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59" y="3657600"/>
            <a:ext cx="15544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chemeClr val="bg1"/>
                </a:solidFill>
                <a:latin typeface="Aptos"/>
              </a:rPr>
              <a:t>Indikator lava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28431" y="2761488"/>
            <a:ext cx="1664208" cy="27432"/>
          </a:xfrm>
          <a:prstGeom prst="rect">
            <a:avLst/>
          </a:prstGeom>
          <a:solidFill>
            <a:srgbClr val="DAE4ED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8" name="Oval 27"/>
          <p:cNvSpPr/>
          <p:nvPr/>
        </p:nvSpPr>
        <p:spPr>
          <a:xfrm>
            <a:off x="9692640" y="2514600"/>
            <a:ext cx="530352" cy="530352"/>
          </a:xfrm>
          <a:prstGeom prst="ellipse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692640" y="2660904"/>
            <a:ext cx="530352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chemeClr val="bg1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3246120"/>
            <a:ext cx="11887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chemeClr val="bg1"/>
                </a:solidFill>
                <a:latin typeface="Aptos"/>
              </a:rPr>
              <a:t>Tampilkan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19" y="3657600"/>
            <a:ext cx="15544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chemeClr val="bg1"/>
                </a:solidFill>
                <a:latin typeface="Aptos"/>
              </a:rPr>
              <a:t>Dashboard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4983480"/>
            <a:ext cx="10332720" cy="502920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97280" y="5111605"/>
            <a:ext cx="99669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>
                <a:solidFill>
                  <a:srgbClr val="087F8C"/>
                </a:solidFill>
                <a:latin typeface="Aptos"/>
              </a:rPr>
              <a:t>Collector </a:t>
            </a:r>
            <a:r>
              <a:rPr sz="1200" b="1" dirty="0" err="1">
                <a:solidFill>
                  <a:srgbClr val="087F8C"/>
                </a:solidFill>
                <a:latin typeface="Aptos"/>
              </a:rPr>
              <a:t>berjalan</a:t>
            </a:r>
            <a:r>
              <a:rPr sz="1200" b="1" dirty="0">
                <a:solidFill>
                  <a:srgbClr val="087F8C"/>
                </a:solidFill>
                <a:latin typeface="Aptos"/>
              </a:rPr>
              <a:t> </a:t>
            </a:r>
            <a:r>
              <a:rPr sz="1200" b="1" dirty="0" err="1">
                <a:solidFill>
                  <a:srgbClr val="087F8C"/>
                </a:solidFill>
                <a:latin typeface="Aptos"/>
              </a:rPr>
              <a:t>terpisah</a:t>
            </a:r>
            <a:r>
              <a:rPr sz="1200" b="1" dirty="0">
                <a:solidFill>
                  <a:srgbClr val="087F8C"/>
                </a:solidFill>
                <a:latin typeface="Aptos"/>
              </a:rPr>
              <a:t> </a:t>
            </a:r>
            <a:r>
              <a:rPr sz="1200" b="1" dirty="0" err="1">
                <a:solidFill>
                  <a:srgbClr val="087F8C"/>
                </a:solidFill>
                <a:latin typeface="Aptos"/>
              </a:rPr>
              <a:t>dari</a:t>
            </a:r>
            <a:r>
              <a:rPr sz="1200" b="1" dirty="0">
                <a:solidFill>
                  <a:srgbClr val="087F8C"/>
                </a:solidFill>
                <a:latin typeface="Aptos"/>
              </a:rPr>
              <a:t> browser dan dashboard </a:t>
            </a:r>
            <a:r>
              <a:rPr sz="1200" b="1" dirty="0" err="1">
                <a:solidFill>
                  <a:srgbClr val="087F8C"/>
                </a:solidFill>
                <a:latin typeface="Aptos"/>
              </a:rPr>
              <a:t>melakukan</a:t>
            </a:r>
            <a:r>
              <a:rPr sz="1200" b="1" dirty="0">
                <a:solidFill>
                  <a:srgbClr val="087F8C"/>
                </a:solidFill>
                <a:latin typeface="Aptos"/>
              </a:rPr>
              <a:t> refresh data </a:t>
            </a:r>
            <a:r>
              <a:rPr sz="1200" b="1" dirty="0" err="1">
                <a:solidFill>
                  <a:srgbClr val="087F8C"/>
                </a:solidFill>
                <a:latin typeface="Aptos"/>
              </a:rPr>
              <a:t>secara</a:t>
            </a:r>
            <a:r>
              <a:rPr sz="1200" b="1" dirty="0">
                <a:solidFill>
                  <a:srgbClr val="087F8C"/>
                </a:solidFill>
                <a:latin typeface="Aptos"/>
              </a:rPr>
              <a:t> </a:t>
            </a:r>
            <a:r>
              <a:rPr sz="1200" b="1" dirty="0" err="1">
                <a:solidFill>
                  <a:srgbClr val="087F8C"/>
                </a:solidFill>
                <a:latin typeface="Aptos"/>
              </a:rPr>
              <a:t>otomatis</a:t>
            </a:r>
            <a:r>
              <a:rPr sz="1200" b="1" dirty="0">
                <a:solidFill>
                  <a:srgbClr val="087F8C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  <p:bldP spid="9" grpId="0"/>
      <p:bldP spid="10" grpId="0"/>
      <p:bldP spid="11" grpId="0"/>
      <p:bldP spid="12" grpId="0" animBg="1"/>
      <p:bldP spid="13" grpId="0" animBg="1"/>
      <p:bldP spid="14" grpId="0"/>
      <p:bldP spid="15" grpId="0"/>
      <p:bldP spid="16" grpId="0"/>
      <p:bldP spid="17" grpId="0" animBg="1"/>
      <p:bldP spid="18" grpId="0" animBg="1"/>
      <p:bldP spid="19" grpId="0"/>
      <p:bldP spid="20" grpId="0"/>
      <p:bldP spid="21" grpId="0"/>
      <p:bldP spid="22" grpId="0" animBg="1"/>
      <p:bldP spid="23" grpId="0" animBg="1"/>
      <p:bldP spid="24" grpId="0"/>
      <p:bldP spid="25" grpId="0"/>
      <p:bldP spid="26" grpId="0"/>
      <p:bldP spid="27" grpId="0" animBg="1"/>
      <p:bldP spid="28" grpId="0" animBg="1"/>
      <p:bldP spid="29" grpId="0"/>
      <p:bldP spid="30" grpId="0"/>
      <p:bldP spid="31" grpId="0"/>
      <p:bldP spid="32" grpId="0" animBg="1"/>
      <p:bldP spid="3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Gunung Ibu Kembali Erupsi, Tinggi Letusan 600 Meter di Atas Puncak ...">
            <a:extLst>
              <a:ext uri="{FF2B5EF4-FFF2-40B4-BE49-F238E27FC236}">
                <a16:creationId xmlns:a16="http://schemas.microsoft.com/office/drawing/2014/main" id="{5201F8A9-6408-2CFA-E683-28B0AE1A2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B7A"/>
                </a:solidFill>
                <a:latin typeface="Aptos"/>
              </a:rPr>
              <a:t>MODIS VOLCANO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87F8C"/>
                </a:solidFill>
                <a:latin typeface="Apto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  <a:latin typeface="Aptos"/>
              </a:rPr>
              <a:t>09</a:t>
            </a:r>
            <a:r>
              <a:rPr sz="1000" b="1" dirty="0">
                <a:solidFill>
                  <a:schemeClr val="bg1"/>
                </a:solidFill>
                <a:latin typeface="Aptos"/>
              </a:rPr>
              <a:t>  TIMELINE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68680"/>
            <a:ext cx="1078992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chemeClr val="bg1"/>
                </a:solidFill>
                <a:latin typeface="Aptos"/>
              </a:rPr>
              <a:t>Proses </a:t>
            </a:r>
            <a:r>
              <a:rPr sz="2700" b="1" dirty="0" err="1">
                <a:solidFill>
                  <a:schemeClr val="bg1"/>
                </a:solidFill>
                <a:latin typeface="Aptos"/>
              </a:rPr>
              <a:t>pengembangan</a:t>
            </a:r>
            <a:endParaRPr sz="27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5156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chemeClr val="bg1"/>
                </a:solidFill>
                <a:latin typeface="Aptos"/>
              </a:rPr>
              <a:t>Timeline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disusun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berdasarkan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deliverable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utama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proyek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23160"/>
            <a:ext cx="512064" cy="512064"/>
          </a:xfrm>
          <a:prstGeom prst="ellipse">
            <a:avLst/>
          </a:prstGeom>
          <a:solidFill>
            <a:srgbClr val="237E5A"/>
          </a:solidFill>
          <a:ln>
            <a:solidFill>
              <a:srgbClr val="237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51206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9304" y="2670048"/>
            <a:ext cx="2286000" cy="27432"/>
          </a:xfrm>
          <a:prstGeom prst="rect">
            <a:avLst/>
          </a:prstGeom>
          <a:solidFill>
            <a:srgbClr val="DAE4ED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246120"/>
            <a:ext cx="224028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dirty="0" err="1">
                <a:solidFill>
                  <a:srgbClr val="78BAAF"/>
                </a:solidFill>
                <a:latin typeface="Aptos"/>
              </a:rPr>
              <a:t>Analisis</a:t>
            </a:r>
            <a:r>
              <a:rPr sz="1300" b="1" dirty="0">
                <a:solidFill>
                  <a:srgbClr val="78BAAF"/>
                </a:solidFill>
                <a:latin typeface="Aptos"/>
              </a:rPr>
              <a:t> </a:t>
            </a:r>
            <a:r>
              <a:rPr sz="1300" b="1" dirty="0" err="1">
                <a:solidFill>
                  <a:srgbClr val="78BAAF"/>
                </a:solidFill>
                <a:latin typeface="Aptos"/>
              </a:rPr>
              <a:t>kebutuhan</a:t>
            </a:r>
            <a:endParaRPr sz="1300" b="1" dirty="0">
              <a:solidFill>
                <a:srgbClr val="78BAA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3749039"/>
            <a:ext cx="22402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 err="1">
                <a:solidFill>
                  <a:schemeClr val="bg1"/>
                </a:solidFill>
                <a:latin typeface="Aptos"/>
              </a:rPr>
              <a:t>Menentukan</a:t>
            </a:r>
            <a:r>
              <a:rPr sz="1100" b="0" dirty="0">
                <a:solidFill>
                  <a:schemeClr val="bg1"/>
                </a:solidFill>
                <a:latin typeface="Aptos"/>
              </a:rPr>
              <a:t> data, area </a:t>
            </a:r>
            <a:r>
              <a:rPr sz="1100" b="0" dirty="0" err="1">
                <a:solidFill>
                  <a:schemeClr val="bg1"/>
                </a:solidFill>
                <a:latin typeface="Aptos"/>
              </a:rPr>
              <a:t>gunung</a:t>
            </a:r>
            <a:r>
              <a:rPr sz="1100" b="0" dirty="0">
                <a:solidFill>
                  <a:schemeClr val="bg1"/>
                </a:solidFill>
                <a:latin typeface="Aptos"/>
              </a:rPr>
              <a:t>, dan output.</a:t>
            </a:r>
          </a:p>
        </p:txBody>
      </p:sp>
      <p:sp>
        <p:nvSpPr>
          <p:cNvPr id="13" name="Oval 12"/>
          <p:cNvSpPr/>
          <p:nvPr/>
        </p:nvSpPr>
        <p:spPr>
          <a:xfrm>
            <a:off x="3593592" y="2423160"/>
            <a:ext cx="512064" cy="512064"/>
          </a:xfrm>
          <a:prstGeom prst="ellipse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93592" y="2560320"/>
            <a:ext cx="51206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05656" y="2670048"/>
            <a:ext cx="2286000" cy="27432"/>
          </a:xfrm>
          <a:prstGeom prst="rect">
            <a:avLst/>
          </a:prstGeom>
          <a:solidFill>
            <a:srgbClr val="DAE4ED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93592" y="3246120"/>
            <a:ext cx="224028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8BAAF"/>
                </a:solidFill>
                <a:latin typeface="Aptos"/>
              </a:rPr>
              <a:t>Backend &amp; 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2" y="3749039"/>
            <a:ext cx="22402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 err="1">
                <a:solidFill>
                  <a:schemeClr val="bg1"/>
                </a:solidFill>
                <a:latin typeface="Aptos"/>
              </a:rPr>
              <a:t>Membangun</a:t>
            </a:r>
            <a:r>
              <a:rPr sz="1100" b="0" dirty="0">
                <a:solidFill>
                  <a:schemeClr val="bg1"/>
                </a:solidFill>
                <a:latin typeface="Aptos"/>
              </a:rPr>
              <a:t> worker, </a:t>
            </a:r>
            <a:r>
              <a:rPr sz="1100" b="0" dirty="0" err="1">
                <a:solidFill>
                  <a:schemeClr val="bg1"/>
                </a:solidFill>
                <a:latin typeface="Aptos"/>
              </a:rPr>
              <a:t>skema</a:t>
            </a:r>
            <a:r>
              <a:rPr sz="1100" b="0" dirty="0">
                <a:solidFill>
                  <a:schemeClr val="bg1"/>
                </a:solidFill>
                <a:latin typeface="Aptos"/>
              </a:rPr>
              <a:t>, API, dan </a:t>
            </a:r>
            <a:r>
              <a:rPr sz="1100" b="0" dirty="0" err="1">
                <a:solidFill>
                  <a:schemeClr val="bg1"/>
                </a:solidFill>
                <a:latin typeface="Aptos"/>
              </a:rPr>
              <a:t>kalkulasi</a:t>
            </a:r>
            <a:r>
              <a:rPr sz="1100" b="0" dirty="0">
                <a:solidFill>
                  <a:schemeClr val="bg1"/>
                </a:solidFill>
                <a:latin typeface="Aptos"/>
              </a:rPr>
              <a:t>.</a:t>
            </a:r>
          </a:p>
        </p:txBody>
      </p:sp>
      <p:sp>
        <p:nvSpPr>
          <p:cNvPr id="18" name="Oval 17"/>
          <p:cNvSpPr/>
          <p:nvPr/>
        </p:nvSpPr>
        <p:spPr>
          <a:xfrm>
            <a:off x="6409944" y="2423160"/>
            <a:ext cx="512064" cy="512064"/>
          </a:xfrm>
          <a:prstGeom prst="ellipse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9944" y="2560320"/>
            <a:ext cx="51206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22008" y="2670048"/>
            <a:ext cx="2286000" cy="27432"/>
          </a:xfrm>
          <a:prstGeom prst="rect">
            <a:avLst/>
          </a:prstGeom>
          <a:solidFill>
            <a:srgbClr val="DAE4ED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9944" y="3246120"/>
            <a:ext cx="224028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8BAAF"/>
                </a:solidFill>
                <a:latin typeface="Aptos"/>
              </a:rPr>
              <a:t>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749039"/>
            <a:ext cx="22402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 err="1">
                <a:solidFill>
                  <a:schemeClr val="bg1"/>
                </a:solidFill>
                <a:latin typeface="Aptos"/>
              </a:rPr>
              <a:t>Membangun</a:t>
            </a:r>
            <a:r>
              <a:rPr sz="11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100" b="0" dirty="0" err="1">
                <a:solidFill>
                  <a:schemeClr val="bg1"/>
                </a:solidFill>
                <a:latin typeface="Aptos"/>
              </a:rPr>
              <a:t>tabel</a:t>
            </a:r>
            <a:r>
              <a:rPr sz="1100" b="0" dirty="0">
                <a:solidFill>
                  <a:schemeClr val="bg1"/>
                </a:solidFill>
                <a:latin typeface="Aptos"/>
              </a:rPr>
              <a:t>, </a:t>
            </a:r>
            <a:r>
              <a:rPr sz="1100" b="0" dirty="0" err="1">
                <a:solidFill>
                  <a:schemeClr val="bg1"/>
                </a:solidFill>
                <a:latin typeface="Aptos"/>
              </a:rPr>
              <a:t>grafik</a:t>
            </a:r>
            <a:r>
              <a:rPr sz="1100" b="0" dirty="0">
                <a:solidFill>
                  <a:schemeClr val="bg1"/>
                </a:solidFill>
                <a:latin typeface="Aptos"/>
              </a:rPr>
              <a:t>, filter, dan monitoring.</a:t>
            </a:r>
          </a:p>
        </p:txBody>
      </p:sp>
      <p:sp>
        <p:nvSpPr>
          <p:cNvPr id="23" name="Oval 22"/>
          <p:cNvSpPr/>
          <p:nvPr/>
        </p:nvSpPr>
        <p:spPr>
          <a:xfrm>
            <a:off x="9226296" y="2423160"/>
            <a:ext cx="512064" cy="512064"/>
          </a:xfrm>
          <a:prstGeom prst="ellipse">
            <a:avLst/>
          </a:prstGeom>
          <a:solidFill>
            <a:srgbClr val="A96710"/>
          </a:solidFill>
          <a:ln>
            <a:solidFill>
              <a:srgbClr val="A967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26296" y="2560320"/>
            <a:ext cx="51206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6296" y="3246120"/>
            <a:ext cx="224028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8BAAF"/>
                </a:solidFill>
                <a:latin typeface="Aptos"/>
              </a:rPr>
              <a:t>Integrasi &amp; validasi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26296" y="3749039"/>
            <a:ext cx="22402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 err="1">
                <a:solidFill>
                  <a:schemeClr val="bg1"/>
                </a:solidFill>
                <a:latin typeface="Aptos"/>
              </a:rPr>
              <a:t>Menguji</a:t>
            </a:r>
            <a:r>
              <a:rPr sz="1100" b="0" dirty="0">
                <a:solidFill>
                  <a:schemeClr val="bg1"/>
                </a:solidFill>
                <a:latin typeface="Aptos"/>
              </a:rPr>
              <a:t> Docker, refresh, dan </a:t>
            </a:r>
            <a:r>
              <a:rPr sz="1100" b="0" dirty="0" err="1">
                <a:solidFill>
                  <a:schemeClr val="bg1"/>
                </a:solidFill>
                <a:latin typeface="Aptos"/>
              </a:rPr>
              <a:t>ekspor</a:t>
            </a:r>
            <a:r>
              <a:rPr sz="11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100" b="0" dirty="0" err="1">
                <a:solidFill>
                  <a:schemeClr val="bg1"/>
                </a:solidFill>
                <a:latin typeface="Aptos"/>
              </a:rPr>
              <a:t>hasil</a:t>
            </a:r>
            <a:r>
              <a:rPr sz="1100" b="0" dirty="0">
                <a:solidFill>
                  <a:schemeClr val="bg1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  <p:bldP spid="9" grpId="0"/>
      <p:bldP spid="10" grpId="0" animBg="1"/>
      <p:bldP spid="11" grpId="0"/>
      <p:bldP spid="12" grpId="0"/>
      <p:bldP spid="13" grpId="0" animBg="1"/>
      <p:bldP spid="14" grpId="0"/>
      <p:bldP spid="15" grpId="0" animBg="1"/>
      <p:bldP spid="16" grpId="0"/>
      <p:bldP spid="17" grpId="0"/>
      <p:bldP spid="18" grpId="0" animBg="1"/>
      <p:bldP spid="19" grpId="0"/>
      <p:bldP spid="20" grpId="0" animBg="1"/>
      <p:bldP spid="21" grpId="0"/>
      <p:bldP spid="22" grpId="0"/>
      <p:bldP spid="23" grpId="0" animBg="1"/>
      <p:bldP spid="24" grpId="0"/>
      <p:bldP spid="25" grpId="0"/>
      <p:bldP spid="2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Gunung Ibu Kembali Erupsi, Tinggi Letusan 600 Meter di Atas Puncak ...">
            <a:extLst>
              <a:ext uri="{FF2B5EF4-FFF2-40B4-BE49-F238E27FC236}">
                <a16:creationId xmlns:a16="http://schemas.microsoft.com/office/drawing/2014/main" id="{460D1AB9-DDDB-9BC6-670E-B200A4C5E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B7A"/>
                </a:solidFill>
                <a:latin typeface="Aptos"/>
              </a:rPr>
              <a:t>MODIS VOLCANO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87F8C"/>
                </a:solidFill>
                <a:latin typeface="Apto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  <a:latin typeface="Aptos"/>
              </a:rPr>
              <a:t>10 </a:t>
            </a:r>
            <a:r>
              <a:rPr sz="1000" b="1" dirty="0">
                <a:solidFill>
                  <a:schemeClr val="bg1"/>
                </a:solidFill>
                <a:latin typeface="Aptos"/>
              </a:rPr>
              <a:t> YANG TELAH DICAPAI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68680"/>
            <a:ext cx="1078992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chemeClr val="bg1"/>
                </a:solidFill>
                <a:latin typeface="Aptos"/>
              </a:rPr>
              <a:t>Progress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5156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 err="1">
                <a:solidFill>
                  <a:schemeClr val="bg1"/>
                </a:solidFill>
                <a:latin typeface="Aptos"/>
              </a:rPr>
              <a:t>Komponen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utama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dari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alur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data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sampai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antarmuka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sudah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terhubung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.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28CBA24-0995-6CDA-5230-AA1F827F03E5}"/>
              </a:ext>
            </a:extLst>
          </p:cNvPr>
          <p:cNvGrpSpPr/>
          <p:nvPr/>
        </p:nvGrpSpPr>
        <p:grpSpPr>
          <a:xfrm>
            <a:off x="685800" y="2103120"/>
            <a:ext cx="5410200" cy="1380949"/>
            <a:chOff x="685800" y="2103120"/>
            <a:chExt cx="3429000" cy="1380949"/>
          </a:xfrm>
        </p:grpSpPr>
        <p:sp>
          <p:nvSpPr>
            <p:cNvPr id="8" name="Rounded Rectangle 7"/>
            <p:cNvSpPr/>
            <p:nvPr/>
          </p:nvSpPr>
          <p:spPr>
            <a:xfrm>
              <a:off x="685800" y="2103121"/>
              <a:ext cx="3429000" cy="1380948"/>
            </a:xfrm>
            <a:prstGeom prst="roundRect">
              <a:avLst/>
            </a:prstGeom>
            <a:solidFill>
              <a:srgbClr val="F3F8F9"/>
            </a:solidFill>
            <a:ln>
              <a:solidFill>
                <a:srgbClr val="DAE4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685800" y="2103120"/>
              <a:ext cx="45720" cy="1380949"/>
            </a:xfrm>
            <a:prstGeom prst="rect">
              <a:avLst/>
            </a:prstGeom>
            <a:solidFill>
              <a:srgbClr val="087F8C"/>
            </a:solidFill>
            <a:ln>
              <a:solidFill>
                <a:srgbClr val="087F8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32688" y="2286000"/>
              <a:ext cx="2971800" cy="2743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400" b="1">
                  <a:solidFill>
                    <a:srgbClr val="172033"/>
                  </a:solidFill>
                  <a:latin typeface="Aptos"/>
                </a:rPr>
                <a:t>Collector &amp; backend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932688" y="2670048"/>
            <a:ext cx="297180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C6B7A"/>
                </a:solidFill>
                <a:latin typeface="Aptos"/>
              </a:rPr>
              <a:t>Membangun worker berkala, Flask API, pencatatan collection runs, dan status worker.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D472200-0EAC-98F6-7198-BF3ABE37A1B4}"/>
              </a:ext>
            </a:extLst>
          </p:cNvPr>
          <p:cNvGrpSpPr/>
          <p:nvPr/>
        </p:nvGrpSpPr>
        <p:grpSpPr>
          <a:xfrm>
            <a:off x="704088" y="3597740"/>
            <a:ext cx="5422392" cy="2531727"/>
            <a:chOff x="4960619" y="2103121"/>
            <a:chExt cx="5422392" cy="2531727"/>
          </a:xfrm>
        </p:grpSpPr>
        <p:sp>
          <p:nvSpPr>
            <p:cNvPr id="12" name="Rounded Rectangle 11"/>
            <p:cNvSpPr/>
            <p:nvPr/>
          </p:nvSpPr>
          <p:spPr>
            <a:xfrm>
              <a:off x="4960619" y="2103121"/>
              <a:ext cx="5422392" cy="1312164"/>
            </a:xfrm>
            <a:prstGeom prst="roundRect">
              <a:avLst/>
            </a:prstGeom>
            <a:solidFill>
              <a:srgbClr val="F3F8F9"/>
            </a:solidFill>
            <a:ln>
              <a:solidFill>
                <a:srgbClr val="DAE4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207507" y="2286000"/>
              <a:ext cx="2971800" cy="2743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400" b="1" dirty="0">
                  <a:solidFill>
                    <a:srgbClr val="172033"/>
                  </a:solidFill>
                  <a:latin typeface="Aptos"/>
                </a:rPr>
                <a:t>Database &amp; </a:t>
              </a:r>
              <a:r>
                <a:rPr sz="1400" b="1" dirty="0" err="1">
                  <a:solidFill>
                    <a:srgbClr val="172033"/>
                  </a:solidFill>
                  <a:latin typeface="Aptos"/>
                </a:rPr>
                <a:t>kalkulasi</a:t>
              </a:r>
              <a:endParaRPr sz="1400" b="1" dirty="0">
                <a:solidFill>
                  <a:srgbClr val="172033"/>
                </a:solidFill>
                <a:latin typeface="Aptos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207507" y="2577448"/>
              <a:ext cx="2971800" cy="20574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300" b="0" dirty="0" err="1">
                  <a:solidFill>
                    <a:srgbClr val="5C6B7A"/>
                  </a:solidFill>
                  <a:latin typeface="Aptos"/>
                </a:rPr>
                <a:t>Menyimpan</a:t>
              </a:r>
              <a:r>
                <a:rPr sz="1300" b="0" dirty="0">
                  <a:solidFill>
                    <a:srgbClr val="5C6B7A"/>
                  </a:solidFill>
                  <a:latin typeface="Aptos"/>
                </a:rPr>
                <a:t> data MODIS dan </a:t>
              </a:r>
              <a:r>
                <a:rPr sz="1300" b="0" dirty="0" err="1">
                  <a:solidFill>
                    <a:srgbClr val="5C6B7A"/>
                  </a:solidFill>
                  <a:latin typeface="Aptos"/>
                </a:rPr>
                <a:t>menghasilkan</a:t>
              </a:r>
              <a:r>
                <a:rPr sz="1300" b="0" dirty="0">
                  <a:solidFill>
                    <a:srgbClr val="5C6B7A"/>
                  </a:solidFill>
                  <a:latin typeface="Aptos"/>
                </a:rPr>
                <a:t> </a:t>
              </a:r>
              <a:r>
                <a:rPr sz="1300" b="0" dirty="0" err="1">
                  <a:solidFill>
                    <a:srgbClr val="5C6B7A"/>
                  </a:solidFill>
                  <a:latin typeface="Aptos"/>
                </a:rPr>
                <a:t>estimasi</a:t>
              </a:r>
              <a:r>
                <a:rPr sz="1300" b="0" dirty="0">
                  <a:solidFill>
                    <a:srgbClr val="5C6B7A"/>
                  </a:solidFill>
                  <a:latin typeface="Aptos"/>
                </a:rPr>
                <a:t> effusion rate, heat flux, </a:t>
              </a:r>
              <a:r>
                <a:rPr sz="1300" b="0" dirty="0" err="1">
                  <a:solidFill>
                    <a:srgbClr val="5C6B7A"/>
                  </a:solidFill>
                  <a:latin typeface="Aptos"/>
                </a:rPr>
                <a:t>serta</a:t>
              </a:r>
              <a:r>
                <a:rPr sz="1300" b="0" dirty="0">
                  <a:solidFill>
                    <a:srgbClr val="5C6B7A"/>
                  </a:solidFill>
                  <a:latin typeface="Aptos"/>
                </a:rPr>
                <a:t> volume </a:t>
              </a:r>
              <a:r>
                <a:rPr sz="1300" b="0" dirty="0" err="1">
                  <a:solidFill>
                    <a:srgbClr val="5C6B7A"/>
                  </a:solidFill>
                  <a:latin typeface="Aptos"/>
                </a:rPr>
                <a:t>kumulatif</a:t>
              </a:r>
              <a:r>
                <a:rPr sz="1300" b="0" dirty="0">
                  <a:solidFill>
                    <a:srgbClr val="5C6B7A"/>
                  </a:solidFill>
                  <a:latin typeface="Aptos"/>
                </a:rPr>
                <a:t>.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767103F-51D3-7764-F0CB-B0361383922D}"/>
              </a:ext>
            </a:extLst>
          </p:cNvPr>
          <p:cNvGrpSpPr/>
          <p:nvPr/>
        </p:nvGrpSpPr>
        <p:grpSpPr>
          <a:xfrm>
            <a:off x="731520" y="5120889"/>
            <a:ext cx="5422392" cy="1203167"/>
            <a:chOff x="4334256" y="2126359"/>
            <a:chExt cx="7153656" cy="2743200"/>
          </a:xfrm>
        </p:grpSpPr>
        <p:sp>
          <p:nvSpPr>
            <p:cNvPr id="16" name="Rounded Rectangle 15"/>
            <p:cNvSpPr/>
            <p:nvPr/>
          </p:nvSpPr>
          <p:spPr>
            <a:xfrm>
              <a:off x="4334256" y="2126359"/>
              <a:ext cx="7153656" cy="2743200"/>
            </a:xfrm>
            <a:prstGeom prst="roundRect">
              <a:avLst/>
            </a:prstGeom>
            <a:solidFill>
              <a:srgbClr val="F3F8F9"/>
            </a:solidFill>
            <a:ln>
              <a:solidFill>
                <a:srgbClr val="DAE4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F713DF3D-07C4-D8AC-F5C6-BECEE3574A19}"/>
                </a:ext>
              </a:extLst>
            </p:cNvPr>
            <p:cNvGrpSpPr/>
            <p:nvPr/>
          </p:nvGrpSpPr>
          <p:grpSpPr>
            <a:xfrm>
              <a:off x="4581142" y="2309239"/>
              <a:ext cx="6678169" cy="676436"/>
              <a:chOff x="4581142" y="2309239"/>
              <a:chExt cx="6678169" cy="676436"/>
            </a:xfrm>
          </p:grpSpPr>
          <p:sp>
            <p:nvSpPr>
              <p:cNvPr id="18" name="TextBox 17"/>
              <p:cNvSpPr txBox="1"/>
              <p:nvPr/>
            </p:nvSpPr>
            <p:spPr>
              <a:xfrm>
                <a:off x="4581143" y="2309239"/>
                <a:ext cx="2971800" cy="27432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/>
                <a:r>
                  <a:rPr sz="1400" b="1">
                    <a:solidFill>
                      <a:srgbClr val="172033"/>
                    </a:solidFill>
                    <a:latin typeface="Aptos"/>
                  </a:rPr>
                  <a:t>Aplikasi web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4581142" y="2693287"/>
                <a:ext cx="6678169" cy="292388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/>
                <a:r>
                  <a:rPr sz="1300" b="0" dirty="0" err="1">
                    <a:solidFill>
                      <a:srgbClr val="5C6B7A"/>
                    </a:solidFill>
                    <a:latin typeface="Aptos"/>
                  </a:rPr>
                  <a:t>Menyediakan</a:t>
                </a:r>
                <a:r>
                  <a:rPr sz="1300" b="0" dirty="0">
                    <a:solidFill>
                      <a:srgbClr val="5C6B7A"/>
                    </a:solidFill>
                    <a:latin typeface="Aptos"/>
                  </a:rPr>
                  <a:t> dashboard, monitoring </a:t>
                </a:r>
                <a:r>
                  <a:rPr sz="1300" b="0" dirty="0" err="1">
                    <a:solidFill>
                      <a:srgbClr val="5C6B7A"/>
                    </a:solidFill>
                    <a:latin typeface="Aptos"/>
                  </a:rPr>
                  <a:t>operasional</a:t>
                </a:r>
                <a:r>
                  <a:rPr sz="1300" b="0" dirty="0">
                    <a:solidFill>
                      <a:srgbClr val="5C6B7A"/>
                    </a:solidFill>
                    <a:latin typeface="Aptos"/>
                  </a:rPr>
                  <a:t>, </a:t>
                </a:r>
                <a:r>
                  <a:rPr sz="1300" b="0" dirty="0" err="1">
                    <a:solidFill>
                      <a:srgbClr val="5C6B7A"/>
                    </a:solidFill>
                    <a:latin typeface="Aptos"/>
                  </a:rPr>
                  <a:t>grafik</a:t>
                </a:r>
                <a:r>
                  <a:rPr sz="1300" b="0" dirty="0">
                    <a:solidFill>
                      <a:srgbClr val="5C6B7A"/>
                    </a:solidFill>
                    <a:latin typeface="Aptos"/>
                  </a:rPr>
                  <a:t>, </a:t>
                </a:r>
                <a:r>
                  <a:rPr sz="1300" b="0" dirty="0" err="1">
                    <a:solidFill>
                      <a:srgbClr val="5C6B7A"/>
                    </a:solidFill>
                    <a:latin typeface="Aptos"/>
                  </a:rPr>
                  <a:t>tabel</a:t>
                </a:r>
                <a:r>
                  <a:rPr sz="1300" b="0" dirty="0">
                    <a:solidFill>
                      <a:srgbClr val="5C6B7A"/>
                    </a:solidFill>
                    <a:latin typeface="Aptos"/>
                  </a:rPr>
                  <a:t> detail, filter, dan </a:t>
                </a:r>
                <a:r>
                  <a:rPr sz="1300" b="0" dirty="0" err="1">
                    <a:solidFill>
                      <a:srgbClr val="5C6B7A"/>
                    </a:solidFill>
                    <a:latin typeface="Aptos"/>
                  </a:rPr>
                  <a:t>unduh</a:t>
                </a:r>
                <a:r>
                  <a:rPr sz="1300" b="0" dirty="0">
                    <a:solidFill>
                      <a:srgbClr val="5C6B7A"/>
                    </a:solidFill>
                    <a:latin typeface="Aptos"/>
                  </a:rPr>
                  <a:t> CSV.</a:t>
                </a:r>
              </a:p>
            </p:txBody>
          </p:sp>
        </p:grpSp>
      </p:grpSp>
      <p:sp>
        <p:nvSpPr>
          <p:cNvPr id="13" name="Rectangle 12"/>
          <p:cNvSpPr/>
          <p:nvPr/>
        </p:nvSpPr>
        <p:spPr>
          <a:xfrm>
            <a:off x="685800" y="3593797"/>
            <a:ext cx="45719" cy="1500051"/>
          </a:xfrm>
          <a:prstGeom prst="rect">
            <a:avLst/>
          </a:prstGeom>
          <a:solidFill>
            <a:srgbClr val="A96710"/>
          </a:solidFill>
          <a:ln>
            <a:solidFill>
              <a:srgbClr val="A967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 flipH="1">
            <a:off x="722111" y="5104047"/>
            <a:ext cx="45719" cy="1324185"/>
          </a:xfrm>
          <a:prstGeom prst="rect">
            <a:avLst/>
          </a:prstGeom>
          <a:solidFill>
            <a:srgbClr val="237E5A"/>
          </a:solidFill>
          <a:ln>
            <a:solidFill>
              <a:srgbClr val="237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B6FB2BB-8863-DC90-6D3C-DF30EEF1F0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270" y="611029"/>
            <a:ext cx="3756396" cy="5518438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Gunung Ibu Kembali Erupsi, Tinggi Letusan 600 Meter di Atas Puncak ...">
            <a:extLst>
              <a:ext uri="{FF2B5EF4-FFF2-40B4-BE49-F238E27FC236}">
                <a16:creationId xmlns:a16="http://schemas.microsoft.com/office/drawing/2014/main" id="{238771F6-53E2-5C3A-BE7B-F4EF88474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B7A"/>
                </a:solidFill>
                <a:latin typeface="Aptos"/>
              </a:rPr>
              <a:t>MODIS VOLCANO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87F8C"/>
                </a:solidFill>
                <a:latin typeface="Apto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  <a:latin typeface="Aptos"/>
              </a:rPr>
              <a:t>11</a:t>
            </a:r>
            <a:r>
              <a:rPr sz="1000" b="1" dirty="0">
                <a:solidFill>
                  <a:schemeClr val="bg1"/>
                </a:solidFill>
                <a:latin typeface="Aptos"/>
              </a:rPr>
              <a:t>  MASALAH YANG DIHADAPI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68680"/>
            <a:ext cx="1078992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700" b="1" dirty="0">
                <a:solidFill>
                  <a:srgbClr val="78BAAF"/>
                </a:solidFill>
                <a:latin typeface="Aptos"/>
              </a:rPr>
              <a:t>Hal yang </a:t>
            </a:r>
            <a:r>
              <a:rPr lang="en-US" sz="2700" b="1" dirty="0" err="1">
                <a:solidFill>
                  <a:srgbClr val="78BAAF"/>
                </a:solidFill>
                <a:latin typeface="Aptos"/>
              </a:rPr>
              <a:t>masih</a:t>
            </a:r>
            <a:r>
              <a:rPr lang="en-US" sz="2700" b="1" dirty="0">
                <a:solidFill>
                  <a:srgbClr val="78BAAF"/>
                </a:solidFill>
                <a:latin typeface="Aptos"/>
              </a:rPr>
              <a:t> </a:t>
            </a:r>
            <a:r>
              <a:rPr lang="en-US" sz="2700" b="1" dirty="0" err="1">
                <a:solidFill>
                  <a:srgbClr val="78BAAF"/>
                </a:solidFill>
                <a:latin typeface="Aptos"/>
              </a:rPr>
              <a:t>perlu</a:t>
            </a:r>
            <a:r>
              <a:rPr lang="en-US" sz="2700" b="1" dirty="0">
                <a:solidFill>
                  <a:srgbClr val="78BAAF"/>
                </a:solidFill>
                <a:latin typeface="Aptos"/>
              </a:rPr>
              <a:t> </a:t>
            </a:r>
            <a:r>
              <a:rPr lang="en-US" sz="2700" b="1" dirty="0" err="1">
                <a:solidFill>
                  <a:srgbClr val="78BAAF"/>
                </a:solidFill>
                <a:latin typeface="Aptos"/>
              </a:rPr>
              <a:t>diperhatikan</a:t>
            </a:r>
            <a:endParaRPr sz="2700" b="1" dirty="0">
              <a:solidFill>
                <a:srgbClr val="78BAAF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5800" y="2148840"/>
            <a:ext cx="4962646" cy="2560320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148840"/>
            <a:ext cx="73152" cy="2560320"/>
          </a:xfrm>
          <a:prstGeom prst="rect">
            <a:avLst/>
          </a:prstGeom>
          <a:solidFill>
            <a:srgbClr val="A96710"/>
          </a:solidFill>
          <a:ln>
            <a:solidFill>
              <a:srgbClr val="A967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331720"/>
            <a:ext cx="29718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1" dirty="0" err="1">
                <a:solidFill>
                  <a:srgbClr val="172033"/>
                </a:solidFill>
                <a:latin typeface="Aptos"/>
              </a:rPr>
              <a:t>Grafik</a:t>
            </a:r>
            <a:endParaRPr sz="1400" b="1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2688" y="2715768"/>
            <a:ext cx="3994422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600" b="0" dirty="0">
                <a:solidFill>
                  <a:srgbClr val="5C6B7A"/>
                </a:solidFill>
                <a:latin typeface="Aptos"/>
              </a:rPr>
              <a:t>Linear fitting pada </a:t>
            </a:r>
            <a:r>
              <a:rPr lang="en-US" sz="1600" b="0" dirty="0" err="1">
                <a:solidFill>
                  <a:srgbClr val="5C6B7A"/>
                </a:solidFill>
                <a:latin typeface="Aptos"/>
              </a:rPr>
              <a:t>grafik</a:t>
            </a:r>
            <a:r>
              <a:rPr lang="en-US" sz="1600" b="0" dirty="0">
                <a:solidFill>
                  <a:srgbClr val="5C6B7A"/>
                </a:solidFill>
                <a:latin typeface="Aptos"/>
              </a:rPr>
              <a:t> </a:t>
            </a:r>
            <a:r>
              <a:rPr lang="en-US" sz="1600" b="0" dirty="0" err="1">
                <a:solidFill>
                  <a:srgbClr val="5C6B7A"/>
                </a:solidFill>
                <a:latin typeface="Aptos"/>
              </a:rPr>
              <a:t>masih</a:t>
            </a:r>
            <a:r>
              <a:rPr lang="en-US" sz="1600" b="0" dirty="0">
                <a:solidFill>
                  <a:srgbClr val="5C6B7A"/>
                </a:solidFill>
                <a:latin typeface="Aptos"/>
              </a:rPr>
              <a:t> </a:t>
            </a:r>
            <a:r>
              <a:rPr lang="en-US" sz="1600" b="0" dirty="0" err="1">
                <a:solidFill>
                  <a:srgbClr val="5C6B7A"/>
                </a:solidFill>
                <a:latin typeface="Aptos"/>
              </a:rPr>
              <a:t>perlu</a:t>
            </a:r>
            <a:r>
              <a:rPr lang="en-US" sz="1600" b="0" dirty="0">
                <a:solidFill>
                  <a:srgbClr val="5C6B7A"/>
                </a:solidFill>
                <a:latin typeface="Aptos"/>
              </a:rPr>
              <a:t> </a:t>
            </a:r>
            <a:r>
              <a:rPr lang="en-US" sz="1600" b="0" dirty="0" err="1">
                <a:solidFill>
                  <a:srgbClr val="5C6B7A"/>
                </a:solidFill>
                <a:latin typeface="Aptos"/>
              </a:rPr>
              <a:t>disempurnakan</a:t>
            </a:r>
            <a:r>
              <a:rPr lang="en-US" sz="1600" b="0" dirty="0">
                <a:solidFill>
                  <a:srgbClr val="5C6B7A"/>
                </a:solidFill>
                <a:latin typeface="Aptos"/>
              </a:rPr>
              <a:t> agar garis </a:t>
            </a:r>
            <a:r>
              <a:rPr lang="en-US" sz="1600" b="0" dirty="0" err="1">
                <a:solidFill>
                  <a:srgbClr val="5C6B7A"/>
                </a:solidFill>
                <a:latin typeface="Aptos"/>
              </a:rPr>
              <a:t>tren</a:t>
            </a:r>
            <a:r>
              <a:rPr lang="en-US" sz="1600" b="0" dirty="0">
                <a:solidFill>
                  <a:srgbClr val="5C6B7A"/>
                </a:solidFill>
                <a:latin typeface="Aptos"/>
              </a:rPr>
              <a:t> </a:t>
            </a:r>
            <a:r>
              <a:rPr lang="en-US" sz="1600" b="0" dirty="0" err="1">
                <a:solidFill>
                  <a:srgbClr val="5C6B7A"/>
                </a:solidFill>
                <a:latin typeface="Aptos"/>
              </a:rPr>
              <a:t>sesuai</a:t>
            </a:r>
            <a:r>
              <a:rPr lang="en-US" sz="1600" b="0" dirty="0">
                <a:solidFill>
                  <a:srgbClr val="5C6B7A"/>
                </a:solidFill>
                <a:latin typeface="Aptos"/>
              </a:rPr>
              <a:t> </a:t>
            </a:r>
            <a:r>
              <a:rPr lang="en-US" sz="1600" b="0" dirty="0" err="1">
                <a:solidFill>
                  <a:srgbClr val="5C6B7A"/>
                </a:solidFill>
                <a:latin typeface="Aptos"/>
              </a:rPr>
              <a:t>dengan</a:t>
            </a:r>
            <a:r>
              <a:rPr lang="en-US" sz="1600" b="0" dirty="0">
                <a:solidFill>
                  <a:srgbClr val="5C6B7A"/>
                </a:solidFill>
                <a:latin typeface="Aptos"/>
              </a:rPr>
              <a:t> </a:t>
            </a:r>
            <a:r>
              <a:rPr lang="en-US" sz="1600" b="0" dirty="0" err="1">
                <a:solidFill>
                  <a:srgbClr val="5C6B7A"/>
                </a:solidFill>
                <a:latin typeface="Aptos"/>
              </a:rPr>
              <a:t>seluruh</a:t>
            </a:r>
            <a:r>
              <a:rPr lang="en-US" sz="1600" b="0" dirty="0">
                <a:solidFill>
                  <a:srgbClr val="5C6B7A"/>
                </a:solidFill>
                <a:latin typeface="Aptos"/>
              </a:rPr>
              <a:t> data </a:t>
            </a:r>
            <a:r>
              <a:rPr lang="en-US" sz="1600" b="0" dirty="0" err="1">
                <a:solidFill>
                  <a:srgbClr val="5C6B7A"/>
                </a:solidFill>
                <a:latin typeface="Aptos"/>
              </a:rPr>
              <a:t>pengamatan</a:t>
            </a:r>
            <a:r>
              <a:rPr lang="en-US" sz="1600" b="0" dirty="0">
                <a:solidFill>
                  <a:srgbClr val="5C6B7A"/>
                </a:solidFill>
                <a:latin typeface="Aptos"/>
              </a:rPr>
              <a:t>.</a:t>
            </a:r>
            <a:endParaRPr sz="1600" b="0" dirty="0">
              <a:solidFill>
                <a:srgbClr val="5C6B7A"/>
              </a:solidFill>
              <a:latin typeface="Apto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8557163-2F28-642D-E6DF-8B3FF3F98D5A}"/>
              </a:ext>
            </a:extLst>
          </p:cNvPr>
          <p:cNvGrpSpPr/>
          <p:nvPr/>
        </p:nvGrpSpPr>
        <p:grpSpPr>
          <a:xfrm>
            <a:off x="6016752" y="2148840"/>
            <a:ext cx="5242560" cy="2560320"/>
            <a:chOff x="4389120" y="2148840"/>
            <a:chExt cx="3429000" cy="2560320"/>
          </a:xfrm>
        </p:grpSpPr>
        <p:sp>
          <p:nvSpPr>
            <p:cNvPr id="12" name="Rounded Rectangle 11"/>
            <p:cNvSpPr/>
            <p:nvPr/>
          </p:nvSpPr>
          <p:spPr>
            <a:xfrm>
              <a:off x="4389120" y="2148840"/>
              <a:ext cx="3429000" cy="2560320"/>
            </a:xfrm>
            <a:prstGeom prst="roundRect">
              <a:avLst/>
            </a:prstGeom>
            <a:solidFill>
              <a:srgbClr val="F3F8F9"/>
            </a:solidFill>
            <a:ln>
              <a:solidFill>
                <a:srgbClr val="DAE4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389120" y="2148840"/>
              <a:ext cx="73152" cy="2560320"/>
            </a:xfrm>
            <a:prstGeom prst="rect">
              <a:avLst/>
            </a:prstGeom>
            <a:solidFill>
              <a:srgbClr val="087F8C"/>
            </a:solidFill>
            <a:ln>
              <a:solidFill>
                <a:srgbClr val="087F8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636008" y="2331720"/>
              <a:ext cx="2971800" cy="2743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400" b="1" dirty="0" err="1">
                  <a:solidFill>
                    <a:srgbClr val="172033"/>
                  </a:solidFill>
                  <a:latin typeface="Aptos"/>
                </a:rPr>
                <a:t>Ketersediaan</a:t>
              </a:r>
              <a:r>
                <a:rPr sz="1400" b="1" dirty="0">
                  <a:solidFill>
                    <a:srgbClr val="172033"/>
                  </a:solidFill>
                  <a:latin typeface="Aptos"/>
                </a:rPr>
                <a:t> </a:t>
              </a:r>
              <a:r>
                <a:rPr sz="1400" b="1" dirty="0" err="1">
                  <a:solidFill>
                    <a:srgbClr val="172033"/>
                  </a:solidFill>
                  <a:latin typeface="Aptos"/>
                </a:rPr>
                <a:t>sumber</a:t>
              </a:r>
              <a:endParaRPr sz="1400" b="1" dirty="0">
                <a:solidFill>
                  <a:srgbClr val="172033"/>
                </a:solidFill>
                <a:latin typeface="Aptos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636008" y="2715768"/>
              <a:ext cx="2971800" cy="107721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lang="en-US" sz="1600" b="0" dirty="0">
                  <a:solidFill>
                    <a:srgbClr val="5C6B7A"/>
                  </a:solidFill>
                  <a:latin typeface="Aptos"/>
                </a:rPr>
                <a:t>Server MODIS </a:t>
              </a:r>
              <a:r>
                <a:rPr lang="en-US" sz="1600" b="0" dirty="0" err="1">
                  <a:solidFill>
                    <a:srgbClr val="5C6B7A"/>
                  </a:solidFill>
                  <a:latin typeface="Aptos"/>
                </a:rPr>
                <a:t>tidak</a:t>
              </a:r>
              <a:r>
                <a:rPr lang="en-US" sz="1600" b="0" dirty="0">
                  <a:solidFill>
                    <a:srgbClr val="5C6B7A"/>
                  </a:solidFill>
                  <a:latin typeface="Aptos"/>
                </a:rPr>
                <a:t> </a:t>
              </a:r>
              <a:r>
                <a:rPr lang="en-US" sz="1600" b="0" dirty="0" err="1">
                  <a:solidFill>
                    <a:srgbClr val="5C6B7A"/>
                  </a:solidFill>
                  <a:latin typeface="Aptos"/>
                </a:rPr>
                <a:t>dapat</a:t>
              </a:r>
              <a:r>
                <a:rPr lang="en-US" sz="1600" b="0" dirty="0">
                  <a:solidFill>
                    <a:srgbClr val="5C6B7A"/>
                  </a:solidFill>
                  <a:latin typeface="Aptos"/>
                </a:rPr>
                <a:t> </a:t>
              </a:r>
              <a:r>
                <a:rPr lang="en-US" sz="1600" b="0" dirty="0" err="1">
                  <a:solidFill>
                    <a:srgbClr val="5C6B7A"/>
                  </a:solidFill>
                  <a:latin typeface="Aptos"/>
                </a:rPr>
                <a:t>diakses</a:t>
              </a:r>
              <a:r>
                <a:rPr lang="en-US" sz="1600" b="0" dirty="0">
                  <a:solidFill>
                    <a:srgbClr val="5C6B7A"/>
                  </a:solidFill>
                  <a:latin typeface="Aptos"/>
                </a:rPr>
                <a:t> </a:t>
              </a:r>
              <a:r>
                <a:rPr lang="en-US" sz="1600" b="0" dirty="0" err="1">
                  <a:solidFill>
                    <a:srgbClr val="5C6B7A"/>
                  </a:solidFill>
                  <a:latin typeface="Aptos"/>
                </a:rPr>
                <a:t>saat</a:t>
              </a:r>
              <a:r>
                <a:rPr lang="en-US" sz="1600" b="0" dirty="0">
                  <a:solidFill>
                    <a:srgbClr val="5C6B7A"/>
                  </a:solidFill>
                  <a:latin typeface="Aptos"/>
                </a:rPr>
                <a:t> </a:t>
              </a:r>
              <a:r>
                <a:rPr lang="en-US" sz="1600" b="0" dirty="0" err="1">
                  <a:solidFill>
                    <a:srgbClr val="5C6B7A"/>
                  </a:solidFill>
                  <a:latin typeface="Aptos"/>
                </a:rPr>
                <a:t>ini</a:t>
              </a:r>
              <a:r>
                <a:rPr lang="en-US" sz="1600" b="0" dirty="0">
                  <a:solidFill>
                    <a:srgbClr val="5C6B7A"/>
                  </a:solidFill>
                  <a:latin typeface="Aptos"/>
                </a:rPr>
                <a:t>, </a:t>
              </a:r>
              <a:r>
                <a:rPr lang="en-US" sz="1600" b="0" dirty="0" err="1">
                  <a:solidFill>
                    <a:srgbClr val="5C6B7A"/>
                  </a:solidFill>
                  <a:latin typeface="Aptos"/>
                </a:rPr>
                <a:t>sehingga</a:t>
              </a:r>
              <a:r>
                <a:rPr lang="en-US" sz="1600" b="0" dirty="0">
                  <a:solidFill>
                    <a:srgbClr val="5C6B7A"/>
                  </a:solidFill>
                  <a:latin typeface="Aptos"/>
                </a:rPr>
                <a:t> proses </a:t>
              </a:r>
              <a:r>
                <a:rPr lang="en-US" sz="1600" b="0" dirty="0" err="1">
                  <a:solidFill>
                    <a:srgbClr val="5C6B7A"/>
                  </a:solidFill>
                  <a:latin typeface="Aptos"/>
                </a:rPr>
                <a:t>pengambilan</a:t>
              </a:r>
              <a:r>
                <a:rPr lang="en-US" sz="1600" b="0" dirty="0">
                  <a:solidFill>
                    <a:srgbClr val="5C6B7A"/>
                  </a:solidFill>
                  <a:latin typeface="Aptos"/>
                </a:rPr>
                <a:t> data </a:t>
              </a:r>
              <a:r>
                <a:rPr lang="en-US" sz="1600" b="0" dirty="0" err="1">
                  <a:solidFill>
                    <a:srgbClr val="5C6B7A"/>
                  </a:solidFill>
                  <a:latin typeface="Aptos"/>
                </a:rPr>
                <a:t>terhenti</a:t>
              </a:r>
              <a:r>
                <a:rPr lang="en-US" sz="1600" b="0" dirty="0">
                  <a:solidFill>
                    <a:srgbClr val="5C6B7A"/>
                  </a:solidFill>
                  <a:latin typeface="Aptos"/>
                </a:rPr>
                <a:t>. Data </a:t>
              </a:r>
              <a:r>
                <a:rPr lang="en-US" sz="1600" b="0" dirty="0" err="1">
                  <a:solidFill>
                    <a:srgbClr val="5C6B7A"/>
                  </a:solidFill>
                  <a:latin typeface="Aptos"/>
                </a:rPr>
                <a:t>dari</a:t>
              </a:r>
              <a:r>
                <a:rPr lang="en-US" sz="1600" b="0" dirty="0">
                  <a:solidFill>
                    <a:srgbClr val="5C6B7A"/>
                  </a:solidFill>
                  <a:latin typeface="Aptos"/>
                </a:rPr>
                <a:t> </a:t>
              </a:r>
              <a:r>
                <a:rPr lang="en-US" sz="1600" b="0" dirty="0" err="1">
                  <a:solidFill>
                    <a:srgbClr val="5C6B7A"/>
                  </a:solidFill>
                  <a:latin typeface="Aptos"/>
                </a:rPr>
                <a:t>tanggal</a:t>
              </a:r>
              <a:r>
                <a:rPr lang="en-US" sz="1600" b="0" dirty="0">
                  <a:solidFill>
                    <a:srgbClr val="5C6B7A"/>
                  </a:solidFill>
                  <a:latin typeface="Aptos"/>
                </a:rPr>
                <a:t> 9 September </a:t>
              </a:r>
              <a:r>
                <a:rPr lang="en-US" sz="1600" b="0" dirty="0" err="1">
                  <a:solidFill>
                    <a:srgbClr val="5C6B7A"/>
                  </a:solidFill>
                  <a:latin typeface="Aptos"/>
                </a:rPr>
                <a:t>sampai</a:t>
              </a:r>
              <a:r>
                <a:rPr lang="en-US" sz="1600" b="0" dirty="0">
                  <a:solidFill>
                    <a:srgbClr val="5C6B7A"/>
                  </a:solidFill>
                  <a:latin typeface="Aptos"/>
                </a:rPr>
                <a:t> </a:t>
              </a:r>
              <a:r>
                <a:rPr lang="en-US" sz="1600" b="0" dirty="0" err="1">
                  <a:solidFill>
                    <a:srgbClr val="5C6B7A"/>
                  </a:solidFill>
                  <a:latin typeface="Aptos"/>
                </a:rPr>
                <a:t>sekarang</a:t>
              </a:r>
              <a:r>
                <a:rPr lang="en-US" sz="1600" b="0" dirty="0">
                  <a:solidFill>
                    <a:srgbClr val="5C6B7A"/>
                  </a:solidFill>
                  <a:latin typeface="Aptos"/>
                </a:rPr>
                <a:t> </a:t>
              </a:r>
              <a:r>
                <a:rPr lang="en-US" sz="1600" b="0" dirty="0" err="1">
                  <a:solidFill>
                    <a:srgbClr val="5C6B7A"/>
                  </a:solidFill>
                  <a:latin typeface="Aptos"/>
                </a:rPr>
                <a:t>belum</a:t>
              </a:r>
              <a:r>
                <a:rPr lang="en-US" sz="1600" b="0" dirty="0">
                  <a:solidFill>
                    <a:srgbClr val="5C6B7A"/>
                  </a:solidFill>
                  <a:latin typeface="Aptos"/>
                </a:rPr>
                <a:t> </a:t>
              </a:r>
              <a:r>
                <a:rPr lang="en-US" sz="1600" b="0" dirty="0" err="1">
                  <a:solidFill>
                    <a:srgbClr val="5C6B7A"/>
                  </a:solidFill>
                  <a:latin typeface="Aptos"/>
                </a:rPr>
                <a:t>berhasil</a:t>
              </a:r>
              <a:r>
                <a:rPr lang="en-US" sz="1600" b="0" dirty="0">
                  <a:solidFill>
                    <a:srgbClr val="5C6B7A"/>
                  </a:solidFill>
                  <a:latin typeface="Aptos"/>
                </a:rPr>
                <a:t> </a:t>
              </a:r>
              <a:r>
                <a:rPr lang="en-US" sz="1600" b="0" dirty="0" err="1">
                  <a:solidFill>
                    <a:srgbClr val="5C6B7A"/>
                  </a:solidFill>
                  <a:latin typeface="Aptos"/>
                </a:rPr>
                <a:t>masuk</a:t>
              </a:r>
              <a:r>
                <a:rPr lang="en-US" sz="1600" b="0" dirty="0">
                  <a:solidFill>
                    <a:srgbClr val="5C6B7A"/>
                  </a:solidFill>
                  <a:latin typeface="Aptos"/>
                </a:rPr>
                <a:t> </a:t>
              </a:r>
              <a:r>
                <a:rPr lang="en-US" sz="1600" b="0" dirty="0" err="1">
                  <a:solidFill>
                    <a:srgbClr val="5C6B7A"/>
                  </a:solidFill>
                  <a:latin typeface="Aptos"/>
                </a:rPr>
                <a:t>ke</a:t>
              </a:r>
              <a:r>
                <a:rPr lang="en-US" sz="1600" b="0" dirty="0">
                  <a:solidFill>
                    <a:srgbClr val="5C6B7A"/>
                  </a:solidFill>
                  <a:latin typeface="Aptos"/>
                </a:rPr>
                <a:t> database</a:t>
              </a:r>
              <a:endParaRPr sz="1600" b="0" dirty="0">
                <a:solidFill>
                  <a:srgbClr val="5C6B7A"/>
                </a:solidFill>
                <a:latin typeface="Aptos"/>
              </a:endParaRPr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 animBg="1"/>
      <p:bldP spid="9" grpId="0" animBg="1"/>
      <p:bldP spid="10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Gunung Ibu Kembali Erupsi, Tinggi Letusan 600 Meter di Atas Puncak ...">
            <a:extLst>
              <a:ext uri="{FF2B5EF4-FFF2-40B4-BE49-F238E27FC236}">
                <a16:creationId xmlns:a16="http://schemas.microsoft.com/office/drawing/2014/main" id="{0AF53C30-E1ED-E335-979C-04880C80B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B7A"/>
                </a:solidFill>
                <a:latin typeface="Aptos"/>
              </a:rPr>
              <a:t>MODIS VOLCANO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87F8C"/>
                </a:solidFill>
                <a:latin typeface="Aptos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chemeClr val="bg1"/>
                </a:solidFill>
                <a:latin typeface="Aptos"/>
              </a:rPr>
              <a:t>1</a:t>
            </a:r>
            <a:r>
              <a:rPr lang="en-US" sz="1000" b="1" dirty="0">
                <a:solidFill>
                  <a:schemeClr val="bg1"/>
                </a:solidFill>
                <a:latin typeface="Aptos"/>
              </a:rPr>
              <a:t>2</a:t>
            </a:r>
            <a:r>
              <a:rPr sz="1000" b="1" dirty="0">
                <a:solidFill>
                  <a:schemeClr val="bg1"/>
                </a:solidFill>
                <a:latin typeface="Aptos"/>
              </a:rPr>
              <a:t>  SOLUSI &amp; TARGET SELANJUTNYA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68680"/>
            <a:ext cx="1078992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 err="1">
                <a:solidFill>
                  <a:schemeClr val="bg1"/>
                </a:solidFill>
                <a:latin typeface="Aptos"/>
              </a:rPr>
              <a:t>Penyempurnaan</a:t>
            </a:r>
            <a:r>
              <a:rPr sz="2700" b="1" dirty="0">
                <a:solidFill>
                  <a:schemeClr val="bg1"/>
                </a:solidFill>
                <a:latin typeface="Aptos"/>
              </a:rPr>
              <a:t> yang </a:t>
            </a:r>
            <a:r>
              <a:rPr sz="2700" b="1" dirty="0" err="1">
                <a:solidFill>
                  <a:schemeClr val="bg1"/>
                </a:solidFill>
                <a:latin typeface="Aptos"/>
              </a:rPr>
              <a:t>akan</a:t>
            </a:r>
            <a:r>
              <a:rPr sz="270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2700" b="1" dirty="0" err="1">
                <a:solidFill>
                  <a:schemeClr val="bg1"/>
                </a:solidFill>
                <a:latin typeface="Aptos"/>
              </a:rPr>
              <a:t>dilakukan</a:t>
            </a:r>
            <a:endParaRPr sz="27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8" name="Oval 7"/>
          <p:cNvSpPr/>
          <p:nvPr/>
        </p:nvSpPr>
        <p:spPr>
          <a:xfrm>
            <a:off x="914400" y="2313432"/>
            <a:ext cx="109728" cy="109728"/>
          </a:xfrm>
          <a:prstGeom prst="ellipse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70432" y="2240280"/>
            <a:ext cx="9893808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600" b="0" dirty="0" err="1">
                <a:solidFill>
                  <a:schemeClr val="bg1"/>
                </a:solidFill>
                <a:latin typeface="Aptos"/>
              </a:rPr>
              <a:t>Melakukan</a:t>
            </a:r>
            <a:r>
              <a:rPr lang="en-US" sz="1600" b="0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0" dirty="0" err="1">
                <a:solidFill>
                  <a:schemeClr val="bg1"/>
                </a:solidFill>
                <a:latin typeface="Aptos"/>
              </a:rPr>
              <a:t>pengecekan</a:t>
            </a:r>
            <a:r>
              <a:rPr lang="en-US" sz="1600" b="0" dirty="0">
                <a:solidFill>
                  <a:schemeClr val="bg1"/>
                </a:solidFill>
                <a:latin typeface="Aptos"/>
              </a:rPr>
              <a:t> dan </a:t>
            </a:r>
            <a:r>
              <a:rPr lang="en-US" sz="1600" b="0" dirty="0" err="1">
                <a:solidFill>
                  <a:schemeClr val="bg1"/>
                </a:solidFill>
                <a:latin typeface="Aptos"/>
              </a:rPr>
              <a:t>penanganan</a:t>
            </a:r>
            <a:r>
              <a:rPr lang="en-US" sz="1600" b="0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0" dirty="0" err="1">
                <a:solidFill>
                  <a:schemeClr val="bg1"/>
                </a:solidFill>
                <a:latin typeface="Aptos"/>
              </a:rPr>
              <a:t>kendala</a:t>
            </a:r>
            <a:r>
              <a:rPr lang="en-US" sz="1600" b="0" dirty="0">
                <a:solidFill>
                  <a:schemeClr val="bg1"/>
                </a:solidFill>
                <a:latin typeface="Aptos"/>
              </a:rPr>
              <a:t> pada server MODIS</a:t>
            </a:r>
            <a:endParaRPr sz="1600" b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0" name="Oval 9"/>
          <p:cNvSpPr/>
          <p:nvPr/>
        </p:nvSpPr>
        <p:spPr>
          <a:xfrm>
            <a:off x="914400" y="2971800"/>
            <a:ext cx="109728" cy="109728"/>
          </a:xfrm>
          <a:prstGeom prst="ellipse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2898648"/>
            <a:ext cx="9893808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600" b="0" dirty="0" err="1">
                <a:solidFill>
                  <a:schemeClr val="bg1"/>
                </a:solidFill>
                <a:latin typeface="Aptos"/>
              </a:rPr>
              <a:t>Memperbaiki</a:t>
            </a:r>
            <a:r>
              <a:rPr lang="en-US" sz="1600" b="0" dirty="0">
                <a:solidFill>
                  <a:schemeClr val="bg1"/>
                </a:solidFill>
                <a:latin typeface="Aptos"/>
              </a:rPr>
              <a:t> linear fitting pada </a:t>
            </a:r>
            <a:r>
              <a:rPr lang="en-US" sz="1600" b="0" dirty="0" err="1">
                <a:solidFill>
                  <a:schemeClr val="bg1"/>
                </a:solidFill>
                <a:latin typeface="Aptos"/>
              </a:rPr>
              <a:t>grafik</a:t>
            </a:r>
            <a:endParaRPr sz="1600" b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914400" y="3630168"/>
            <a:ext cx="109728" cy="109728"/>
          </a:xfrm>
          <a:prstGeom prst="ellipse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70432" y="3557016"/>
            <a:ext cx="9893808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600" b="0" dirty="0" err="1">
                <a:solidFill>
                  <a:schemeClr val="bg1"/>
                </a:solidFill>
                <a:latin typeface="Aptos"/>
              </a:rPr>
              <a:t>Menambahkan</a:t>
            </a:r>
            <a:r>
              <a:rPr lang="en-US" sz="1600" b="0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0" dirty="0" err="1">
                <a:solidFill>
                  <a:schemeClr val="bg1"/>
                </a:solidFill>
                <a:latin typeface="Aptos"/>
              </a:rPr>
              <a:t>peta</a:t>
            </a:r>
            <a:r>
              <a:rPr lang="en-US" sz="1600" b="0" dirty="0">
                <a:solidFill>
                  <a:schemeClr val="bg1"/>
                </a:solidFill>
                <a:latin typeface="Aptos"/>
              </a:rPr>
              <a:t> hotspot </a:t>
            </a:r>
            <a:r>
              <a:rPr lang="en-US" sz="1600" b="0" dirty="0" err="1">
                <a:solidFill>
                  <a:schemeClr val="bg1"/>
                </a:solidFill>
                <a:latin typeface="Aptos"/>
              </a:rPr>
              <a:t>berdasarkan</a:t>
            </a:r>
            <a:r>
              <a:rPr lang="en-US" sz="1600" b="0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0" dirty="0" err="1">
                <a:solidFill>
                  <a:schemeClr val="bg1"/>
                </a:solidFill>
                <a:latin typeface="Aptos"/>
              </a:rPr>
              <a:t>koordinat</a:t>
            </a:r>
            <a:r>
              <a:rPr lang="en-US" sz="1600" b="0" dirty="0">
                <a:solidFill>
                  <a:schemeClr val="bg1"/>
                </a:solidFill>
                <a:latin typeface="Aptos"/>
              </a:rPr>
              <a:t> data MODIS </a:t>
            </a:r>
            <a:r>
              <a:rPr lang="en-US" sz="1600" b="0" dirty="0" err="1">
                <a:solidFill>
                  <a:schemeClr val="bg1"/>
                </a:solidFill>
                <a:latin typeface="Aptos"/>
              </a:rPr>
              <a:t>ke</a:t>
            </a:r>
            <a:r>
              <a:rPr lang="en-US" sz="1600" b="0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0" dirty="0" err="1">
                <a:solidFill>
                  <a:schemeClr val="bg1"/>
                </a:solidFill>
                <a:latin typeface="Aptos"/>
              </a:rPr>
              <a:t>dalam</a:t>
            </a:r>
            <a:r>
              <a:rPr lang="en-US" sz="1600" b="0" dirty="0">
                <a:solidFill>
                  <a:schemeClr val="bg1"/>
                </a:solidFill>
                <a:latin typeface="Aptos"/>
              </a:rPr>
              <a:t> website.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288536"/>
            <a:ext cx="109728" cy="109728"/>
          </a:xfrm>
          <a:prstGeom prst="ellipse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70432" y="4215384"/>
            <a:ext cx="9893808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600" b="0" dirty="0" err="1">
                <a:solidFill>
                  <a:schemeClr val="bg1"/>
                </a:solidFill>
                <a:latin typeface="Aptos"/>
              </a:rPr>
              <a:t>Melakukan</a:t>
            </a:r>
            <a:r>
              <a:rPr lang="en-US" sz="1600" b="0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0" dirty="0" err="1">
                <a:solidFill>
                  <a:schemeClr val="bg1"/>
                </a:solidFill>
                <a:latin typeface="Aptos"/>
              </a:rPr>
              <a:t>pengujian</a:t>
            </a:r>
            <a:r>
              <a:rPr lang="en-US" sz="1600" b="0" dirty="0">
                <a:solidFill>
                  <a:schemeClr val="bg1"/>
                </a:solidFill>
                <a:latin typeface="Aptos"/>
              </a:rPr>
              <a:t> dan </a:t>
            </a:r>
            <a:r>
              <a:rPr lang="en-US" sz="1600" b="0" dirty="0" err="1">
                <a:solidFill>
                  <a:schemeClr val="bg1"/>
                </a:solidFill>
                <a:latin typeface="Aptos"/>
              </a:rPr>
              <a:t>penyempurnaan</a:t>
            </a:r>
            <a:r>
              <a:rPr lang="en-US" sz="1600" b="0" dirty="0">
                <a:solidFill>
                  <a:schemeClr val="bg1"/>
                </a:solidFill>
                <a:latin typeface="Aptos"/>
              </a:rPr>
              <a:t> dashboard.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  <p:bldP spid="11" grpId="0"/>
      <p:bldP spid="13" grpId="0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D3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5B08C7-0801-723D-4CD5-3B6018BB7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Gunung Ibu Kembali Erupsi, Tinggi Letusan 600 Meter di Atas Puncak ...">
            <a:extLst>
              <a:ext uri="{FF2B5EF4-FFF2-40B4-BE49-F238E27FC236}">
                <a16:creationId xmlns:a16="http://schemas.microsoft.com/office/drawing/2014/main" id="{DD4EAB5E-A20F-F529-D9D1-13668090E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755869E-C2CC-BC55-5B77-B3AFC64CCF3F}"/>
              </a:ext>
            </a:extLst>
          </p:cNvPr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DD6C8"/>
          </a:solidFill>
          <a:ln>
            <a:solidFill>
              <a:srgbClr val="8DD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125192-24E3-6B1B-14FA-42880B8BB0B8}"/>
              </a:ext>
            </a:extLst>
          </p:cNvPr>
          <p:cNvSpPr txBox="1"/>
          <p:nvPr/>
        </p:nvSpPr>
        <p:spPr>
          <a:xfrm>
            <a:off x="1650274" y="816861"/>
            <a:ext cx="3740331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100" b="1" dirty="0">
                <a:solidFill>
                  <a:srgbClr val="8DD6C8"/>
                </a:solidFill>
                <a:latin typeface="Aptos"/>
              </a:rPr>
              <a:t>Pusat </a:t>
            </a:r>
            <a:r>
              <a:rPr lang="en-US" sz="1100" b="1" dirty="0" err="1">
                <a:solidFill>
                  <a:srgbClr val="8DD6C8"/>
                </a:solidFill>
                <a:latin typeface="Aptos"/>
              </a:rPr>
              <a:t>Vulkanologi</a:t>
            </a:r>
            <a:r>
              <a:rPr lang="en-US" sz="1100" b="1" dirty="0">
                <a:solidFill>
                  <a:srgbClr val="8DD6C8"/>
                </a:solidFill>
                <a:latin typeface="Aptos"/>
              </a:rPr>
              <a:t> dan </a:t>
            </a:r>
          </a:p>
          <a:p>
            <a:pPr algn="l"/>
            <a:r>
              <a:rPr lang="en-US" sz="1100" b="1" dirty="0" err="1">
                <a:solidFill>
                  <a:srgbClr val="8DD6C8"/>
                </a:solidFill>
                <a:latin typeface="Aptos"/>
              </a:rPr>
              <a:t>Mitigasi</a:t>
            </a:r>
            <a:r>
              <a:rPr lang="en-US" sz="1100" b="1" dirty="0">
                <a:solidFill>
                  <a:srgbClr val="8DD6C8"/>
                </a:solidFill>
                <a:latin typeface="Aptos"/>
              </a:rPr>
              <a:t> </a:t>
            </a:r>
            <a:r>
              <a:rPr lang="en-US" sz="1100" b="1" dirty="0" err="1">
                <a:solidFill>
                  <a:srgbClr val="8DD6C8"/>
                </a:solidFill>
                <a:latin typeface="Aptos"/>
              </a:rPr>
              <a:t>Bencana</a:t>
            </a:r>
            <a:r>
              <a:rPr lang="en-US" sz="1100" b="1" dirty="0">
                <a:solidFill>
                  <a:srgbClr val="8DD6C8"/>
                </a:solidFill>
                <a:latin typeface="Aptos"/>
              </a:rPr>
              <a:t> </a:t>
            </a:r>
            <a:r>
              <a:rPr lang="en-US" sz="1100" b="1" dirty="0" err="1">
                <a:solidFill>
                  <a:srgbClr val="8DD6C8"/>
                </a:solidFill>
                <a:latin typeface="Aptos"/>
              </a:rPr>
              <a:t>Geologi</a:t>
            </a:r>
            <a:endParaRPr sz="1100" b="1" dirty="0">
              <a:solidFill>
                <a:srgbClr val="8DD6C8"/>
              </a:solidFill>
              <a:latin typeface="Apto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FDFB0B-B2F1-C4F7-4A1B-F21D9338FDC5}"/>
              </a:ext>
            </a:extLst>
          </p:cNvPr>
          <p:cNvSpPr txBox="1"/>
          <p:nvPr/>
        </p:nvSpPr>
        <p:spPr>
          <a:xfrm>
            <a:off x="2780239" y="2483214"/>
            <a:ext cx="8597538" cy="15696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9600" b="1" dirty="0">
                <a:solidFill>
                  <a:srgbClr val="FFFFFF"/>
                </a:solidFill>
                <a:latin typeface="Aptos"/>
              </a:rPr>
              <a:t>Thank You</a:t>
            </a:r>
            <a:endParaRPr sz="96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8844AC-9803-7F3D-15E6-84C801A99177}"/>
              </a:ext>
            </a:extLst>
          </p:cNvPr>
          <p:cNvSpPr txBox="1"/>
          <p:nvPr/>
        </p:nvSpPr>
        <p:spPr>
          <a:xfrm>
            <a:off x="199084" y="5858428"/>
            <a:ext cx="36576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Aptos"/>
              </a:rPr>
              <a:t>Salma Aulia Nisa</a:t>
            </a:r>
            <a:endParaRPr lang="en-US" sz="1400" b="1" dirty="0">
              <a:solidFill>
                <a:srgbClr val="FFFFFF"/>
              </a:solidFill>
              <a:latin typeface="Aptos"/>
            </a:endParaRPr>
          </a:p>
          <a:p>
            <a:pPr algn="l"/>
            <a:r>
              <a:rPr lang="en-US" sz="1400" b="1" dirty="0">
                <a:solidFill>
                  <a:srgbClr val="FFFFFF"/>
                </a:solidFill>
                <a:latin typeface="Aptos"/>
              </a:rPr>
              <a:t>Aditya </a:t>
            </a:r>
            <a:r>
              <a:rPr lang="en-US" sz="1400" b="1" dirty="0" err="1">
                <a:solidFill>
                  <a:srgbClr val="FFFFFF"/>
                </a:solidFill>
                <a:latin typeface="Aptos"/>
              </a:rPr>
              <a:t>Permana</a:t>
            </a:r>
            <a:endParaRPr sz="1400" b="1" dirty="0">
              <a:solidFill>
                <a:srgbClr val="FFFFFF"/>
              </a:solidFill>
              <a:latin typeface="Apto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642230C-33FF-256F-6B71-37FFA71F5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578" y="638503"/>
            <a:ext cx="813872" cy="77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896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1137</Words>
  <Application>Microsoft Office PowerPoint</Application>
  <PresentationFormat>Widescreen</PresentationFormat>
  <Paragraphs>164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Presentasi MODIS Volcano Monitor - Gaya Referensi</dc:title>
  <dc:subject>Progress pekerjaan kerja praktik</dc:subject>
  <dc:creator>Salma Aulia Nisa</dc:creator>
  <cp:keywords/>
  <dc:description>generated using python-pptx</dc:description>
  <cp:lastModifiedBy>salma aulia nisa</cp:lastModifiedBy>
  <cp:revision>9</cp:revision>
  <dcterms:created xsi:type="dcterms:W3CDTF">2013-01-27T09:14:16Z</dcterms:created>
  <dcterms:modified xsi:type="dcterms:W3CDTF">2026-09-14T08:00:10Z</dcterms:modified>
  <cp:category/>
</cp:coreProperties>
</file>