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76" r:id="rId24"/>
    <p:sldId id="259" r:id="rId6"/>
    <p:sldId id="258" r:id="rId5"/>
    <p:sldId id="277" r:id="rId25"/>
    <p:sldId id="278" r:id="rId26"/>
    <p:sldId id="267" r:id="rId8"/>
    <p:sldId id="279" r:id="rId27"/>
    <p:sldId id="262" r:id="rId10"/>
    <p:sldId id="280" r:id="rId28"/>
    <p:sldId id="270" r:id="rId15"/>
    <p:sldId id="273" r:id="rId21"/>
    <p:sldId id="281" r:id="rId29"/>
    <p:sldId id="268" r:id="rId13"/>
    <p:sldId id="269" r:id="rId14"/>
    <p:sldId id="282" r:id="rId30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AAF"/>
    <a:srgbClr val="087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79" autoAdjust="0"/>
  </p:normalViewPr>
  <p:slideViewPr>
    <p:cSldViewPr snapToGrid="0" snapToObjects="1">
      <p:cViewPr varScale="1">
        <p:scale>
          <a:sx n="55" d="100"/>
          <a:sy n="55" d="100"/>
        </p:scale>
        <p:origin x="107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2096B-04F5-475D-A996-EA022195660B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307E7-51A2-4240-BAD1-CAB0BA94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2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835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unung Ibu Kembali Erupsi, Tinggi Letusan 600 Meter di Atas Puncak ...">
            <a:extLst>
              <a:ext uri="{FF2B5EF4-FFF2-40B4-BE49-F238E27FC236}">
                <a16:creationId xmlns:a16="http://schemas.microsoft.com/office/drawing/2014/main" id="{D7E3CF04-62E3-027A-4131-0C6A23C3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50274" y="816861"/>
            <a:ext cx="37403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8DD6C8"/>
                </a:solidFill>
                <a:latin typeface="Aptos"/>
              </a:rPr>
              <a:t>Pusat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Vulkanologi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dan </a:t>
            </a:r>
          </a:p>
          <a:p>
            <a:pPr algn="l"/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Mitigasi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Bencana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Geologi</a:t>
            </a:r>
            <a:endParaRPr sz="1100" b="1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8597538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SISTEM PEMANTAUAN HOTSPOT MODIS DAN </a:t>
            </a:r>
          </a:p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ESTIMASI VOLUME LAVA</a:t>
            </a:r>
            <a:r>
              <a:rPr lang="en-US" sz="4000" b="1" dirty="0">
                <a:solidFill>
                  <a:srgbClr val="FFFFFF"/>
                </a:solidFill>
                <a:latin typeface="Aptos"/>
              </a:rPr>
              <a:t> PADA GUNUNG IBU DAN GUNUNG LEWOTOLOK</a:t>
            </a:r>
          </a:p>
          <a:p>
            <a:pPr algn="l"/>
            <a:endParaRPr sz="4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39250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8DD6C8"/>
                </a:solidFill>
                <a:latin typeface="Aptos"/>
              </a:rPr>
              <a:t>Progress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pekerjaan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dan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rencana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pengembangan</a:t>
            </a:r>
            <a:endParaRPr sz="1300" b="0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4719429"/>
            <a:ext cx="4754880" cy="18288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79318"/>
            <a:ext cx="3657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Salma Aulia Nisa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Aditya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Permana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0CA2EA-0A81-216A-B0AC-211C329A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8" y="638503"/>
            <a:ext cx="813872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BE30A395-6114-FF96-7962-F9789801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01  IDENTITAS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69848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Tentang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ini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21031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Penyusun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07208"/>
            <a:ext cx="292608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C6B7A"/>
                </a:solidFill>
                <a:latin typeface="Aptos"/>
              </a:rPr>
              <a:t>Salma Aulia Nisa
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Aditya </a:t>
            </a:r>
            <a:r>
              <a:rPr lang="en-US" sz="1500" dirty="0" err="1">
                <a:solidFill>
                  <a:srgbClr val="5C6B7A"/>
                </a:solidFill>
                <a:latin typeface="Aptos"/>
              </a:rPr>
              <a:t>Permana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 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
</a:t>
            </a:r>
            <a:endParaRPr lang="en-US" sz="1500" b="0" dirty="0">
              <a:solidFill>
                <a:srgbClr val="5C6B7A"/>
              </a:solidFill>
              <a:latin typeface="Aptos"/>
            </a:endParaRPr>
          </a:p>
          <a:p>
            <a:pPr algn="l"/>
            <a:r>
              <a:rPr sz="1500" b="0" dirty="0" err="1">
                <a:solidFill>
                  <a:srgbClr val="5C6B7A"/>
                </a:solidFill>
                <a:latin typeface="Aptos"/>
              </a:rPr>
              <a:t>Pembimbing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5C6B7A"/>
                </a:solidFill>
                <a:latin typeface="Aptos"/>
              </a:rPr>
              <a:t>Bpk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 Dary</a:t>
            </a:r>
            <a:r>
              <a:rPr lang="en-US" sz="1500" b="0" dirty="0">
                <a:solidFill>
                  <a:srgbClr val="5C6B7A"/>
                </a:solidFill>
                <a:latin typeface="Aptos"/>
              </a:rPr>
              <a:t> Putra Utama </a:t>
            </a:r>
            <a:r>
              <a:rPr lang="en-US" sz="1500" b="0" dirty="0" err="1">
                <a:solidFill>
                  <a:srgbClr val="5C6B7A"/>
                </a:solidFill>
                <a:latin typeface="Aptos"/>
              </a:rPr>
              <a:t>S.Si</a:t>
            </a:r>
            <a:endParaRPr sz="15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73152" cy="21031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Topik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807208"/>
            <a:ext cx="29260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Sistem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Pemantauan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Hotspot Modis Dan </a:t>
            </a:r>
          </a:p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Estimasi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Volume Lava Pada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Ibu Dan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Lewotolok</a:t>
            </a:r>
            <a:endParaRPr lang="en-US"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40280"/>
            <a:ext cx="73152" cy="210312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807208"/>
            <a:ext cx="29260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5C6B7A"/>
                </a:solidFill>
                <a:latin typeface="Aptos"/>
              </a:rPr>
              <a:t>Aplikasi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web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collector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otomatis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database,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kalkulasi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lava, dashboard,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dirty="0">
                <a:solidFill>
                  <a:srgbClr val="5C6B7A"/>
                </a:solidFill>
                <a:latin typeface="Aptos"/>
              </a:rPr>
              <a:t>dan Peta Hotspot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: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mengubah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data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observasi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informasi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lebih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terstruktur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mudah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D5859261-CFCB-B781-F612-D938E95C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5126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02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02 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197"/>
            <a:ext cx="107899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 err="1">
                <a:solidFill>
                  <a:schemeClr val="bg1"/>
                </a:solidFill>
                <a:latin typeface="Aptos"/>
              </a:rPr>
              <a:t>Mengapa sistem ini dibuat?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148840"/>
            <a:ext cx="2606040" cy="205740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2148840"/>
            <a:ext cx="64008" cy="205740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29514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7D37"/>
                </a:solidFill>
                <a:latin typeface="Aptos"/>
              </a:rPr>
              <a:t>01  FENOMENA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25877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Erupsi efusif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01752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Sebagian gunung api Indonesia (mis. Gunung Ibu dan Lewotolok) mengeluarkan lava secara terus-menerus.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64408" y="306324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0" y="2148840"/>
            <a:ext cx="2606040" cy="205740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29000" y="2148840"/>
            <a:ext cx="64008" cy="2057400"/>
          </a:xfrm>
          <a:prstGeom prst="roundRect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229514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C3C35"/>
                </a:solidFill>
                <a:latin typeface="Aptos"/>
              </a:rPr>
              <a:t>02  TANTANGAN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25877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Sulit diukur langsung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301752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Lava tidak dapat diukur dengan cara sederhana; observasi lapangan berisiko dan sulit.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35040" y="306324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9631" y="2148840"/>
            <a:ext cx="2606040" cy="205740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99631" y="2148840"/>
            <a:ext cx="64008" cy="205740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229514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8E9B"/>
                </a:solidFill>
                <a:latin typeface="Aptos"/>
              </a:rPr>
              <a:t>03  KEBUTUHAN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25877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Estimasi berkala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301752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Dibutuhkan tools penginderaan jauh untuk mengestimasi volume dari waktu ke waktu.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05672" y="306324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70264" y="2148840"/>
            <a:ext cx="2606040" cy="205740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70264" y="2148840"/>
            <a:ext cx="64008" cy="205740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229514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D35"/>
                </a:solidFill>
                <a:latin typeface="Aptos"/>
              </a:rPr>
              <a:t>04  KONTRIBUSI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432" y="25877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Kajian potensi bahaya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301752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Perkembangan volume lava menjadi dasar mengestimasi potensi bahaya gunung api.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262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72033"/>
                </a:solidFill>
                <a:latin typeface="Aptos"/>
              </a:rPr>
              <a:t>• Semakin besar dan semakin lama lava keluar, semakin tinggi potensi bahayanya.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72033"/>
                </a:solidFill>
                <a:latin typeface="Aptos"/>
              </a:rPr>
              <a:t>• Pengukuran langsung tidak praktis, sehingga estimasi dilakukan dari data jarak jauh.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72033"/>
                </a:solidFill>
                <a:latin typeface="Aptos"/>
              </a:rPr>
              <a:t>• Sistem ini mengestimasi volume lava pada gunung yang sedang mengeluarkan lava.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440680"/>
            <a:ext cx="10872216" cy="658368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565099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Kontribusi: mengetahui perkembangan volume lava dari waktu ke waktu  →  dasar estimasi potensi bahaya gunung api.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05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05  TOOLS &amp; 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Teknologi yang digunakan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Setiap tools punya peran khusus; dipilih agar proses otomatis, dapat ditelusuri, dan mudah disajikan.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8368" y="2011680"/>
            <a:ext cx="2084831" cy="28346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58368" y="2011680"/>
            <a:ext cx="2084831" cy="73152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7824" y="2212848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08" y="2427447"/>
            <a:ext cx="487558" cy="137861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877824" y="290779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Python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7824" y="321868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8E9B"/>
                </a:solidFill>
                <a:latin typeface="Aptos"/>
              </a:rPr>
              <a:t>Collector &amp; kalkulasi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7824" y="3520440"/>
            <a:ext cx="17190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Worker otomatis mengambil data MODIS dan menghitung indikator lava.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7824" y="4553712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Dipilih: otomatis dan kaya pustaka pemrosesan data.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944368" y="2011680"/>
            <a:ext cx="2084831" cy="28346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944368" y="2011680"/>
            <a:ext cx="2084831" cy="73152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163824" y="2212848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508" y="2252532"/>
            <a:ext cx="487558" cy="48755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3163824" y="290779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Flask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63824" y="321868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7D37"/>
                </a:solidFill>
                <a:latin typeface="Aptos"/>
              </a:rPr>
              <a:t>API backend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63824" y="3520440"/>
            <a:ext cx="17190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Menyajikan data hasil olahan menjadi REST API untuk frontend.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63824" y="4553712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Dipilih: ringan dan cepat membuat API.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230368" y="2011680"/>
            <a:ext cx="2084831" cy="28346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230368" y="2011680"/>
            <a:ext cx="2084831" cy="73152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449824" y="2212848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508" y="2252532"/>
            <a:ext cx="487558" cy="48755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449824" y="290779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MySQL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49824" y="321868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D35"/>
                </a:solidFill>
                <a:latin typeface="Aptos"/>
              </a:rPr>
              <a:t>Database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49824" y="3520440"/>
            <a:ext cx="17190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Menyimpan observasi, status worker, dan hasil perhitungan.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49824" y="4553712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Dipilih: riwayat data stabil dan mudah di-query.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16368" y="2011680"/>
            <a:ext cx="2084831" cy="28346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7516368" y="2011680"/>
            <a:ext cx="2084831" cy="73152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735824" y="2212848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5508" y="2252532"/>
            <a:ext cx="487558" cy="48755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735824" y="290779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React + Vite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35824" y="321868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8E9B"/>
                </a:solidFill>
                <a:latin typeface="Aptos"/>
              </a:rPr>
              <a:t>Dashboard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735824" y="3520440"/>
            <a:ext cx="17190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Menampilkan filter, tabel, grafik, dan ekspor CSV.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35824" y="4553712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Dipilih: UI interaktif untuk monitoring.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802368" y="2011680"/>
            <a:ext cx="2084831" cy="28346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802368" y="2011680"/>
            <a:ext cx="2084831" cy="73152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021824" y="2212848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508" y="2320931"/>
            <a:ext cx="487558" cy="34964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0021824" y="2907792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Docker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021824" y="321868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7D37"/>
                </a:solidFill>
                <a:latin typeface="Aptos"/>
              </a:rPr>
              <a:t>Deployment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21824" y="3520440"/>
            <a:ext cx="17190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Menjalankan backend, worker, dan frontend dalam wadah terpisah.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21824" y="4553712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Dipilih: lingkungan konsisten dan mudah dipindah.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58368" y="5120640"/>
            <a:ext cx="10872216" cy="5486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527608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MPODVolc  →  Python (web scraping)  →  MySQL  →  Flask API  →  React dashboard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" y="5833872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Alasan pemilihan: tiap tahap otomatis, tersimpan, dan dapat ditelusuri; Docker menjaga seluruh layanan tetap konsisten.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97C323EB-80C4-660D-9C95-4C7FDDAE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04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04  DATA YANG DIGUNAKAN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MODIS &amp; MPODVolc sebagai sumber data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Data hotspot MODIS difilter per area gunung dan disimpan untuk pengolahan.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2057400"/>
            <a:ext cx="6446520" cy="35661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8368" y="2057400"/>
            <a:ext cx="6446520" cy="36576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2157984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modis.higp.hawaii.edu   |   MPODVolc — MODIS Volcano Monitoring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26060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Sumber data: MPODVolc (University of Hawaii)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301752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Data hotspot hasil observasi satelit MODIS (Terra/Aqua), tersedia publik dan dapat diminta berdasarkan area serta rentang tanggal.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3703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26 kolom atribut: UNIX_Time &amp; datetime, satelit, longitude/latitude, B21, B22, B6, B31/B32, geometri pengamatan (Sat/Sun Zen/Azi), NTI, glint, temperatur, dan indikator termal.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4754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Area pengamatan: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4400" y="5074920"/>
            <a:ext cx="2148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8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0E8E9B"/>
                </a:solidFill>
                <a:latin typeface="Aptos"/>
              </a:rPr>
              <a:t>Gunung Ibu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74720" y="5074920"/>
            <a:ext cx="2148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8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0E8E9B"/>
                </a:solidFill>
                <a:latin typeface="Aptos"/>
              </a:rPr>
              <a:t>Gunung Lewotolok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60920" y="2057400"/>
            <a:ext cx="4169663" cy="35661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60920" y="2057400"/>
            <a:ext cx="4169663" cy="36576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89520" y="2157984"/>
            <a:ext cx="374903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KOLOM KUNCI UNTUK PERHITUNGAN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2651760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B21 — radiance termal (input utama metode Harris)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Waktu observasi (UNIX_Time / datetime)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Koordinat untuk filter area gunung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Satelit &amp; geometri pengamatan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NTI dan temperatur sebagai pendukung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20" y="507492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Metode Harris hanya membutuhkan Σ B21 dan selisih waktu antarobservasi.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806440"/>
            <a:ext cx="10872216" cy="5486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96188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difilter menggunakan batas longitude dan latitude masing-masing area sebelum disimpan.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4797AA1-C0EC-66EA-285E-1813A820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5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ANALISIS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Tiga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Pekerjaan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dibagi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pengumpulan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indikator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,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visualisasi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2161903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161903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Pengumpulan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718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087F8C"/>
                </a:solidFill>
                <a:latin typeface="Aptos"/>
              </a:rPr>
              <a:t>Worker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mengambil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data MODIS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secara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berkala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memeriksa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format dan area,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lalu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mencatat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status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setiap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proses.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161903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Analisis dan kalkulasi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15768"/>
            <a:ext cx="2971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Data Band 21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digunakan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untuk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menghitung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effusion rate, heat flux, volume per interval,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nilai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kumulatif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45719" cy="2031274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Visualisasi 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15768"/>
            <a:ext cx="29718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Dashboard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menampilkan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status worker,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tabel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estimasi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filter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periode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ekspor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CSV.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unung Ibu Kembali Erupsi, Tinggi Letusan 600 Meter di Atas Puncak ...">
            <a:extLst>
              <a:ext uri="{FF2B5EF4-FFF2-40B4-BE49-F238E27FC236}">
                <a16:creationId xmlns:a16="http://schemas.microsoft.com/office/drawing/2014/main" id="{96D1C4ED-66A6-1471-938E-0D170081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08  METODE ESTIMASI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Metode Harris untuk estimasi volume lava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14400" y="623620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Referensi: Harris, A. J. L. &amp; Ripepe, M. (2007). Regional earthquakes as a trigger for enhanced volcanic activity: Evidence from MODIS thermal data.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" y="2011680"/>
            <a:ext cx="10872216" cy="5486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215798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Radiance B21 (R)   →   Effusion rate (E)   →   Volume interval (V = E × Δt)   →   Volume kumulatif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" y="2788920"/>
            <a:ext cx="3218688" cy="141732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58368" y="2788920"/>
            <a:ext cx="64008" cy="141732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9536" y="2935224"/>
            <a:ext cx="28986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8E9B"/>
                </a:solidFill>
                <a:latin typeface="Aptos"/>
              </a:rPr>
              <a:t>INPUT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" y="3227832"/>
            <a:ext cx="28986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Hotspot MODIS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9536" y="3657600"/>
            <a:ext cx="289864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Radiance termal B21 (R = Σ B21) dan waktu observasi.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89704" y="2788920"/>
            <a:ext cx="3218688" cy="141732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489704" y="2788920"/>
            <a:ext cx="64008" cy="141732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90872" y="2935224"/>
            <a:ext cx="28986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7D37"/>
                </a:solidFill>
                <a:latin typeface="Aptos"/>
              </a:rPr>
              <a:t>PROSES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90872" y="3227832"/>
            <a:ext cx="28986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Kalibrasi Harris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0872" y="3657600"/>
            <a:ext cx="289864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Hubungan empiris radiance dan effusion rate pada kasus cold dan hot.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21040" y="2788920"/>
            <a:ext cx="3218688" cy="141732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321040" y="2788920"/>
            <a:ext cx="64008" cy="1417320"/>
          </a:xfrm>
          <a:prstGeom prst="roundRect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22208" y="2935224"/>
            <a:ext cx="28986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C3C35"/>
                </a:solidFill>
                <a:latin typeface="Aptos"/>
              </a:rPr>
              <a:t>OUTPUT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22208" y="3227832"/>
            <a:ext cx="28986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Volume lava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22208" y="3657600"/>
            <a:ext cx="289864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Effusion rate dikalikan selang waktu (V = E × Δt) lalu dikumulatifkan.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8368" y="4526280"/>
            <a:ext cx="3218688" cy="566928"/>
          </a:xfrm>
          <a:prstGeom prst="roundRect">
            <a:avLst/>
          </a:prstGeom>
          <a:solidFill>
            <a:srgbClr val="E0E9EC"/>
          </a:solidFill>
          <a:ln w="15240">
            <a:solidFill>
              <a:srgbClr val="0E8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4700016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Ecold = 0.450 × R − 0.127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489704" y="4526280"/>
            <a:ext cx="3218688" cy="566928"/>
          </a:xfrm>
          <a:prstGeom prst="roundRect">
            <a:avLst/>
          </a:prstGeom>
          <a:solidFill>
            <a:srgbClr val="E0E9EC"/>
          </a:solidFill>
          <a:ln w="15240">
            <a:solidFill>
              <a:srgbClr val="EF7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89704" y="4700016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Ehot = 0.164 × R − 0.045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321040" y="4526280"/>
            <a:ext cx="3218688" cy="566928"/>
          </a:xfrm>
          <a:prstGeom prst="roundRect">
            <a:avLst/>
          </a:prstGeom>
          <a:solidFill>
            <a:srgbClr val="E0E9EC"/>
          </a:solidFill>
          <a:ln w="15240">
            <a:solidFill>
              <a:srgbClr val="102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21040" y="4700016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V = E × Δt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8368" y="5212080"/>
            <a:ext cx="10872216" cy="1170432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58368" y="5212080"/>
            <a:ext cx="64008" cy="1170432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4400" y="53218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D35"/>
                </a:solidFill>
                <a:latin typeface="Aptos"/>
              </a:rPr>
              <a:t>Mengapa Band 21?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5596128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Band inframerah-tengah (MIR ~3,96 µm) yang didesain khusus untuk deteksi titik panas.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Tidak jenuh pada suhu sangat tinggi, sehingga tetap terbaca saat mengukur lava yang panas.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Radiasi MIR sebanding dengan fluks panas → dasar hubungan empiris Harris menjadi effusion rate.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623620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Referensi: Harris, A. J. L. &amp; Ripepe, M. (2007). Regional earthquakes as a trigger for enhanced volcanic activity: Evidence from MODIS thermal data.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Gunung Ibu Kembali Erupsi, Tinggi Letusan 600 Meter di Atas Puncak ...">
            <a:extLst>
              <a:ext uri="{FF2B5EF4-FFF2-40B4-BE49-F238E27FC236}">
                <a16:creationId xmlns:a16="http://schemas.microsoft.com/office/drawing/2014/main" id="{2614E5F5-96D9-C8FC-2A66-0A11D37D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07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RUMUS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Rumus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kumulatif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rata-rata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Perhitungan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berikutnya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menggunakan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sebelumnya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dan second pada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saat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CumEcold [B1] dan [B3]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CumEcoldᵢ = CumEcoldᵢ₋₁ + Ecoldᵢ
B3: CumEcoldᵢ = (secondᵢ × Ecoldᵢ₋₁) + CumEcoldᵢ₋₁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CumEhot [B1] dan [B3]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CumEhotᵢ = CumEhotᵢ₋₁ + Ehotᵢ
B3: CumEhotᵢ = (secondᵢ × Ehotᵢ₋₁) + CumEhotᵢ₋₁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MeanE [B1] dan [B3]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>
                <a:solidFill>
                  <a:srgbClr val="5C6B7A"/>
                </a:solidFill>
                <a:latin typeface="Aptos"/>
              </a:rPr>
              <a:t>MeanE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= (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CumEcold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+ 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CumEhot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) /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7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CumQcold [B1] dan [B3]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CumQcoldᵢ = CumQcoldᵢ₋₁ + Qcoldᵢ
B3: CumQcoldᵢ = (secondᵢ × Qcoldᵢ₋₁) + CumQcoldᵢ₋₁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CumQhot [B1] dan [B3]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CumQhotᵢ = CumQhotᵢ₋₁ + Qhotᵢ
B3: CumQhotᵢ = (secondᵢ × Qhotᵢ₋₁) + CumQhotᵢ₋₁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7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MeanQ [B1] dan [B3]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7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Aptos"/>
              </a:rPr>
              <a:t>MeanQ = (CumQcold + CumQhot) / 2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Gunung Ibu Kembali Erupsi, Tinggi Letusan 600 Meter di Atas Puncak ...">
            <a:extLst>
              <a:ext uri="{FF2B5EF4-FFF2-40B4-BE49-F238E27FC236}">
                <a16:creationId xmlns:a16="http://schemas.microsoft.com/office/drawing/2014/main" id="{AB7DDBE4-86FF-10C0-DD31-086167BD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chemeClr val="bg1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chemeClr val="bg1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10  ALUR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Dari data web menjadi informasi lava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Setiap tahap dapat ditelusuri dari sumber hingga halaman web yang sudah jadi.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82512" y="6269227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Halaman dashboard: pilih gunung &amp; periode, lalu lihat hasil estimasi.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58368" y="2011680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658368" y="2011680"/>
            <a:ext cx="64008" cy="585216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1248" y="20848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8E9B"/>
                </a:solidFill>
                <a:latin typeface="Aptos"/>
              </a:rPr>
              <a:t>01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325880" y="205740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MPODVolc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063240" y="2084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Sumber data hotspot MODIS</a:t>
            </a:r>
          </a:p>
        </p:txBody>
      </p:sp>
      <p:sp>
        <p:nvSpPr>
          <p:cNvPr id="165" name="Down Arrow 164"/>
          <p:cNvSpPr/>
          <p:nvPr/>
        </p:nvSpPr>
        <p:spPr>
          <a:xfrm>
            <a:off x="1024128" y="2560320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658368" y="2724912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58368" y="2724912"/>
            <a:ext cx="64008" cy="585216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41248" y="27980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D35"/>
                </a:solidFill>
                <a:latin typeface="Aptos"/>
              </a:rPr>
              <a:t>02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25880" y="277063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Web scraping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063240" y="2798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Request otomatis per tanggal dan area</a:t>
            </a:r>
          </a:p>
        </p:txBody>
      </p:sp>
      <p:sp>
        <p:nvSpPr>
          <p:cNvPr id="171" name="Down Arrow 170"/>
          <p:cNvSpPr/>
          <p:nvPr/>
        </p:nvSpPr>
        <p:spPr>
          <a:xfrm>
            <a:off x="1024128" y="3273552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658368" y="3438144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658368" y="3438144"/>
            <a:ext cx="64008" cy="585216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41248" y="35112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8E9B"/>
                </a:solidFill>
                <a:latin typeface="Aptos"/>
              </a:rPr>
              <a:t>03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25880" y="34838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Filter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63240" y="35112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Koordinat dalam batas area gunung</a:t>
            </a:r>
          </a:p>
        </p:txBody>
      </p:sp>
      <p:sp>
        <p:nvSpPr>
          <p:cNvPr id="177" name="Down Arrow 176"/>
          <p:cNvSpPr/>
          <p:nvPr/>
        </p:nvSpPr>
        <p:spPr>
          <a:xfrm>
            <a:off x="1024128" y="3986784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58368" y="4151376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658368" y="4151376"/>
            <a:ext cx="64008" cy="585216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1248" y="4224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D35"/>
                </a:solidFill>
                <a:latin typeface="Aptos"/>
              </a:rPr>
              <a:t>04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25880" y="419709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MySQL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6324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Penyimpanan data observasi</a:t>
            </a:r>
          </a:p>
        </p:txBody>
      </p:sp>
      <p:sp>
        <p:nvSpPr>
          <p:cNvPr id="183" name="Down Arrow 182"/>
          <p:cNvSpPr/>
          <p:nvPr/>
        </p:nvSpPr>
        <p:spPr>
          <a:xfrm>
            <a:off x="1024128" y="4700016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58368" y="4864608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58368" y="4864608"/>
            <a:ext cx="64008" cy="585216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41248" y="4937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8E9B"/>
                </a:solidFill>
                <a:latin typeface="Aptos"/>
              </a:rPr>
              <a:t>05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25880" y="49103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Harris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063240" y="4937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Estimasi E, V, dan kumulatif</a:t>
            </a:r>
          </a:p>
        </p:txBody>
      </p:sp>
      <p:sp>
        <p:nvSpPr>
          <p:cNvPr id="189" name="Down Arrow 188"/>
          <p:cNvSpPr/>
          <p:nvPr/>
        </p:nvSpPr>
        <p:spPr>
          <a:xfrm>
            <a:off x="1024128" y="5413248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658368" y="5577840"/>
            <a:ext cx="5212080" cy="585216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58368" y="5577840"/>
            <a:ext cx="64008" cy="585216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41248" y="5650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D35"/>
                </a:solidFill>
                <a:latin typeface="Aptos"/>
              </a:rPr>
              <a:t>06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25880" y="56235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ptos"/>
              </a:rPr>
              <a:t>Dashboard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06324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Grafik, tabel, detail, ekspor CSV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144768" y="2011680"/>
            <a:ext cx="5394960" cy="40690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6144768" y="2011680"/>
            <a:ext cx="5394960" cy="384048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382512" y="210312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VISUAL — HALAMAN WEB SUDAH JADI</a:t>
            </a:r>
          </a:p>
        </p:txBody>
      </p:sp>
      <p:pic>
        <p:nvPicPr>
          <p:cNvPr id="198" name="Picture 1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514600"/>
            <a:ext cx="3749039" cy="3644899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6382512" y="6269227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Halaman dashboard: pilih gunung &amp; periode, lalu lihat hasil estimasi.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Gunung Ibu Kembali Erupsi, Tinggi Letusan 600 Meter di Atas Puncak ...">
            <a:extLst>
              <a:ext uri="{FF2B5EF4-FFF2-40B4-BE49-F238E27FC236}">
                <a16:creationId xmlns:a16="http://schemas.microsoft.com/office/drawing/2014/main" id="{5201F8A9-6408-2CFA-E683-28B0AE1A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09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TIMELINE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Proses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pengembangan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Timeline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disusun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deliverable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9304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 err="1">
                <a:solidFill>
                  <a:srgbClr val="78BAAF"/>
                </a:solidFill>
                <a:latin typeface="Aptos"/>
              </a:rPr>
              <a:t>Analisis</a:t>
            </a:r>
            <a:r>
              <a:rPr sz="1300" b="1" dirty="0">
                <a:solidFill>
                  <a:srgbClr val="78BAAF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78BAAF"/>
                </a:solidFill>
                <a:latin typeface="Aptos"/>
              </a:rPr>
              <a:t>kebutuhan</a:t>
            </a:r>
            <a:endParaRPr sz="13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Menentukan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data, area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dan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656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Backend &amp;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worker,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skema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API,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kalkulasi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6409944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tabel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grafik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filter, dan monitoring.</a:t>
            </a:r>
          </a:p>
        </p:txBody>
      </p:sp>
      <p:sp>
        <p:nvSpPr>
          <p:cNvPr id="23" name="Oval 22"/>
          <p:cNvSpPr/>
          <p:nvPr/>
        </p:nvSpPr>
        <p:spPr>
          <a:xfrm>
            <a:off x="9226296" y="2423160"/>
            <a:ext cx="512064" cy="512064"/>
          </a:xfrm>
          <a:prstGeom prst="ellipse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Integrasi &amp; validasi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Menguji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Docker, refresh,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ekspor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60D1AB9-DDDB-9BC6-670E-B200A4C5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10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YANG TELAH DICAPAI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Progress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Komponen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dari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alur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sampai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antarmuka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sudah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terhubung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8CBA24-0995-6CDA-5230-AA1F827F03E5}"/>
              </a:ext>
            </a:extLst>
          </p:cNvPr>
          <p:cNvGrpSpPr/>
          <p:nvPr/>
        </p:nvGrpSpPr>
        <p:grpSpPr>
          <a:xfrm>
            <a:off x="685800" y="2103120"/>
            <a:ext cx="5410200" cy="1380949"/>
            <a:chOff x="685800" y="2103120"/>
            <a:chExt cx="3429000" cy="1380949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2103121"/>
              <a:ext cx="3429000" cy="1380948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2103120"/>
              <a:ext cx="45720" cy="1380949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32688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172033"/>
                  </a:solidFill>
                  <a:latin typeface="Aptos"/>
                </a:rPr>
                <a:t>Collector &amp; backend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32688" y="267004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Aptos"/>
              </a:rPr>
              <a:t>Membangun worker berkala, Flask API, pencatatan collection runs, dan status worker.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472200-0EAC-98F6-7198-BF3ABE37A1B4}"/>
              </a:ext>
            </a:extLst>
          </p:cNvPr>
          <p:cNvGrpSpPr/>
          <p:nvPr/>
        </p:nvGrpSpPr>
        <p:grpSpPr>
          <a:xfrm>
            <a:off x="704088" y="3597740"/>
            <a:ext cx="5422392" cy="2531727"/>
            <a:chOff x="4960619" y="2103121"/>
            <a:chExt cx="5422392" cy="2531727"/>
          </a:xfrm>
        </p:grpSpPr>
        <p:sp>
          <p:nvSpPr>
            <p:cNvPr id="12" name="Rounded Rectangle 11"/>
            <p:cNvSpPr/>
            <p:nvPr/>
          </p:nvSpPr>
          <p:spPr>
            <a:xfrm>
              <a:off x="4960619" y="2103121"/>
              <a:ext cx="5422392" cy="1312164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07507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>
                  <a:solidFill>
                    <a:srgbClr val="172033"/>
                  </a:solidFill>
                  <a:latin typeface="Aptos"/>
                </a:rPr>
                <a:t>Database &amp;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kalkulasi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7507" y="2577448"/>
              <a:ext cx="2971800" cy="2057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Menyimpan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data MODIS dan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menghasilkan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estimasi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effusion rate, heat flux,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serta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volume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kumulatif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7103F-51D3-7764-F0CB-B0361383922D}"/>
              </a:ext>
            </a:extLst>
          </p:cNvPr>
          <p:cNvGrpSpPr/>
          <p:nvPr/>
        </p:nvGrpSpPr>
        <p:grpSpPr>
          <a:xfrm>
            <a:off x="731520" y="5120889"/>
            <a:ext cx="5422392" cy="1203167"/>
            <a:chOff x="4334256" y="2126359"/>
            <a:chExt cx="7153656" cy="2743200"/>
          </a:xfrm>
        </p:grpSpPr>
        <p:sp>
          <p:nvSpPr>
            <p:cNvPr id="16" name="Rounded Rectangle 15"/>
            <p:cNvSpPr/>
            <p:nvPr/>
          </p:nvSpPr>
          <p:spPr>
            <a:xfrm>
              <a:off x="4334256" y="2126359"/>
              <a:ext cx="7153656" cy="274320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13DF3D-07C4-D8AC-F5C6-BECEE3574A19}"/>
                </a:ext>
              </a:extLst>
            </p:cNvPr>
            <p:cNvGrpSpPr/>
            <p:nvPr/>
          </p:nvGrpSpPr>
          <p:grpSpPr>
            <a:xfrm>
              <a:off x="4581142" y="2309239"/>
              <a:ext cx="6678169" cy="676436"/>
              <a:chOff x="4581142" y="2309239"/>
              <a:chExt cx="6678169" cy="67643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4581143" y="2309239"/>
                <a:ext cx="2971800" cy="27432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400" b="1">
                    <a:solidFill>
                      <a:srgbClr val="172033"/>
                    </a:solidFill>
                    <a:latin typeface="Aptos"/>
                  </a:rPr>
                  <a:t>Aplikasi web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81142" y="2693287"/>
                <a:ext cx="6678169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Menyediakan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dashboard, monitoring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operasional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grafik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tabel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detail, filter, dan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unduh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CSV.</a:t>
                </a: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685800" y="3593797"/>
            <a:ext cx="45719" cy="1500051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722111" y="5104047"/>
            <a:ext cx="45719" cy="1324185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B6FB2BB-8863-DC90-6D3C-DF30EEF1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270" y="611029"/>
            <a:ext cx="3756396" cy="55184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238771F6-53E2-5C3A-BE7B-F4EF8847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15  KENDALA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dirty="0">
                <a:solidFill>
                  <a:srgbClr val="78BAAF"/>
                </a:solidFill>
                <a:latin typeface="Aptos"/>
              </a:rPr>
              <a:t>Hal yang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masih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perlu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diperhatikan</a:t>
            </a:r>
            <a:endParaRPr sz="27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4962646" cy="25603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5603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172033"/>
                </a:solidFill>
                <a:latin typeface="Aptos"/>
              </a:rPr>
              <a:t>Grafik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99442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>
                <a:solidFill>
                  <a:srgbClr val="5C6B7A"/>
                </a:solidFill>
                <a:latin typeface="Aptos"/>
              </a:rPr>
              <a:t>Linear fitting pada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masih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perlu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disempurnakan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agar garis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tren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sesuai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seluruh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data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pengamatan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.</a:t>
            </a:r>
            <a:endParaRPr sz="1600" b="0" dirty="0">
              <a:solidFill>
                <a:srgbClr val="5C6B7A"/>
              </a:solidFill>
              <a:latin typeface="Apto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557163-2F28-642D-E6DF-8B3FF3F98D5A}"/>
              </a:ext>
            </a:extLst>
          </p:cNvPr>
          <p:cNvGrpSpPr/>
          <p:nvPr/>
        </p:nvGrpSpPr>
        <p:grpSpPr>
          <a:xfrm>
            <a:off x="6016752" y="2148840"/>
            <a:ext cx="5242560" cy="2560320"/>
            <a:chOff x="4389120" y="2148840"/>
            <a:chExt cx="3429000" cy="256032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429000" cy="256032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89120" y="2148840"/>
              <a:ext cx="73152" cy="2560320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36008" y="233172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Ketersediaan</a:t>
              </a:r>
              <a:r>
                <a:rPr sz="1400" b="1" dirty="0">
                  <a:solidFill>
                    <a:srgbClr val="172033"/>
                  </a:solidFill>
                  <a:latin typeface="Aptos"/>
                </a:rPr>
                <a:t>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sumber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6008" y="2715768"/>
              <a:ext cx="2971800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Server MODIS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tidak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dapat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diakses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ini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,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sehingga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proses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pengambilan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terhenti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.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dari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tanggal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9 September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sampai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sekarang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belum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berhasil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masuk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ke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database</a:t>
              </a:r>
              <a:endParaRPr sz="1600" b="0" dirty="0">
                <a:solidFill>
                  <a:srgbClr val="5C6B7A"/>
                </a:solidFill>
                <a:latin typeface="Aptos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unung Ibu Kembali Erupsi, Tinggi Letusan 600 Meter di Atas Puncak ...">
            <a:extLst>
              <a:ext uri="{FF2B5EF4-FFF2-40B4-BE49-F238E27FC236}">
                <a16:creationId xmlns:a16="http://schemas.microsoft.com/office/drawing/2014/main" id="{0AF53C30-E1ED-E335-979C-04880C80B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16  PENGEMBANGAN SELANJUTNYA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chemeClr val="bg1"/>
                </a:solidFill>
                <a:latin typeface="Aptos"/>
              </a:rPr>
              <a:t>Penyempurnaan yang akan dilakukan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" y="228600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Integrasi peta persebaran hotspot dari koordinat MODIS ke website.</a:t>
            </a:r>
          </a:p>
          <a:p>
            <a:pPr>
              <a:spcAft>
                <a:spcPts val="18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Penanganan kendala koneksi ke server MODIS (retry / backfill data).</a:t>
            </a:r>
          </a:p>
          <a:p>
            <a:pPr>
              <a:spcAft>
                <a:spcPts val="18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Memperbaiki linear fitting pada grafik agar sesuai seluruh data.</a:t>
            </a:r>
          </a:p>
          <a:p>
            <a:pPr>
              <a:spcAft>
                <a:spcPts val="18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Pengujian dan penyempurnaan dashboard.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286000"/>
            <a:ext cx="4114800" cy="33832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2286000"/>
            <a:ext cx="4114800" cy="384048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37744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PETA HOTSPOT — RENCANA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83464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Aptos"/>
              </a:rPr>
              <a:t>PETA GUNUNG IBU</a:t>
            </a:r>
          </a:p>
        </p:txBody>
      </p:sp>
      <p:sp>
        <p:nvSpPr>
          <p:cNvPr id="32" name="Oval 31"/>
          <p:cNvSpPr/>
          <p:nvPr/>
        </p:nvSpPr>
        <p:spPr>
          <a:xfrm>
            <a:off x="8503920" y="3383280"/>
            <a:ext cx="219456" cy="219456"/>
          </a:xfrm>
          <a:prstGeom prst="ellipse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3246120"/>
            <a:ext cx="219456" cy="219456"/>
          </a:xfrm>
          <a:prstGeom prst="ellipse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66960" y="3474720"/>
            <a:ext cx="219456" cy="219456"/>
          </a:xfrm>
          <a:prstGeom prst="ellipse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09760" y="3840480"/>
            <a:ext cx="219456" cy="219456"/>
          </a:xfrm>
          <a:prstGeom prst="ellipse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Persebaran hotspot berdasarkan koordinat MODIS (mockup) — akan ditambahkan sebagai peta interaktif.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Selanjauh ini peta belum masuk output utama, dijadwalkan setelah dashboard stabil.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B08C7-0801-723D-4CD5-3B6018BB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12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12  IMPLEMENTASI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Dashboard pemantauan yang telah dibangun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Pengguna memilih gunung dan periode pengamatan untuk melihat hasil estimasi dari data MODIS.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628142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Tampilan aplikasi yang berjalan di browser.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148840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Pemilihan gunung dan periode pengamatan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Grafik estimasi effusion rate dan volume lava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Tabel data MODIS dan detail perhitungan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Unduh hasil dalam format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20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Status worker dan monitor collection juga tersedia pada halaman terpisah.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011680"/>
            <a:ext cx="4297680" cy="4178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03720" y="628142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Tampilan aplikasi yang berjalan di browser.</a:t>
            </a:r>
          </a:p>
        </p:txBody>
      </p:sp>
    </p:spTree>
    <p:extLst>
      <p:ext uri="{BB962C8B-B14F-4D97-AF65-F5344CB8AC3E}">
        <p14:creationId xmlns:p14="http://schemas.microsoft.com/office/powerpoint/2010/main" val="306089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13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13  HASIL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Output sistem: tabel perhitungan dan grafik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Hasil olahan dapat ditelusuri dari data mentah hingga estimasi volume lava.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6232235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Grafik termal hasil olahan.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4846320" cy="403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8368" y="61417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Tabel detail perhitungan observasi.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57400"/>
            <a:ext cx="2926080" cy="40833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89320" y="6232235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Grafik termal hasil olahan.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377440"/>
            <a:ext cx="23317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Detail: B21, effusion rate cold/hot, heat flux, Δt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Volume kumulatif dan MeanE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Grafik: Ecold, Ehot, MeanE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Tren melalui linear fitting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Unduh sebagai PNG / 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18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18  REFERENSI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Sumber data dan metode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Daftar pustaka utama dalam pengembangan sistem.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148840"/>
            <a:ext cx="10872216" cy="868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148840"/>
            <a:ext cx="64008" cy="86868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8E9B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42316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MODIS Volcano Monitoring (MPODVolc). University of Hawaii at Manoa. https://modis.higp.hawaii.edu/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200400"/>
            <a:ext cx="10872216" cy="868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200400"/>
            <a:ext cx="64008" cy="86868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337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F7D37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47472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Harris, A. J. L. &amp; Ripepe, M. (2007). Regional earthquakes as a trigger for enhanced volcanic activity: Evidence from MODIS thermal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251960"/>
            <a:ext cx="10872216" cy="868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4251960"/>
            <a:ext cx="64008" cy="86868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2D35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526279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Data observasi hotspot MODIS untuk Gunung Ibu dan Gunung Lewotolok, dikumpulkan dan difilter oleh sistem.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486400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Catatan: lengkapi volume/nomor halaman jurnal Harris sesuai format sitasi instansi untuk presentasi final.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DD6C8"/>
                </a:solidFill>
                <a:latin typeface="Aptos"/>
              </a:rPr>
              <a:t>Pusat Vulkanologi dan Mitigasi Bencana Geologi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8DD6C8"/>
                </a:solidFill>
                <a:latin typeface="Aptos"/>
              </a:rPr>
              <a:t>Salma Aulia Nisa   |   Aditya Permana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94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CED6"/>
                </a:solidFill>
                <a:latin typeface="Aptos"/>
              </a:rPr>
              <a:t>Pertanyaan dan masukan dipersilakan.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03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03  TUJUAN &amp;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Tujuan dan output yang ingin dicapai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Sistem mengubah data hotspot menjadi informasi estimasi lava yang mudah dipantau.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011680"/>
            <a:ext cx="5532120" cy="1261872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011680"/>
            <a:ext cx="64008" cy="1261872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1214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8E9B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10312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8E9B"/>
                </a:solidFill>
                <a:latin typeface="Aptos"/>
              </a:rPr>
              <a:t>KUMPULKAN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3408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Pengambilan data otomatis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272491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Mengambil hotspot MODIS dari MPODVolc secara berkala tanpa akses ke lapangan.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410712"/>
            <a:ext cx="5532120" cy="1261872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3410712"/>
            <a:ext cx="64008" cy="1261872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F7D37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50215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7D37"/>
                </a:solidFill>
                <a:latin typeface="Aptos"/>
              </a:rPr>
              <a:t>HITUNG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73989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Estimasi indikator lava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12394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Menghitung effusion rate, heat flux, dan volume lava kumulatif.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809744"/>
            <a:ext cx="5532120" cy="1261872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4809744"/>
            <a:ext cx="64008" cy="1261872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919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2D35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901183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02D35"/>
                </a:solidFill>
                <a:latin typeface="Aptos"/>
              </a:rPr>
              <a:t>SAJIKAN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13892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Visualisasi hasil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522976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Dashboard interaktif: filter, grafik, tabel, dan ekspor CSV.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2011680"/>
            <a:ext cx="5084064" cy="46634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46520" y="2011680"/>
            <a:ext cx="5084064" cy="384048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2103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OUTPUT SISTEM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651760"/>
            <a:ext cx="4526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Dashboard web pemantauan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Grafik effusion rate &amp; volume lava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Tabel data MODIS &amp; detail perhitungan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Ekspor hasil CSV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172033"/>
                </a:solidFill>
                <a:latin typeface="Aptos"/>
              </a:rPr>
              <a:t>• Peta hotspot (pengembangan)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06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06  ARSITEKTUR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Arsitektur sistem secara menyeluruh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Alur dua arah: pengambilan data otomatis (worker) dan penyajian ke pengguna (dashboard).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27448" y="1828800"/>
            <a:ext cx="2743200" cy="51206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MPODVolc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23591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sumber data hotspot MODIS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696712" y="2359152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27448" y="2651760"/>
            <a:ext cx="2743200" cy="512064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Python Collector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318211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web scraping otomatis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696712" y="3182112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27448" y="3474720"/>
            <a:ext cx="2743200" cy="51206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005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penyimpanan data &amp; riwayat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297680"/>
            <a:ext cx="4846320" cy="512064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Perhitungan Harris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2803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effusion rate &amp; volume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97680"/>
            <a:ext cx="4846320" cy="512064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Flask REST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2803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data untuk dashboard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035040" y="3767328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27448" y="5074920"/>
            <a:ext cx="2743200" cy="51206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React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56052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C6B7A"/>
                </a:solidFill>
                <a:latin typeface="Aptos"/>
              </a:rPr>
              <a:t>filter, tabel, grafik, ekspor CSV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6035040" y="4809744"/>
            <a:ext cx="219456" cy="201168"/>
          </a:xfrm>
          <a:prstGeom prst="down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" y="5943600"/>
            <a:ext cx="2423160" cy="45720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Grafik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943600"/>
            <a:ext cx="2423160" cy="45720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Tabel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9631" y="5943600"/>
            <a:ext cx="2423160" cy="45720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Ekspor CSV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4" y="5943600"/>
            <a:ext cx="2423160" cy="45720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Peta (pengembangan)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07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07  PROSES WEB 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Mengambil data hotspot secara otomatis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Worker Python menjadwalkan request, memvalidasi, dan menyimpan data tanpa akses manual ke lapangan.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194560"/>
            <a:ext cx="2606040" cy="2011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194560"/>
            <a:ext cx="2606040" cy="9144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2395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8E9B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Jadwal &amp;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2880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Worker membaca tanggal yang perlu diambil lalu meminta data ke MPODVolc tiap interval.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64408" y="310896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9000" y="2194560"/>
            <a:ext cx="2606040" cy="2011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29000" y="2194560"/>
            <a:ext cx="2606040" cy="9144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2395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F7D37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Validasi 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2880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Format respons dicek; data dengan gunung, waktu, satelit, koordinat yang sama tidak disimpan ulang.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035040" y="310896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99631" y="2194560"/>
            <a:ext cx="2606040" cy="2011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99631" y="2194560"/>
            <a:ext cx="2606040" cy="914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799" y="2395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02D35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3992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Filter 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2880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Hanya hotspot dalam batas koordinat Gunung Ibu dan Lewotolok yang diterima.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805672" y="310896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70264" y="2194560"/>
            <a:ext cx="2606040" cy="201168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70264" y="2194560"/>
            <a:ext cx="2606040" cy="91440"/>
          </a:xfrm>
          <a:prstGeom prst="roundRect">
            <a:avLst/>
          </a:prstGeom>
          <a:solidFill>
            <a:srgbClr val="CC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1432" y="2395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C3C35"/>
                </a:solidFill>
                <a:latin typeface="Apto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Simpan &amp; catat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2880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Data masuk ke MySQL; collection_runs mencatat status success, no_data, atau failed.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892040"/>
            <a:ext cx="10872216" cy="60350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05663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Browser tidak membaca MPODVolc secara langsung — pengambilan dilakukan worker, hasilnya tersimpan di database.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669280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Worker berjalan sebagai service terpisah, sehingga proses tetap berjalan walau dashboard ditutup.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09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09  CONTOH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Contoh perhitungan dengan data nyata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Diambil dari database sistem: observasi Gunung Ibu 13 Februari 2026.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103120"/>
            <a:ext cx="4846320" cy="32918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103120"/>
            <a:ext cx="64008" cy="329184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24028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8E9B"/>
                </a:solidFill>
                <a:latin typeface="Aptos"/>
              </a:rPr>
              <a:t>INPUT — DATA MODIS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606040"/>
            <a:ext cx="4434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172033"/>
                </a:solidFill>
                <a:latin typeface="Aptos"/>
              </a:rPr>
              <a:t>• Gunung Ibu, 13 Feb 2026 12:40 UTC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72033"/>
                </a:solidFill>
                <a:latin typeface="Aptos"/>
              </a:rPr>
              <a:t>• Σ B21 (R) = 1,293 mW·m⁻²·sr⁻¹·μm⁻¹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72033"/>
                </a:solidFill>
                <a:latin typeface="Aptos"/>
              </a:rPr>
              <a:t>• Δt = 3.024.000 s (± 35 hari)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9204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6B7A"/>
                </a:solidFill>
                <a:latin typeface="Aptos"/>
              </a:rPr>
              <a:t>Sumber: tabel modis_data / lava_volume_calculations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623560" y="356616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89320" y="2103120"/>
            <a:ext cx="3017520" cy="32918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89320" y="2103120"/>
            <a:ext cx="64008" cy="329184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2402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F7D37"/>
                </a:solidFill>
                <a:latin typeface="Aptos"/>
              </a:rPr>
              <a:t>PROSES — KALIBRASI HARRIS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51760"/>
            <a:ext cx="2697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Ecold = 0,450 × 1,293 − 0,127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             = 0,455 m³/s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Ehot = 0,164 × 1,293 − 0,045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            = 0,167 m³/s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Vcold = 0,455 × 3.024.000 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72033"/>
                </a:solidFill>
                <a:latin typeface="Aptos"/>
              </a:rPr>
              <a:t>• Vhot = 0,167 × 3.024.000 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125712" y="3566160"/>
            <a:ext cx="292608" cy="228600"/>
          </a:xfrm>
          <a:prstGeom prst="rightArrow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09760" y="2103120"/>
            <a:ext cx="2011680" cy="329184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09760" y="2103120"/>
            <a:ext cx="64008" cy="32918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22402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2D35"/>
                </a:solidFill>
                <a:latin typeface="Aptos"/>
              </a:rPr>
              <a:t>HASIL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2651760"/>
            <a:ext cx="17373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Vcold ≈ 1,375 × 10⁶ m³</a:t>
            </a:r>
          </a:p>
          <a:p>
            <a:pPr>
              <a:spcAft>
                <a:spcPts val="12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Vhot ≈ 0,505 × 10⁶ m³</a:t>
            </a:r>
          </a:p>
          <a:p>
            <a:pPr>
              <a:spcAft>
                <a:spcPts val="12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Kumulatif cold 1.375.466 m³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69280"/>
            <a:ext cx="10872216" cy="585216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3387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Hasil ini sama dengan nilai pada tabel lava_volume_calculations (Gunung Ibu, 2026-02-13) di database.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11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11 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Data yang disimpan di MySQL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Dua tabel utama: data mentah hotspot dan hasil perhitungan lava.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057400"/>
            <a:ext cx="5212080" cy="3108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057400"/>
            <a:ext cx="5212080" cy="384048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21396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modis_data — data mentah hotspot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26974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UNIX_Time &amp; datetime (waktu observasi)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Sat (Terra/Aqua), Longitude, Latitude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B21 (radiance kunci), B22, B6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B31/B32, geometri pengamatan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NTI, glint, temperatur, metadata worker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057400"/>
            <a:ext cx="5212080" cy="3108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2057400"/>
            <a:ext cx="5212080" cy="384048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1396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lava_volume_calculations — hasil perhitungan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974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sum B21 &amp; jumlah piksel (pixel count)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Δt (delta detik antarobservasi)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Effusion rate cold / hot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Heat flux cold / hot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72033"/>
                </a:solidFill>
                <a:latin typeface="Aptos"/>
              </a:rPr>
              <a:t>• Volume interval &amp; volume kumulatif, MeanE/MeanQ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72216" cy="54864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Tabel pendukung: volcanoes, collection_runs (status tiap pengambilan), dan worker_status.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217920"/>
            <a:ext cx="108722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  <a:latin typeface="Aptos"/>
              </a:rPr>
              <a:t>Skema tabel dibuat melalui init.sql / bootstrap_db.py; data awal disimpan via railway_seed.sql.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14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14  PENGUJIAN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Hasil pengujian sistem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103120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103120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19456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Collector web scraping MODIS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2130551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615184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615184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706624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Validasi &amp; filter area gunung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2642615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127248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3127248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218688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Simpan ke database (tanpa duplikasi)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3154679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3639312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3639312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730752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Perhitungan Harris (E, heat flux, volume)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3666744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151376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" y="4151376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242816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Dashboard &amp; filter gunung/periode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4178808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663440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4663440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754879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Grafik estimasi &amp; tabel detail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4690872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175504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5175504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266944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Ekspor data CSV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5202936"/>
            <a:ext cx="2834640" cy="3657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Berhasil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5687568"/>
            <a:ext cx="7863840" cy="420624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5687568"/>
            <a:ext cx="54864" cy="420624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779008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Peta hotspot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0" y="5715000"/>
            <a:ext cx="2834640" cy="365760"/>
          </a:xfrm>
          <a:prstGeom prst="roundRect">
            <a:avLst/>
          </a:prstGeom>
          <a:solidFill>
            <a:srgbClr val="EF7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Dalam pengembangan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309360"/>
            <a:ext cx="108722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6B7A"/>
                </a:solidFill>
                <a:latin typeface="Aptos"/>
              </a:rPr>
              <a:t>Pengujian dilakukan pada periode pengambilan data 26 Agustus – 2 September 2026 (lihat collection_runs).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17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17  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Kesimpulan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103120"/>
            <a:ext cx="10872216" cy="822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2103120"/>
            <a:ext cx="64008" cy="8229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23113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8E9B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94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Data mentah menjadi informasi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21284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Sistem mengubah hotspot MODIS menjadi estimasi effusion rate dan volume lava yang dapat ditelusuri.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063239"/>
            <a:ext cx="10872216" cy="822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063239"/>
            <a:ext cx="64008" cy="82296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1912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02D35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1546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Otomatis dan terintegrasi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17296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Alur scraping MPODVolc → database → perhitungan Harris → API → dashboard berjalan otomatis.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023360"/>
            <a:ext cx="10872216" cy="822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4023360"/>
            <a:ext cx="64008" cy="822960"/>
          </a:xfrm>
          <a:prstGeom prst="roundRect">
            <a:avLst/>
          </a:prstGeom>
          <a:solidFill>
            <a:srgbClr val="0E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1513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8E9B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114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Memudahkan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13308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Dashboard menampilkan filter, grafik, tabel detail, dan ekspor CSV.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983480"/>
            <a:ext cx="10872216" cy="822960"/>
          </a:xfrm>
          <a:prstGeom prst="roundRect">
            <a:avLst/>
          </a:prstGeom>
          <a:solidFill>
            <a:srgbClr val="F2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" y="4983480"/>
            <a:ext cx="64008" cy="82296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114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02D35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074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Arah pengembangan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09320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6B7A"/>
                </a:solidFill>
                <a:latin typeface="Aptos"/>
              </a:rPr>
              <a:t>Peta hotspot dan penyempurnaan linear fitting pada grafik.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989320"/>
            <a:ext cx="10872216" cy="457200"/>
          </a:xfrm>
          <a:prstGeom prst="roundRect">
            <a:avLst/>
          </a:prstGeom>
          <a:solidFill>
            <a:srgbClr val="10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1081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Sistem siap mendukung pemantauan volume lava pada gunung api yang sedang bererupsi efusif.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1137</Words>
  <Application>Microsoft Office PowerPoint</Application>
  <PresentationFormat>Widescreen</PresentationFormat>
  <Paragraphs>164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MODIS Volcano Monitor - Gaya Referensi</dc:title>
  <dc:subject>Progress pekerjaan kerja praktik</dc:subject>
  <dc:creator>Salma Aulia Nisa</dc:creator>
  <cp:keywords/>
  <dc:description>generated using python-pptx</dc:description>
  <cp:lastModifiedBy>salma aulia nisa</cp:lastModifiedBy>
  <cp:revision>9</cp:revision>
  <dcterms:created xsi:type="dcterms:W3CDTF">2013-01-27T09:14:16Z</dcterms:created>
  <dcterms:modified xsi:type="dcterms:W3CDTF">2026-09-14T08:00:10Z</dcterms:modified>
  <cp:category/>
</cp:coreProperties>
</file>