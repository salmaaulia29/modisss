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5" r:id="rId10"/>
    <p:sldId id="265" r:id="rId11"/>
    <p:sldId id="266" r:id="rId12"/>
    <p:sldId id="278" r:id="rId13"/>
    <p:sldId id="268" r:id="rId14"/>
    <p:sldId id="269" r:id="rId15"/>
    <p:sldId id="274" r:id="rId16"/>
    <p:sldId id="270" r:id="rId17"/>
    <p:sldId id="277" r:id="rId18"/>
    <p:sldId id="271" r:id="rId19"/>
    <p:sldId id="267" r:id="rId20"/>
    <p:sldId id="273" r:id="rId21"/>
  </p:sldIdLst>
  <p:sldSz cx="18288000" cy="10287000"/>
  <p:notesSz cx="6858000" cy="9144000"/>
  <p:embeddedFontLst>
    <p:embeddedFont>
      <p:font typeface="Atkinson Hyperlegible" panose="020B0604020202020204" charset="0"/>
      <p:regular r:id="rId23"/>
    </p:embeddedFont>
    <p:embeddedFont>
      <p:font typeface="Atkinson Hyperlegible Bold" panose="020B0604020202020204" charset="0"/>
      <p:regular r:id="rId24"/>
    </p:embeddedFont>
    <p:embeddedFont>
      <p:font typeface="Be Vietnam" panose="020B0604020202020204" charset="0"/>
      <p:regular r:id="rId25"/>
    </p:embeddedFont>
    <p:embeddedFont>
      <p:font typeface="Be Vietnam Ultra-Bol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94622" autoAdjust="0"/>
  </p:normalViewPr>
  <p:slideViewPr>
    <p:cSldViewPr>
      <p:cViewPr varScale="1">
        <p:scale>
          <a:sx n="39" d="100"/>
          <a:sy n="39" d="100"/>
        </p:scale>
        <p:origin x="8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F06C9-31CF-43BC-8CD0-0E2A6A2663F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83DA69-0DF7-4D72-AB85-41247DAF8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54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0.png"/><Relationship Id="rId3" Type="http://schemas.openxmlformats.org/officeDocument/2006/relationships/image" Target="../media/image4.sv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77" b="-927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56972" y="382716"/>
            <a:ext cx="1353005" cy="1291968"/>
          </a:xfrm>
          <a:custGeom>
            <a:avLst/>
            <a:gdLst/>
            <a:ahLst/>
            <a:cxnLst/>
            <a:rect l="l" t="t" r="r" b="b"/>
            <a:pathLst>
              <a:path w="1353005" h="1291968">
                <a:moveTo>
                  <a:pt x="0" y="0"/>
                </a:moveTo>
                <a:lnTo>
                  <a:pt x="1353006" y="0"/>
                </a:lnTo>
                <a:lnTo>
                  <a:pt x="1353006" y="1291968"/>
                </a:lnTo>
                <a:lnTo>
                  <a:pt x="0" y="1291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635358" y="3514725"/>
            <a:ext cx="14792821" cy="3107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274"/>
              </a:lnSpc>
            </a:pPr>
            <a:r>
              <a:rPr lang="en-US" sz="5910" b="1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SISTEM PEMANTAUAN HOTSPOT MODIS DAN ESTIMASI VOLUME LAVA PADA </a:t>
            </a:r>
          </a:p>
          <a:p>
            <a:pPr algn="ctr">
              <a:lnSpc>
                <a:spcPts val="8274"/>
              </a:lnSpc>
            </a:pPr>
            <a:r>
              <a:rPr lang="en-US" sz="5910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5910" b="1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GUNUNG IBU DAN GUNUNG LEWOTOLOK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27192" y="806817"/>
            <a:ext cx="5224803" cy="933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8"/>
              </a:lnSpc>
              <a:spcBef>
                <a:spcPct val="0"/>
              </a:spcBef>
            </a:pPr>
            <a:r>
              <a:rPr lang="en-US" sz="1799" b="1" u="none" strike="noStrike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PUSAT VULKANOLOGI DAN MITIGASI BENCANA GEOLOGI</a:t>
            </a:r>
          </a:p>
          <a:p>
            <a:pPr marL="0" lvl="0" indent="0" algn="ctr">
              <a:lnSpc>
                <a:spcPts val="2518"/>
              </a:lnSpc>
              <a:spcBef>
                <a:spcPct val="0"/>
              </a:spcBef>
            </a:pPr>
            <a:endParaRPr lang="en-US" sz="1799" b="1" u="none" strike="noStrike">
              <a:solidFill>
                <a:srgbClr val="FFFFFF"/>
              </a:solidFill>
              <a:latin typeface="Atkinson Hyperlegible Bold"/>
              <a:ea typeface="Atkinson Hyperlegible Bold"/>
              <a:cs typeface="Atkinson Hyperlegible Bold"/>
              <a:sym typeface="Atkinson Hyperlegible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7888" b="-27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876936" y="4535368"/>
            <a:ext cx="379818" cy="379578"/>
            <a:chOff x="0" y="0"/>
            <a:chExt cx="100034" cy="9997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0034" cy="99971"/>
            </a:xfrm>
            <a:custGeom>
              <a:avLst/>
              <a:gdLst/>
              <a:ahLst/>
              <a:cxnLst/>
              <a:rect l="l" t="t" r="r" b="b"/>
              <a:pathLst>
                <a:path w="100034" h="99971">
                  <a:moveTo>
                    <a:pt x="49986" y="0"/>
                  </a:moveTo>
                  <a:lnTo>
                    <a:pt x="50049" y="0"/>
                  </a:lnTo>
                  <a:cubicBezTo>
                    <a:pt x="77655" y="0"/>
                    <a:pt x="100034" y="22379"/>
                    <a:pt x="100034" y="49986"/>
                  </a:cubicBezTo>
                  <a:lnTo>
                    <a:pt x="100034" y="49986"/>
                  </a:lnTo>
                  <a:cubicBezTo>
                    <a:pt x="100034" y="77592"/>
                    <a:pt x="77655" y="99971"/>
                    <a:pt x="50049" y="99971"/>
                  </a:cubicBezTo>
                  <a:lnTo>
                    <a:pt x="49986" y="99971"/>
                  </a:lnTo>
                  <a:cubicBezTo>
                    <a:pt x="22379" y="99971"/>
                    <a:pt x="0" y="77592"/>
                    <a:pt x="0" y="49986"/>
                  </a:cubicBezTo>
                  <a:lnTo>
                    <a:pt x="0" y="49986"/>
                  </a:lnTo>
                  <a:cubicBezTo>
                    <a:pt x="0" y="22379"/>
                    <a:pt x="22379" y="0"/>
                    <a:pt x="49986" y="0"/>
                  </a:cubicBezTo>
                  <a:close/>
                </a:path>
              </a:pathLst>
            </a:custGeom>
            <a:solidFill>
              <a:srgbClr val="30444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00034" cy="1285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66372" y="4535368"/>
            <a:ext cx="379818" cy="379578"/>
            <a:chOff x="0" y="0"/>
            <a:chExt cx="100034" cy="999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0034" cy="99971"/>
            </a:xfrm>
            <a:custGeom>
              <a:avLst/>
              <a:gdLst/>
              <a:ahLst/>
              <a:cxnLst/>
              <a:rect l="l" t="t" r="r" b="b"/>
              <a:pathLst>
                <a:path w="100034" h="99971">
                  <a:moveTo>
                    <a:pt x="49986" y="0"/>
                  </a:moveTo>
                  <a:lnTo>
                    <a:pt x="50049" y="0"/>
                  </a:lnTo>
                  <a:cubicBezTo>
                    <a:pt x="77655" y="0"/>
                    <a:pt x="100034" y="22379"/>
                    <a:pt x="100034" y="49986"/>
                  </a:cubicBezTo>
                  <a:lnTo>
                    <a:pt x="100034" y="49986"/>
                  </a:lnTo>
                  <a:cubicBezTo>
                    <a:pt x="100034" y="77592"/>
                    <a:pt x="77655" y="99971"/>
                    <a:pt x="50049" y="99971"/>
                  </a:cubicBezTo>
                  <a:lnTo>
                    <a:pt x="49986" y="99971"/>
                  </a:lnTo>
                  <a:cubicBezTo>
                    <a:pt x="22379" y="99971"/>
                    <a:pt x="0" y="77592"/>
                    <a:pt x="0" y="49986"/>
                  </a:cubicBezTo>
                  <a:lnTo>
                    <a:pt x="0" y="49986"/>
                  </a:lnTo>
                  <a:cubicBezTo>
                    <a:pt x="0" y="22379"/>
                    <a:pt x="22379" y="0"/>
                    <a:pt x="49986" y="0"/>
                  </a:cubicBezTo>
                  <a:close/>
                </a:path>
              </a:pathLst>
            </a:custGeom>
            <a:solidFill>
              <a:srgbClr val="30444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00034" cy="1285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675356" y="2473744"/>
            <a:ext cx="10937287" cy="102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1"/>
              </a:lnSpc>
            </a:pPr>
            <a:r>
              <a:rPr lang="en-US" sz="7639" b="1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Disusun Oleh: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27946" y="4478218"/>
            <a:ext cx="4963289" cy="1471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32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Salma Aulia Nisa</a:t>
            </a:r>
          </a:p>
          <a:p>
            <a:pPr algn="ctr">
              <a:lnSpc>
                <a:spcPts val="3919"/>
              </a:lnSpc>
            </a:pPr>
            <a:r>
              <a:rPr lang="en-US" sz="32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NIM 2306143</a:t>
            </a:r>
          </a:p>
          <a:p>
            <a:pPr algn="ctr">
              <a:lnSpc>
                <a:spcPts val="3919"/>
              </a:lnSpc>
            </a:pPr>
            <a:r>
              <a:rPr lang="en-US" sz="32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Institut</a:t>
            </a:r>
            <a:r>
              <a:rPr lang="en-US" sz="32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2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Teknologi</a:t>
            </a:r>
            <a:r>
              <a:rPr lang="en-US" sz="32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2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Garut</a:t>
            </a:r>
            <a:endParaRPr lang="en-US" sz="3200" dirty="0">
              <a:solidFill>
                <a:srgbClr val="30444F"/>
              </a:solidFill>
              <a:latin typeface="Be Vietnam"/>
              <a:ea typeface="Be Vietnam"/>
              <a:cs typeface="Be Vietnam"/>
              <a:sym typeface="Be Vietnam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806713" y="4578789"/>
            <a:ext cx="520263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96150" y="4578789"/>
            <a:ext cx="520263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02</a:t>
            </a:r>
          </a:p>
        </p:txBody>
      </p:sp>
      <p:sp>
        <p:nvSpPr>
          <p:cNvPr id="13" name="Freeform 13"/>
          <p:cNvSpPr/>
          <p:nvPr/>
        </p:nvSpPr>
        <p:spPr>
          <a:xfrm>
            <a:off x="-1900289" y="-2057400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0" y="0"/>
                </a:moveTo>
                <a:lnTo>
                  <a:pt x="3800578" y="0"/>
                </a:lnTo>
                <a:lnTo>
                  <a:pt x="38005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387711" y="8229600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0" y="0"/>
                </a:moveTo>
                <a:lnTo>
                  <a:pt x="3800578" y="0"/>
                </a:lnTo>
                <a:lnTo>
                  <a:pt x="38005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587862" y="4601332"/>
            <a:ext cx="4963289" cy="1471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32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Aditya </a:t>
            </a:r>
            <a:r>
              <a:rPr lang="en-US" sz="32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Permana</a:t>
            </a:r>
            <a:endParaRPr lang="en-US" sz="3200" dirty="0">
              <a:solidFill>
                <a:srgbClr val="30444F"/>
              </a:solidFill>
              <a:latin typeface="Be Vietnam"/>
              <a:ea typeface="Be Vietnam"/>
              <a:cs typeface="Be Vietnam"/>
              <a:sym typeface="Be Vietnam"/>
            </a:endParaRPr>
          </a:p>
          <a:p>
            <a:pPr algn="ctr">
              <a:lnSpc>
                <a:spcPts val="3919"/>
              </a:lnSpc>
            </a:pPr>
            <a:r>
              <a:rPr lang="en-US" sz="32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NIM 2306162</a:t>
            </a:r>
          </a:p>
          <a:p>
            <a:pPr algn="ctr">
              <a:lnSpc>
                <a:spcPts val="3919"/>
              </a:lnSpc>
            </a:pPr>
            <a:r>
              <a:rPr lang="en-US" sz="32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Institut</a:t>
            </a:r>
            <a:r>
              <a:rPr lang="en-US" sz="32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2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Teknologi</a:t>
            </a:r>
            <a:r>
              <a:rPr lang="en-US" sz="32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2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Garut</a:t>
            </a:r>
            <a:endParaRPr lang="en-US" sz="3200" dirty="0">
              <a:solidFill>
                <a:srgbClr val="30444F"/>
              </a:solidFill>
              <a:latin typeface="Be Vietnam"/>
              <a:ea typeface="Be Vietnam"/>
              <a:cs typeface="Be Vietnam"/>
              <a:sym typeface="Be Vietnam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236071" y="7530537"/>
            <a:ext cx="13815858" cy="445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6"/>
              </a:lnSpc>
            </a:pPr>
            <a:r>
              <a:rPr lang="en-US" sz="3251" b="1" dirty="0" err="1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Pembimbing</a:t>
            </a:r>
            <a:r>
              <a:rPr lang="en-US" sz="3251" b="1" dirty="0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: </a:t>
            </a:r>
            <a:r>
              <a:rPr lang="en-US" sz="3251" b="1" dirty="0" err="1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Bpk</a:t>
            </a:r>
            <a:r>
              <a:rPr lang="en-US" sz="3251" b="1" dirty="0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 Dary Putra Utama </a:t>
            </a:r>
            <a:r>
              <a:rPr lang="en-US" sz="3251" b="1" dirty="0" err="1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S.Si</a:t>
            </a:r>
            <a:endParaRPr lang="en-US" sz="3251" b="1" dirty="0">
              <a:solidFill>
                <a:srgbClr val="30444F"/>
              </a:solidFill>
              <a:latin typeface="Atkinson Hyperlegible Bold"/>
              <a:ea typeface="Atkinson Hyperlegible Bold"/>
              <a:cs typeface="Atkinson Hyperlegible Bold"/>
              <a:sym typeface="Atkinson Hyperlegible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7888" b="-27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355684" y="1104900"/>
            <a:ext cx="6903616" cy="8229600"/>
            <a:chOff x="0" y="0"/>
            <a:chExt cx="1069551" cy="12749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69551" cy="1274980"/>
            </a:xfrm>
            <a:custGeom>
              <a:avLst/>
              <a:gdLst/>
              <a:ahLst/>
              <a:cxnLst/>
              <a:rect l="l" t="t" r="r" b="b"/>
              <a:pathLst>
                <a:path w="1069551" h="1274980">
                  <a:moveTo>
                    <a:pt x="25793" y="0"/>
                  </a:moveTo>
                  <a:lnTo>
                    <a:pt x="1043758" y="0"/>
                  </a:lnTo>
                  <a:cubicBezTo>
                    <a:pt x="1058003" y="0"/>
                    <a:pt x="1069551" y="11548"/>
                    <a:pt x="1069551" y="25793"/>
                  </a:cubicBezTo>
                  <a:lnTo>
                    <a:pt x="1069551" y="1249188"/>
                  </a:lnTo>
                  <a:cubicBezTo>
                    <a:pt x="1069551" y="1256028"/>
                    <a:pt x="1066833" y="1262589"/>
                    <a:pt x="1061996" y="1267426"/>
                  </a:cubicBezTo>
                  <a:cubicBezTo>
                    <a:pt x="1057159" y="1272263"/>
                    <a:pt x="1050599" y="1274980"/>
                    <a:pt x="1043758" y="1274980"/>
                  </a:cubicBezTo>
                  <a:lnTo>
                    <a:pt x="25793" y="1274980"/>
                  </a:lnTo>
                  <a:cubicBezTo>
                    <a:pt x="11548" y="1274980"/>
                    <a:pt x="0" y="1263433"/>
                    <a:pt x="0" y="1249188"/>
                  </a:cubicBezTo>
                  <a:lnTo>
                    <a:pt x="0" y="25793"/>
                  </a:lnTo>
                  <a:cubicBezTo>
                    <a:pt x="0" y="11548"/>
                    <a:pt x="11548" y="0"/>
                    <a:pt x="25793" y="0"/>
                  </a:cubicBezTo>
                  <a:close/>
                </a:path>
              </a:pathLst>
            </a:custGeom>
            <a:blipFill>
              <a:blip r:embed="rId3"/>
              <a:stretch>
                <a:fillRect l="-58662" r="-53260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5359011" y="-1424088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0" y="0"/>
                </a:moveTo>
                <a:lnTo>
                  <a:pt x="3800578" y="0"/>
                </a:lnTo>
                <a:lnTo>
                  <a:pt x="38005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461468" y="7200900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0" y="0"/>
                </a:moveTo>
                <a:lnTo>
                  <a:pt x="3800579" y="0"/>
                </a:lnTo>
                <a:lnTo>
                  <a:pt x="38005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31419" y="1409700"/>
            <a:ext cx="7723467" cy="2984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91"/>
              </a:lnSpc>
            </a:pPr>
            <a:r>
              <a:rPr lang="en-US" sz="7639" b="1" dirty="0" err="1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Mengapa</a:t>
            </a:r>
            <a:r>
              <a:rPr lang="en-US" sz="7639" b="1" dirty="0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 </a:t>
            </a:r>
            <a:r>
              <a:rPr lang="en-US" sz="7639" b="1" dirty="0" err="1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sistem</a:t>
            </a:r>
            <a:r>
              <a:rPr lang="en-US" sz="7639" b="1" dirty="0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 </a:t>
            </a:r>
            <a:r>
              <a:rPr lang="en-US" sz="7639" b="1" dirty="0" err="1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ini</a:t>
            </a:r>
            <a:r>
              <a:rPr lang="en-US" sz="7639" b="1" dirty="0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 </a:t>
            </a:r>
            <a:r>
              <a:rPr lang="en-US" sz="7639" b="1" dirty="0" err="1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dibuat</a:t>
            </a:r>
            <a:r>
              <a:rPr lang="en-US" sz="7639" b="1" dirty="0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?</a:t>
            </a:r>
          </a:p>
          <a:p>
            <a:pPr algn="l">
              <a:lnSpc>
                <a:spcPts val="7791"/>
              </a:lnSpc>
            </a:pPr>
            <a:endParaRPr lang="en-US" sz="7639" b="1" dirty="0">
              <a:solidFill>
                <a:srgbClr val="30444F"/>
              </a:solidFill>
              <a:latin typeface="Atkinson Hyperlegible Bold"/>
              <a:ea typeface="Atkinson Hyperlegible Bold"/>
              <a:cs typeface="Atkinson Hyperlegible Bold"/>
              <a:sym typeface="Atkinson Hyperlegible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36862" y="3924300"/>
            <a:ext cx="6968086" cy="4372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3079"/>
              </a:lnSpc>
              <a:buAutoNum type="arabicPeriod"/>
            </a:pPr>
            <a:r>
              <a:rPr lang="en-US" sz="2800" b="1" dirty="0" err="1">
                <a:solidFill>
                  <a:srgbClr val="30444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Fenomena</a:t>
            </a:r>
            <a:r>
              <a:rPr lang="en-US" sz="2800" b="1" dirty="0">
                <a:solidFill>
                  <a:srgbClr val="30444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: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Erupsi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efusif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mengeluarkan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lava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secara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terus-menerus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.</a:t>
            </a:r>
          </a:p>
          <a:p>
            <a:pPr marL="474978" lvl="1" indent="-237489" algn="l">
              <a:lnSpc>
                <a:spcPts val="3079"/>
              </a:lnSpc>
              <a:buAutoNum type="arabicPeriod"/>
            </a:pPr>
            <a:r>
              <a:rPr lang="en-US" sz="2800" b="1" dirty="0" err="1">
                <a:solidFill>
                  <a:srgbClr val="30444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Tantangan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: Sulit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diukur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langsung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dan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observasi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lapangan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berisiko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dan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sulit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.</a:t>
            </a:r>
          </a:p>
          <a:p>
            <a:pPr marL="474978" lvl="1" indent="-237489" algn="l">
              <a:lnSpc>
                <a:spcPts val="3079"/>
              </a:lnSpc>
              <a:buAutoNum type="arabicPeriod"/>
            </a:pPr>
            <a:r>
              <a:rPr lang="en-US" sz="2800" b="1" dirty="0" err="1">
                <a:solidFill>
                  <a:srgbClr val="30444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Kebutuhan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: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Dibutuhkan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tool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pengindraan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jauh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untuk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estimasi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volume lava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dari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waktu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ke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waktu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.</a:t>
            </a:r>
          </a:p>
          <a:p>
            <a:pPr marL="474978" lvl="1" indent="-237489" algn="l">
              <a:lnSpc>
                <a:spcPts val="3079"/>
              </a:lnSpc>
              <a:buAutoNum type="arabicPeriod"/>
            </a:pPr>
            <a:r>
              <a:rPr lang="en-US" sz="2800" b="1" dirty="0" err="1">
                <a:solidFill>
                  <a:srgbClr val="30444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Kontribusi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: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Mengetahui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perkembangan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volume lava →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dasar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estimasi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potensi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bahaya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gunung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api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7888" b="-27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459987" y="2372165"/>
            <a:ext cx="13368026" cy="102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1"/>
              </a:lnSpc>
            </a:pPr>
            <a:r>
              <a:rPr lang="en-US" sz="7639" b="1" dirty="0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Tujuan yang </a:t>
            </a:r>
            <a:r>
              <a:rPr lang="en-US" sz="7639" b="1" dirty="0" err="1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ingin</a:t>
            </a:r>
            <a:r>
              <a:rPr lang="en-US" sz="7639" b="1" dirty="0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 </a:t>
            </a:r>
            <a:r>
              <a:rPr lang="en-US" sz="7639" b="1" dirty="0" err="1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dicapai</a:t>
            </a:r>
            <a:endParaRPr lang="en-US" sz="7639" b="1" dirty="0">
              <a:solidFill>
                <a:srgbClr val="30444F"/>
              </a:solidFill>
              <a:latin typeface="Atkinson Hyperlegible Bold"/>
              <a:ea typeface="Atkinson Hyperlegible Bold"/>
              <a:cs typeface="Atkinson Hyperlegible Bold"/>
              <a:sym typeface="Atkinson Hyperlegible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977514" y="4266972"/>
            <a:ext cx="12322087" cy="1734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just">
              <a:lnSpc>
                <a:spcPts val="2659"/>
              </a:lnSpc>
              <a:buFont typeface="Arial"/>
              <a:buChar char="•"/>
            </a:pPr>
            <a:r>
              <a:rPr lang="en-US" sz="2800" b="1" dirty="0" err="1">
                <a:solidFill>
                  <a:srgbClr val="30444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Membangun</a:t>
            </a:r>
            <a:r>
              <a:rPr lang="en-US" sz="2800" b="1" dirty="0">
                <a:solidFill>
                  <a:srgbClr val="30444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2800" b="1" dirty="0" err="1">
                <a:solidFill>
                  <a:srgbClr val="30444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Pengambilan</a:t>
            </a:r>
            <a:r>
              <a:rPr lang="en-US" sz="2800" b="1" dirty="0">
                <a:solidFill>
                  <a:srgbClr val="30444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Data </a:t>
            </a:r>
            <a:r>
              <a:rPr lang="en-US" sz="2800" b="1" dirty="0" err="1">
                <a:solidFill>
                  <a:srgbClr val="30444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Otomatis</a:t>
            </a:r>
            <a:endParaRPr lang="en-US" sz="2800" b="1" dirty="0">
              <a:solidFill>
                <a:srgbClr val="30444F"/>
              </a:solidFill>
              <a:latin typeface="Be Vietnam Ultra-Bold"/>
              <a:ea typeface="Be Vietnam Ultra-Bold"/>
              <a:cs typeface="Be Vietnam Ultra-Bold"/>
              <a:sym typeface="Be Vietnam Ultra-Bold"/>
            </a:endParaRPr>
          </a:p>
          <a:p>
            <a:pPr marL="205104" lvl="1" algn="just">
              <a:lnSpc>
                <a:spcPts val="2659"/>
              </a:lnSpc>
            </a:pPr>
            <a:endParaRPr lang="en-US" sz="2800" b="1" dirty="0">
              <a:solidFill>
                <a:srgbClr val="30444F"/>
              </a:solidFill>
              <a:latin typeface="Be Vietnam Ultra-Bold"/>
              <a:ea typeface="Be Vietnam Ultra-Bold"/>
              <a:cs typeface="Be Vietnam Ultra-Bold"/>
              <a:sym typeface="Be Vietnam Ultra-Bold"/>
            </a:endParaRPr>
          </a:p>
          <a:p>
            <a:pPr algn="just">
              <a:lnSpc>
                <a:spcPts val="2659"/>
              </a:lnSpc>
            </a:pP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Menggunakan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scheduler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secara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berkala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untuk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mengambil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data hotspot MODIS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dari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MODVOLC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secara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otomatis</a:t>
            </a:r>
            <a:endParaRPr lang="en-US" sz="2800" dirty="0">
              <a:solidFill>
                <a:srgbClr val="30444F"/>
              </a:solidFill>
              <a:latin typeface="Be Vietnam"/>
              <a:ea typeface="Be Vietnam"/>
              <a:cs typeface="Be Vietnam"/>
              <a:sym typeface="Be Vietnam"/>
            </a:endParaRPr>
          </a:p>
          <a:p>
            <a:pPr algn="just">
              <a:lnSpc>
                <a:spcPts val="2659"/>
              </a:lnSpc>
            </a:pPr>
            <a:endParaRPr lang="en-US" sz="2800" dirty="0">
              <a:solidFill>
                <a:srgbClr val="30444F"/>
              </a:solidFill>
              <a:latin typeface="Be Vietnam"/>
              <a:ea typeface="Be Vietnam"/>
              <a:cs typeface="Be Vietnam"/>
              <a:sym typeface="Be Vietnam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982957" y="6238240"/>
            <a:ext cx="12322087" cy="1734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just">
              <a:lnSpc>
                <a:spcPts val="2659"/>
              </a:lnSpc>
              <a:buFont typeface="Arial"/>
              <a:buChar char="•"/>
            </a:pPr>
            <a:r>
              <a:rPr lang="en-US" sz="2800" b="1" dirty="0" err="1">
                <a:solidFill>
                  <a:srgbClr val="30444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MenerapkanAlgoritma</a:t>
            </a:r>
            <a:r>
              <a:rPr lang="en-US" sz="2800" b="1" dirty="0">
                <a:solidFill>
                  <a:srgbClr val="30444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Harris (2007)</a:t>
            </a:r>
          </a:p>
          <a:p>
            <a:pPr marL="410209" lvl="1" indent="-205105" algn="just">
              <a:lnSpc>
                <a:spcPts val="2659"/>
              </a:lnSpc>
              <a:buFont typeface="Arial"/>
              <a:buChar char="•"/>
            </a:pPr>
            <a:endParaRPr lang="en-US" sz="2800" b="1" dirty="0">
              <a:solidFill>
                <a:srgbClr val="30444F"/>
              </a:solidFill>
              <a:latin typeface="Be Vietnam Ultra-Bold"/>
              <a:ea typeface="Be Vietnam Ultra-Bold"/>
              <a:cs typeface="Be Vietnam Ultra-Bold"/>
              <a:sym typeface="Be Vietnam Ultra-Bold"/>
            </a:endParaRPr>
          </a:p>
          <a:p>
            <a:pPr algn="just">
              <a:lnSpc>
                <a:spcPts val="2659"/>
              </a:lnSpc>
            </a:pP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Menghitung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Spectral Radiance Band 21, Radiant Heat Flux, Effusion Rate (Cold/Hot), dan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Kumulatif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Volume Lava.</a:t>
            </a:r>
          </a:p>
          <a:p>
            <a:pPr algn="just">
              <a:lnSpc>
                <a:spcPts val="2659"/>
              </a:lnSpc>
            </a:pPr>
            <a:endParaRPr lang="en-US" sz="2800" dirty="0">
              <a:solidFill>
                <a:srgbClr val="30444F"/>
              </a:solidFill>
              <a:latin typeface="Be Vietnam"/>
              <a:ea typeface="Be Vietnam"/>
              <a:cs typeface="Be Vietnam"/>
              <a:sym typeface="Be Vietnam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977514" y="8187737"/>
            <a:ext cx="12322087" cy="1387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just">
              <a:lnSpc>
                <a:spcPts val="2659"/>
              </a:lnSpc>
              <a:buFont typeface="Arial"/>
              <a:buChar char="•"/>
            </a:pPr>
            <a:r>
              <a:rPr lang="en-US" sz="2800" b="1" dirty="0">
                <a:solidFill>
                  <a:srgbClr val="30444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2800" b="1" dirty="0" err="1">
                <a:solidFill>
                  <a:srgbClr val="30444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Menyediakan</a:t>
            </a:r>
            <a:r>
              <a:rPr lang="en-US" sz="2800" b="1" dirty="0">
                <a:solidFill>
                  <a:srgbClr val="30444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Dashboard </a:t>
            </a:r>
            <a:r>
              <a:rPr lang="en-US" sz="2800" b="1" dirty="0" err="1">
                <a:solidFill>
                  <a:srgbClr val="30444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Interaktif</a:t>
            </a:r>
            <a:endParaRPr lang="en-US" sz="2800" b="1" dirty="0">
              <a:solidFill>
                <a:srgbClr val="30444F"/>
              </a:solidFill>
              <a:latin typeface="Be Vietnam Ultra-Bold"/>
              <a:ea typeface="Be Vietnam Ultra-Bold"/>
              <a:cs typeface="Be Vietnam Ultra-Bold"/>
              <a:sym typeface="Be Vietnam Ultra-Bold"/>
            </a:endParaRPr>
          </a:p>
          <a:p>
            <a:pPr algn="just">
              <a:lnSpc>
                <a:spcPts val="2659"/>
              </a:lnSpc>
            </a:pP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Menyajikan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data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pemantauan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dalambentuk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grafiktren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,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tabel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temporal, dan visual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indikator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status collector.</a:t>
            </a:r>
          </a:p>
          <a:p>
            <a:pPr algn="just">
              <a:lnSpc>
                <a:spcPts val="2659"/>
              </a:lnSpc>
            </a:pPr>
            <a:endParaRPr lang="en-US" sz="2800" dirty="0">
              <a:solidFill>
                <a:srgbClr val="30444F"/>
              </a:solidFill>
              <a:latin typeface="Be Vietnam"/>
              <a:ea typeface="Be Vietnam"/>
              <a:cs typeface="Be Vietnam"/>
              <a:sym typeface="Be Vietnam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-2156277" y="0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0" y="0"/>
                </a:moveTo>
                <a:lnTo>
                  <a:pt x="3800579" y="0"/>
                </a:lnTo>
                <a:lnTo>
                  <a:pt x="38005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643698" y="0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0" y="0"/>
                </a:moveTo>
                <a:lnTo>
                  <a:pt x="3800579" y="0"/>
                </a:lnTo>
                <a:lnTo>
                  <a:pt x="38005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088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7888" b="-27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378507" y="900096"/>
            <a:ext cx="7333517" cy="2003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91"/>
              </a:lnSpc>
            </a:pPr>
            <a:r>
              <a:rPr lang="en-US" sz="7639" b="1" dirty="0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MODVOLC</a:t>
            </a:r>
          </a:p>
          <a:p>
            <a:pPr algn="l">
              <a:lnSpc>
                <a:spcPts val="7791"/>
              </a:lnSpc>
            </a:pPr>
            <a:endParaRPr lang="en-US" sz="7639" b="1" dirty="0">
              <a:solidFill>
                <a:srgbClr val="30444F"/>
              </a:solidFill>
              <a:latin typeface="Atkinson Hyperlegible Bold"/>
              <a:ea typeface="Atkinson Hyperlegible Bold"/>
              <a:cs typeface="Atkinson Hyperlegible Bold"/>
              <a:sym typeface="Atkinson Hyperlegible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38200" y="4941488"/>
            <a:ext cx="17060114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24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Data </a:t>
            </a:r>
            <a:r>
              <a:rPr lang="en-US" sz="24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diperoleh</a:t>
            </a:r>
            <a:r>
              <a:rPr lang="en-US" sz="24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4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dari</a:t>
            </a:r>
            <a:r>
              <a:rPr lang="en-US" sz="24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4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sistem</a:t>
            </a:r>
            <a:r>
              <a:rPr lang="en-US" sz="24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4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pemantauan</a:t>
            </a:r>
            <a:r>
              <a:rPr lang="en-US" sz="24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MODVOLC (Hawaii Institute of Geophysics and Planetology - HIGP) yang </a:t>
            </a:r>
            <a:r>
              <a:rPr lang="en-US" sz="24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memanfaatkan</a:t>
            </a:r>
            <a:r>
              <a:rPr lang="en-US" sz="24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data </a:t>
            </a:r>
            <a:r>
              <a:rPr lang="en-US" sz="24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termal</a:t>
            </a:r>
            <a:r>
              <a:rPr lang="en-US" sz="24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MODIS </a:t>
            </a:r>
            <a:r>
              <a:rPr lang="en-US" sz="24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dari</a:t>
            </a:r>
            <a:r>
              <a:rPr lang="en-US" sz="24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4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satelit</a:t>
            </a:r>
            <a:r>
              <a:rPr lang="en-US" sz="24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Terra dan Aqua </a:t>
            </a:r>
            <a:r>
              <a:rPr lang="en-US" sz="24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untuk</a:t>
            </a:r>
            <a:r>
              <a:rPr lang="en-US" sz="24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4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mendeteksi</a:t>
            </a:r>
            <a:r>
              <a:rPr lang="en-US" sz="24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hotspot </a:t>
            </a:r>
            <a:r>
              <a:rPr lang="en-US" sz="24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gunungapi</a:t>
            </a:r>
            <a:r>
              <a:rPr lang="en-US" sz="24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.</a:t>
            </a:r>
          </a:p>
        </p:txBody>
      </p:sp>
      <p:sp>
        <p:nvSpPr>
          <p:cNvPr id="7" name="Freeform 7"/>
          <p:cNvSpPr/>
          <p:nvPr/>
        </p:nvSpPr>
        <p:spPr>
          <a:xfrm>
            <a:off x="15359011" y="-1537270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0" y="0"/>
                </a:moveTo>
                <a:lnTo>
                  <a:pt x="3800578" y="0"/>
                </a:lnTo>
                <a:lnTo>
                  <a:pt x="38005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003326" y="8670103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0" y="0"/>
                </a:moveTo>
                <a:lnTo>
                  <a:pt x="3800579" y="0"/>
                </a:lnTo>
                <a:lnTo>
                  <a:pt x="38005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81605" y="363285"/>
            <a:ext cx="8449514" cy="313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1899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DATA YANG DIGUNAKAN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F343CCD8-0EB0-B894-7C36-4B82C1E894D5}"/>
              </a:ext>
            </a:extLst>
          </p:cNvPr>
          <p:cNvSpPr txBox="1"/>
          <p:nvPr/>
        </p:nvSpPr>
        <p:spPr>
          <a:xfrm>
            <a:off x="9144000" y="6242068"/>
            <a:ext cx="8449514" cy="346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2800" b="1" dirty="0" err="1">
                <a:solidFill>
                  <a:srgbClr val="30444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Karakteristik</a:t>
            </a:r>
            <a:r>
              <a:rPr lang="en-US" sz="2800" b="1" dirty="0">
                <a:solidFill>
                  <a:srgbClr val="30444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2800" b="1" dirty="0" err="1">
                <a:solidFill>
                  <a:srgbClr val="30444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pengamatan</a:t>
            </a:r>
            <a:r>
              <a:rPr lang="en-US" sz="2800" b="1" dirty="0">
                <a:solidFill>
                  <a:srgbClr val="30444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:</a:t>
            </a:r>
          </a:p>
          <a:p>
            <a:pPr algn="just">
              <a:lnSpc>
                <a:spcPts val="2659"/>
              </a:lnSpc>
            </a:pPr>
            <a:endParaRPr lang="en-US" sz="2800" b="1" dirty="0">
              <a:solidFill>
                <a:srgbClr val="30444F"/>
              </a:solidFill>
              <a:latin typeface="Be Vietnam Ultra-Bold"/>
              <a:ea typeface="Be Vietnam Ultra-Bold"/>
              <a:cs typeface="Be Vietnam Ultra-Bold"/>
              <a:sym typeface="Be Vietnam Ultra-Bold"/>
            </a:endParaRPr>
          </a:p>
          <a:p>
            <a:pPr marL="457200" indent="-457200" algn="just">
              <a:lnSpc>
                <a:spcPts val="2659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Satelit</a:t>
            </a: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: Terra dan Aqua </a:t>
            </a:r>
          </a:p>
          <a:p>
            <a:pPr marL="457200" indent="-457200" algn="just">
              <a:lnSpc>
                <a:spcPts val="265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 Waktu </a:t>
            </a:r>
            <a:r>
              <a:rPr lang="en-US" sz="2400" dirty="0" err="1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pengamatan</a:t>
            </a: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: </a:t>
            </a:r>
            <a:r>
              <a:rPr lang="en-US" sz="2400" dirty="0" err="1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siang</a:t>
            </a: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 dan </a:t>
            </a:r>
            <a:r>
              <a:rPr lang="en-US" sz="2400" dirty="0" err="1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malam</a:t>
            </a: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, </a:t>
            </a:r>
            <a:r>
              <a:rPr lang="en-US" sz="2400" dirty="0" err="1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mengikuti</a:t>
            </a: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2400" dirty="0" err="1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waktu</a:t>
            </a: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2400" dirty="0" err="1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lintasan</a:t>
            </a: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2400" dirty="0" err="1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satelit</a:t>
            </a: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 </a:t>
            </a:r>
          </a:p>
          <a:p>
            <a:pPr marL="457200" indent="-457200" algn="just">
              <a:lnSpc>
                <a:spcPts val="265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Return period: </a:t>
            </a:r>
            <a:r>
              <a:rPr lang="en-US" sz="2400" dirty="0" err="1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sekitar</a:t>
            </a: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 12 jam </a:t>
            </a:r>
          </a:p>
          <a:p>
            <a:pPr marL="457200" indent="-457200" algn="just">
              <a:lnSpc>
                <a:spcPts val="2659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Potensi</a:t>
            </a: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2400" dirty="0" err="1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pengamatan</a:t>
            </a: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: </a:t>
            </a:r>
            <a:r>
              <a:rPr lang="en-US" sz="2400" dirty="0" err="1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hingga</a:t>
            </a: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 ±4 </a:t>
            </a:r>
            <a:r>
              <a:rPr lang="en-US" sz="2400" dirty="0" err="1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kesempatan</a:t>
            </a: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/</a:t>
            </a:r>
            <a:r>
              <a:rPr lang="en-US" sz="2400" dirty="0" err="1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hari</a:t>
            </a: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2400" dirty="0" err="1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dari</a:t>
            </a: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 Terra + Aqua </a:t>
            </a:r>
            <a:r>
              <a:rPr lang="en-US" sz="2400" dirty="0" err="1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secara</a:t>
            </a: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2400" dirty="0" err="1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teoritis</a:t>
            </a: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 </a:t>
            </a:r>
          </a:p>
          <a:p>
            <a:pPr marL="457200" indent="-457200" algn="just">
              <a:lnSpc>
                <a:spcPts val="265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Data </a:t>
            </a:r>
            <a:r>
              <a:rPr lang="en-US" sz="2400" dirty="0" err="1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aktualtidak</a:t>
            </a: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2400" dirty="0" err="1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selalu</a:t>
            </a: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2400" dirty="0" err="1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tersedia</a:t>
            </a: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 pada </a:t>
            </a:r>
            <a:r>
              <a:rPr lang="en-US" sz="2400" dirty="0" err="1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setiap</a:t>
            </a: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2400" dirty="0" err="1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lintasan</a:t>
            </a: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2400" dirty="0" err="1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karena</a:t>
            </a: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2400" dirty="0" err="1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tutupan</a:t>
            </a: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2400" dirty="0" err="1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awan</a:t>
            </a: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 dan </a:t>
            </a:r>
            <a:r>
              <a:rPr lang="en-US" sz="2400" dirty="0" err="1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kondisi</a:t>
            </a: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2400" dirty="0" err="1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deteksi</a:t>
            </a:r>
            <a:endParaRPr lang="en-US" sz="2400" dirty="0">
              <a:solidFill>
                <a:srgbClr val="30444F"/>
              </a:solidFill>
              <a:latin typeface="Be Vietnam" panose="020B0604020202020204" charset="0"/>
              <a:ea typeface="Be Vietnam Ultra-Bold"/>
              <a:cs typeface="Be Vietnam Ultra-Bold"/>
              <a:sym typeface="Be Vietnam Ultra-Bold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D0CF57B5-D32B-CAAA-3E94-EF2A9D5CD085}"/>
              </a:ext>
            </a:extLst>
          </p:cNvPr>
          <p:cNvSpPr txBox="1"/>
          <p:nvPr/>
        </p:nvSpPr>
        <p:spPr>
          <a:xfrm>
            <a:off x="694486" y="6415192"/>
            <a:ext cx="8449514" cy="3116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2800" b="1" dirty="0">
                <a:solidFill>
                  <a:srgbClr val="30444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Data yang </a:t>
            </a:r>
            <a:r>
              <a:rPr lang="en-US" sz="2800" b="1" dirty="0" err="1">
                <a:solidFill>
                  <a:srgbClr val="30444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Digunakan</a:t>
            </a:r>
            <a:endParaRPr lang="en-US" sz="2800" b="1" dirty="0">
              <a:solidFill>
                <a:srgbClr val="30444F"/>
              </a:solidFill>
              <a:latin typeface="Be Vietnam Ultra-Bold"/>
              <a:ea typeface="Be Vietnam Ultra-Bold"/>
              <a:cs typeface="Be Vietnam Ultra-Bold"/>
              <a:sym typeface="Be Vietnam Ultra-Bold"/>
            </a:endParaRPr>
          </a:p>
          <a:p>
            <a:pPr algn="just">
              <a:lnSpc>
                <a:spcPts val="2659"/>
              </a:lnSpc>
            </a:pPr>
            <a:endParaRPr lang="en-US" sz="2800" b="1" dirty="0">
              <a:solidFill>
                <a:srgbClr val="30444F"/>
              </a:solidFill>
              <a:latin typeface="Be Vietnam Ultra-Bold"/>
              <a:ea typeface="Be Vietnam Ultra-Bold"/>
              <a:cs typeface="Be Vietnam Ultra-Bold"/>
              <a:sym typeface="Be Vietnam Ultra-Bold"/>
            </a:endParaRPr>
          </a:p>
          <a:p>
            <a:pPr marL="457200" indent="-457200" algn="just">
              <a:lnSpc>
                <a:spcPts val="265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Waktu </a:t>
            </a:r>
            <a:r>
              <a:rPr lang="en-US" sz="2400" dirty="0" err="1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pengamatan</a:t>
            </a: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: </a:t>
            </a:r>
            <a:r>
              <a:rPr lang="en-US" sz="2400" dirty="0" err="1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UNIX_Time</a:t>
            </a: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 / datetime </a:t>
            </a:r>
          </a:p>
          <a:p>
            <a:pPr marL="457200" indent="-457200" algn="just">
              <a:lnSpc>
                <a:spcPts val="2659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Satelit</a:t>
            </a: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 </a:t>
            </a:r>
          </a:p>
          <a:p>
            <a:pPr marL="457200" indent="-457200" algn="just">
              <a:lnSpc>
                <a:spcPts val="265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Longitude &amp; Latitude </a:t>
            </a:r>
          </a:p>
          <a:p>
            <a:pPr marL="457200" indent="-457200" algn="just">
              <a:lnSpc>
                <a:spcPts val="265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B21, B22, B6, B31, B32 </a:t>
            </a:r>
          </a:p>
          <a:p>
            <a:pPr marL="457200" indent="-457200" algn="just">
              <a:lnSpc>
                <a:spcPts val="265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Sat/Sun Zenith &amp; Azimuth </a:t>
            </a:r>
          </a:p>
          <a:p>
            <a:pPr marL="457200" indent="-457200" algn="just">
              <a:lnSpc>
                <a:spcPts val="265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NTI, Glint, Excess, Temperature </a:t>
            </a:r>
          </a:p>
          <a:p>
            <a:pPr marL="457200" indent="-457200" algn="just">
              <a:lnSpc>
                <a:spcPts val="265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Area </a:t>
            </a:r>
            <a:r>
              <a:rPr lang="en-US" sz="2400" dirty="0" err="1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pengamatan</a:t>
            </a: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: </a:t>
            </a:r>
            <a:r>
              <a:rPr lang="en-US" sz="2400" dirty="0" err="1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Gunung</a:t>
            </a: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 Ibu &amp; </a:t>
            </a:r>
            <a:r>
              <a:rPr lang="en-US" sz="2400" dirty="0" err="1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Gunung</a:t>
            </a:r>
            <a:r>
              <a:rPr lang="en-US" sz="2400" dirty="0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2400" dirty="0" err="1">
                <a:solidFill>
                  <a:srgbClr val="30444F"/>
                </a:solidFill>
                <a:latin typeface="Be Vietnam" panose="020B0604020202020204" charset="0"/>
                <a:ea typeface="Be Vietnam Ultra-Bold"/>
                <a:cs typeface="Be Vietnam Ultra-Bold"/>
                <a:sym typeface="Be Vietnam Ultra-Bold"/>
              </a:rPr>
              <a:t>Lewotolok</a:t>
            </a:r>
            <a:endParaRPr lang="en-US" sz="2400" dirty="0">
              <a:solidFill>
                <a:srgbClr val="30444F"/>
              </a:solidFill>
              <a:latin typeface="Be Vietnam" panose="020B0604020202020204" charset="0"/>
              <a:ea typeface="Be Vietnam Ultra-Bold"/>
              <a:cs typeface="Be Vietnam Ultra-Bold"/>
              <a:sym typeface="Be Vietnam Ultra-Bold"/>
            </a:endParaRPr>
          </a:p>
        </p:txBody>
      </p:sp>
      <p:pic>
        <p:nvPicPr>
          <p:cNvPr id="16" name="Picture 15" descr="MODVOLC">
            <a:extLst>
              <a:ext uri="{FF2B5EF4-FFF2-40B4-BE49-F238E27FC236}">
                <a16:creationId xmlns:a16="http://schemas.microsoft.com/office/drawing/2014/main" id="{04690E0D-64F3-7CFE-EB7E-5266E14F3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1603" y="2104971"/>
            <a:ext cx="15185879" cy="2298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7888" b="-27888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7243711" y="8229600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3800578" y="0"/>
                </a:moveTo>
                <a:lnTo>
                  <a:pt x="0" y="0"/>
                </a:lnTo>
                <a:lnTo>
                  <a:pt x="0" y="4114800"/>
                </a:lnTo>
                <a:lnTo>
                  <a:pt x="3800578" y="4114800"/>
                </a:lnTo>
                <a:lnTo>
                  <a:pt x="380057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3114341" y="290059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3800579" y="0"/>
                </a:moveTo>
                <a:lnTo>
                  <a:pt x="0" y="0"/>
                </a:lnTo>
                <a:lnTo>
                  <a:pt x="0" y="4114800"/>
                </a:lnTo>
                <a:lnTo>
                  <a:pt x="3800579" y="4114800"/>
                </a:lnTo>
                <a:lnTo>
                  <a:pt x="380057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7259300" y="290059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3800579" y="0"/>
                </a:moveTo>
                <a:lnTo>
                  <a:pt x="0" y="0"/>
                </a:lnTo>
                <a:lnTo>
                  <a:pt x="0" y="4114800"/>
                </a:lnTo>
                <a:lnTo>
                  <a:pt x="3800579" y="4114800"/>
                </a:lnTo>
                <a:lnTo>
                  <a:pt x="380057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519953" y="2137414"/>
            <a:ext cx="11248093" cy="7498729"/>
          </a:xfrm>
          <a:custGeom>
            <a:avLst/>
            <a:gdLst/>
            <a:ahLst/>
            <a:cxnLst/>
            <a:rect l="l" t="t" r="r" b="b"/>
            <a:pathLst>
              <a:path w="11248093" h="7498729">
                <a:moveTo>
                  <a:pt x="0" y="0"/>
                </a:moveTo>
                <a:lnTo>
                  <a:pt x="11248094" y="0"/>
                </a:lnTo>
                <a:lnTo>
                  <a:pt x="11248094" y="7498729"/>
                </a:lnTo>
                <a:lnTo>
                  <a:pt x="0" y="74987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933551" y="800256"/>
            <a:ext cx="12420898" cy="2295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14"/>
              </a:lnSpc>
            </a:pPr>
            <a:r>
              <a:rPr lang="en-US" sz="7639" b="1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Teknologi yang digunakan</a:t>
            </a:r>
          </a:p>
          <a:p>
            <a:pPr algn="ctr">
              <a:lnSpc>
                <a:spcPts val="9014"/>
              </a:lnSpc>
            </a:pPr>
            <a:endParaRPr lang="en-US" sz="7639" b="1">
              <a:solidFill>
                <a:srgbClr val="30444F"/>
              </a:solidFill>
              <a:latin typeface="Atkinson Hyperlegible Bold"/>
              <a:ea typeface="Atkinson Hyperlegible Bold"/>
              <a:cs typeface="Atkinson Hyperlegible Bold"/>
              <a:sym typeface="Atkinson Hyperlegible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7888" b="-27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156277" y="0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0" y="0"/>
                </a:moveTo>
                <a:lnTo>
                  <a:pt x="3800579" y="0"/>
                </a:lnTo>
                <a:lnTo>
                  <a:pt x="38005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643698" y="0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0" y="0"/>
                </a:moveTo>
                <a:lnTo>
                  <a:pt x="3800579" y="0"/>
                </a:lnTo>
                <a:lnTo>
                  <a:pt x="38005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459987" y="1606552"/>
            <a:ext cx="13368025" cy="8224991"/>
          </a:xfrm>
          <a:custGeom>
            <a:avLst/>
            <a:gdLst/>
            <a:ahLst/>
            <a:cxnLst/>
            <a:rect l="l" t="t" r="r" b="b"/>
            <a:pathLst>
              <a:path w="12960723" h="7989007">
                <a:moveTo>
                  <a:pt x="0" y="0"/>
                </a:moveTo>
                <a:lnTo>
                  <a:pt x="12960724" y="0"/>
                </a:lnTo>
                <a:lnTo>
                  <a:pt x="12960724" y="7989007"/>
                </a:lnTo>
                <a:lnTo>
                  <a:pt x="0" y="79890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1089" b="-10584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459987" y="584198"/>
            <a:ext cx="13368026" cy="102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1"/>
              </a:lnSpc>
            </a:pPr>
            <a:r>
              <a:rPr lang="en-US" sz="7639" b="1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Arsitektur Sistem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7888" b="-27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156277" y="0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0" y="0"/>
                </a:moveTo>
                <a:lnTo>
                  <a:pt x="3800579" y="0"/>
                </a:lnTo>
                <a:lnTo>
                  <a:pt x="38005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643698" y="0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0" y="0"/>
                </a:moveTo>
                <a:lnTo>
                  <a:pt x="3800579" y="0"/>
                </a:lnTo>
                <a:lnTo>
                  <a:pt x="38005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5C082-4523-1F81-D31D-63FFE1ADB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D4D7DC85-C38F-E108-F42C-354ABA424161}"/>
              </a:ext>
            </a:extLst>
          </p:cNvPr>
          <p:cNvSpPr/>
          <p:nvPr/>
        </p:nvSpPr>
        <p:spPr>
          <a:xfrm>
            <a:off x="-2156277" y="0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0" y="0"/>
                </a:moveTo>
                <a:lnTo>
                  <a:pt x="3800579" y="0"/>
                </a:lnTo>
                <a:lnTo>
                  <a:pt x="38005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A5AF0AC-91D2-ED8E-AF97-86D3389CDF24}"/>
              </a:ext>
            </a:extLst>
          </p:cNvPr>
          <p:cNvSpPr/>
          <p:nvPr/>
        </p:nvSpPr>
        <p:spPr>
          <a:xfrm>
            <a:off x="16643698" y="0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0" y="0"/>
                </a:moveTo>
                <a:lnTo>
                  <a:pt x="3800579" y="0"/>
                </a:lnTo>
                <a:lnTo>
                  <a:pt x="38005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DA11CF2-5C76-A8CE-7628-FE3F6971B8E2}"/>
              </a:ext>
            </a:extLst>
          </p:cNvPr>
          <p:cNvSpPr txBox="1"/>
          <p:nvPr/>
        </p:nvSpPr>
        <p:spPr>
          <a:xfrm>
            <a:off x="1627973" y="723900"/>
            <a:ext cx="14506575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14"/>
              </a:lnSpc>
            </a:pPr>
            <a:r>
              <a:rPr lang="en-US" sz="7639" b="1" dirty="0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Metode Andrew J.L Harris &amp; Ripepe (2007)</a:t>
            </a: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6FCBEFB0-014E-3C8E-6E5D-1785B710020C}"/>
              </a:ext>
            </a:extLst>
          </p:cNvPr>
          <p:cNvSpPr/>
          <p:nvPr/>
        </p:nvSpPr>
        <p:spPr>
          <a:xfrm>
            <a:off x="825501" y="4381500"/>
            <a:ext cx="4541639" cy="2728912"/>
          </a:xfrm>
          <a:prstGeom prst="roundRect">
            <a:avLst>
              <a:gd name="adj" fmla="val 4404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Rounded Rectangle 4">
            <a:extLst>
              <a:ext uri="{FF2B5EF4-FFF2-40B4-BE49-F238E27FC236}">
                <a16:creationId xmlns:a16="http://schemas.microsoft.com/office/drawing/2014/main" id="{2182EBDB-0171-C3D7-C4F0-19C6C98A6688}"/>
              </a:ext>
            </a:extLst>
          </p:cNvPr>
          <p:cNvSpPr/>
          <p:nvPr/>
        </p:nvSpPr>
        <p:spPr>
          <a:xfrm>
            <a:off x="6138664" y="3238500"/>
            <a:ext cx="5301555" cy="5129213"/>
          </a:xfrm>
          <a:prstGeom prst="roundRect">
            <a:avLst>
              <a:gd name="adj" fmla="val 3899"/>
            </a:avLst>
          </a:prstGeom>
          <a:solidFill>
            <a:srgbClr val="F0FDF4"/>
          </a:solidFill>
          <a:ln w="1905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5" name="Rounded Rectangle 5">
            <a:extLst>
              <a:ext uri="{FF2B5EF4-FFF2-40B4-BE49-F238E27FC236}">
                <a16:creationId xmlns:a16="http://schemas.microsoft.com/office/drawing/2014/main" id="{887364C3-A73C-CEB9-EF7E-292779DE759F}"/>
              </a:ext>
            </a:extLst>
          </p:cNvPr>
          <p:cNvSpPr/>
          <p:nvPr/>
        </p:nvSpPr>
        <p:spPr>
          <a:xfrm>
            <a:off x="12211744" y="4076700"/>
            <a:ext cx="5301555" cy="2776537"/>
          </a:xfrm>
          <a:prstGeom prst="roundRect">
            <a:avLst>
              <a:gd name="adj" fmla="val 3899"/>
            </a:avLst>
          </a:prstGeom>
          <a:solidFill>
            <a:srgbClr val="FFFBEB"/>
          </a:solidFill>
          <a:ln w="1905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C2D6CA-C42A-8EC8-FACE-2ADC29DFE8A0}"/>
              </a:ext>
            </a:extLst>
          </p:cNvPr>
          <p:cNvSpPr/>
          <p:nvPr/>
        </p:nvSpPr>
        <p:spPr>
          <a:xfrm>
            <a:off x="1196976" y="7581900"/>
            <a:ext cx="3798689" cy="4143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7562A1-D523-ECA8-7206-C779853EE081}"/>
              </a:ext>
            </a:extLst>
          </p:cNvPr>
          <p:cNvSpPr/>
          <p:nvPr/>
        </p:nvSpPr>
        <p:spPr>
          <a:xfrm>
            <a:off x="6510139" y="7539037"/>
            <a:ext cx="4558605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410E7A4-4D31-49B4-BE2E-C3106786A40C}"/>
              </a:ext>
            </a:extLst>
          </p:cNvPr>
          <p:cNvSpPr/>
          <p:nvPr/>
        </p:nvSpPr>
        <p:spPr>
          <a:xfrm>
            <a:off x="6510139" y="7539038"/>
            <a:ext cx="4558605" cy="14288"/>
          </a:xfrm>
          <a:prstGeom prst="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4" name="Rounded Rectangle 12">
            <a:extLst>
              <a:ext uri="{FF2B5EF4-FFF2-40B4-BE49-F238E27FC236}">
                <a16:creationId xmlns:a16="http://schemas.microsoft.com/office/drawing/2014/main" id="{35DB84F0-6936-ADE9-CB93-961AB05E8B55}"/>
              </a:ext>
            </a:extLst>
          </p:cNvPr>
          <p:cNvSpPr/>
          <p:nvPr/>
        </p:nvSpPr>
        <p:spPr>
          <a:xfrm>
            <a:off x="1196976" y="5695949"/>
            <a:ext cx="3798689" cy="1376050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8" name="Rounded Rectangle 14">
            <a:extLst>
              <a:ext uri="{FF2B5EF4-FFF2-40B4-BE49-F238E27FC236}">
                <a16:creationId xmlns:a16="http://schemas.microsoft.com/office/drawing/2014/main" id="{191DD23A-05B8-A90B-ED55-F74583FAECFB}"/>
              </a:ext>
            </a:extLst>
          </p:cNvPr>
          <p:cNvSpPr/>
          <p:nvPr/>
        </p:nvSpPr>
        <p:spPr>
          <a:xfrm>
            <a:off x="6510139" y="4552950"/>
            <a:ext cx="4558605" cy="141446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2" name="Rounded Rectangle 16">
            <a:extLst>
              <a:ext uri="{FF2B5EF4-FFF2-40B4-BE49-F238E27FC236}">
                <a16:creationId xmlns:a16="http://schemas.microsoft.com/office/drawing/2014/main" id="{3CFBC7C0-4503-BF42-A628-6CD24FE51EA7}"/>
              </a:ext>
            </a:extLst>
          </p:cNvPr>
          <p:cNvSpPr/>
          <p:nvPr/>
        </p:nvSpPr>
        <p:spPr>
          <a:xfrm>
            <a:off x="6510139" y="6259754"/>
            <a:ext cx="4558605" cy="1414463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4" name="Rounded Rectangle 17">
            <a:extLst>
              <a:ext uri="{FF2B5EF4-FFF2-40B4-BE49-F238E27FC236}">
                <a16:creationId xmlns:a16="http://schemas.microsoft.com/office/drawing/2014/main" id="{97DC20D6-67C0-63B1-01E6-2A76D9D40655}"/>
              </a:ext>
            </a:extLst>
          </p:cNvPr>
          <p:cNvSpPr/>
          <p:nvPr/>
        </p:nvSpPr>
        <p:spPr>
          <a:xfrm>
            <a:off x="12583219" y="5391150"/>
            <a:ext cx="4558605" cy="842963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952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50" name="Picture 49" descr="image.png">
            <a:extLst>
              <a:ext uri="{FF2B5EF4-FFF2-40B4-BE49-F238E27FC236}">
                <a16:creationId xmlns:a16="http://schemas.microsoft.com/office/drawing/2014/main" id="{C966F748-1753-F6A2-48BE-0A126DD1F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889" y="5600700"/>
            <a:ext cx="200025" cy="314325"/>
          </a:xfrm>
          <a:prstGeom prst="rect">
            <a:avLst/>
          </a:prstGeom>
        </p:spPr>
      </p:pic>
      <p:pic>
        <p:nvPicPr>
          <p:cNvPr id="52" name="Picture 51" descr="image.png">
            <a:extLst>
              <a:ext uri="{FF2B5EF4-FFF2-40B4-BE49-F238E27FC236}">
                <a16:creationId xmlns:a16="http://schemas.microsoft.com/office/drawing/2014/main" id="{0BD16850-DAFD-7E3D-959C-FF3DC693E4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5969" y="5645944"/>
            <a:ext cx="200025" cy="314325"/>
          </a:xfrm>
          <a:prstGeom prst="rect">
            <a:avLst/>
          </a:prstGeom>
        </p:spPr>
      </p:pic>
      <p:pic>
        <p:nvPicPr>
          <p:cNvPr id="54" name="Picture 53" descr="image.png">
            <a:extLst>
              <a:ext uri="{FF2B5EF4-FFF2-40B4-BE49-F238E27FC236}">
                <a16:creationId xmlns:a16="http://schemas.microsoft.com/office/drawing/2014/main" id="{2B687A17-3AEF-BCEB-2A1D-9F5EFA1A85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6975" y="4795836"/>
            <a:ext cx="571500" cy="571500"/>
          </a:xfrm>
          <a:prstGeom prst="rect">
            <a:avLst/>
          </a:prstGeom>
        </p:spPr>
      </p:pic>
      <p:pic>
        <p:nvPicPr>
          <p:cNvPr id="56" name="Picture 55" descr="image.png">
            <a:extLst>
              <a:ext uri="{FF2B5EF4-FFF2-40B4-BE49-F238E27FC236}">
                <a16:creationId xmlns:a16="http://schemas.microsoft.com/office/drawing/2014/main" id="{AF1C68B4-8580-6A06-827E-ED0E99A57F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139" y="3652837"/>
            <a:ext cx="571500" cy="571500"/>
          </a:xfrm>
          <a:prstGeom prst="rect">
            <a:avLst/>
          </a:prstGeom>
        </p:spPr>
      </p:pic>
      <p:pic>
        <p:nvPicPr>
          <p:cNvPr id="58" name="Picture 57" descr="image.png">
            <a:extLst>
              <a:ext uri="{FF2B5EF4-FFF2-40B4-BE49-F238E27FC236}">
                <a16:creationId xmlns:a16="http://schemas.microsoft.com/office/drawing/2014/main" id="{F00B722D-D29C-275C-0B20-3B6E4A1490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83219" y="4491037"/>
            <a:ext cx="571500" cy="571500"/>
          </a:xfrm>
          <a:prstGeom prst="rect">
            <a:avLst/>
          </a:prstGeom>
        </p:spPr>
      </p:pic>
      <p:pic>
        <p:nvPicPr>
          <p:cNvPr id="60" name="Picture 59" descr="image.png">
            <a:extLst>
              <a:ext uri="{FF2B5EF4-FFF2-40B4-BE49-F238E27FC236}">
                <a16:creationId xmlns:a16="http://schemas.microsoft.com/office/drawing/2014/main" id="{C4FF061E-282D-7A3E-A6E3-DD9106A2E6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8425" y="4952999"/>
            <a:ext cx="228600" cy="257175"/>
          </a:xfrm>
          <a:prstGeom prst="rect">
            <a:avLst/>
          </a:prstGeom>
        </p:spPr>
      </p:pic>
      <p:pic>
        <p:nvPicPr>
          <p:cNvPr id="62" name="Picture 61" descr="image.png">
            <a:extLst>
              <a:ext uri="{FF2B5EF4-FFF2-40B4-BE49-F238E27FC236}">
                <a16:creationId xmlns:a16="http://schemas.microsoft.com/office/drawing/2014/main" id="{086D40F5-A29B-5589-4354-2F6DE92933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7301" y="3810000"/>
            <a:ext cx="257175" cy="257175"/>
          </a:xfrm>
          <a:prstGeom prst="rect">
            <a:avLst/>
          </a:prstGeom>
        </p:spPr>
      </p:pic>
      <p:pic>
        <p:nvPicPr>
          <p:cNvPr id="64" name="Picture 63" descr="image.png">
            <a:extLst>
              <a:ext uri="{FF2B5EF4-FFF2-40B4-BE49-F238E27FC236}">
                <a16:creationId xmlns:a16="http://schemas.microsoft.com/office/drawing/2014/main" id="{E0384F28-3B31-6DE7-9FAA-4CD850F5A99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26094" y="4648200"/>
            <a:ext cx="285750" cy="257175"/>
          </a:xfrm>
          <a:prstGeom prst="rect">
            <a:avLst/>
          </a:prstGeom>
        </p:spPr>
      </p:pic>
      <p:pic>
        <p:nvPicPr>
          <p:cNvPr id="66" name="Picture 65" descr="image.png">
            <a:extLst>
              <a:ext uri="{FF2B5EF4-FFF2-40B4-BE49-F238E27FC236}">
                <a16:creationId xmlns:a16="http://schemas.microsoft.com/office/drawing/2014/main" id="{D2DE759A-1817-8D87-B172-A681EBBEA66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11288" y="5924549"/>
            <a:ext cx="200025" cy="22860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CF42EBD2-0C5C-6358-7994-C00BCFA1AE14}"/>
              </a:ext>
            </a:extLst>
          </p:cNvPr>
          <p:cNvSpPr txBox="1"/>
          <p:nvPr/>
        </p:nvSpPr>
        <p:spPr>
          <a:xfrm>
            <a:off x="1939925" y="4752974"/>
            <a:ext cx="16002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dirty="0">
                <a:solidFill>
                  <a:srgbClr val="0284C7"/>
                </a:solidFill>
                <a:latin typeface="Plus Jakarta Sans"/>
              </a:rPr>
              <a:t>TAHAP 01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20F378C-E0C2-9462-1420-7B288128A1EA}"/>
              </a:ext>
            </a:extLst>
          </p:cNvPr>
          <p:cNvSpPr txBox="1"/>
          <p:nvPr/>
        </p:nvSpPr>
        <p:spPr>
          <a:xfrm>
            <a:off x="7253089" y="3609975"/>
            <a:ext cx="238601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6A34A"/>
                </a:solidFill>
                <a:latin typeface="Plus Jakarta Sans"/>
              </a:rPr>
              <a:t>TAHAP 02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35D5FF6-0264-A2F6-5029-C24A2754B268}"/>
              </a:ext>
            </a:extLst>
          </p:cNvPr>
          <p:cNvSpPr txBox="1"/>
          <p:nvPr/>
        </p:nvSpPr>
        <p:spPr>
          <a:xfrm>
            <a:off x="13326169" y="4448175"/>
            <a:ext cx="242887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D97706"/>
                </a:solidFill>
                <a:latin typeface="Plus Jakarta Sans"/>
              </a:rPr>
              <a:t>TAHAP 03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A5F67C4-F912-D24B-39F7-B9F7A536FCCD}"/>
              </a:ext>
            </a:extLst>
          </p:cNvPr>
          <p:cNvSpPr txBox="1"/>
          <p:nvPr/>
        </p:nvSpPr>
        <p:spPr>
          <a:xfrm>
            <a:off x="1939925" y="5053012"/>
            <a:ext cx="75341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dirty="0">
                <a:solidFill>
                  <a:srgbClr val="0F172A"/>
                </a:solidFill>
                <a:latin typeface="Plus Jakarta Sans"/>
              </a:rPr>
              <a:t>Input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99864CB-9EAD-EEB0-8069-3355CE1C3CEE}"/>
              </a:ext>
            </a:extLst>
          </p:cNvPr>
          <p:cNvSpPr txBox="1"/>
          <p:nvPr/>
        </p:nvSpPr>
        <p:spPr>
          <a:xfrm>
            <a:off x="1411288" y="5881687"/>
            <a:ext cx="2953244" cy="369332"/>
          </a:xfrm>
          <a:prstGeom prst="rect">
            <a:avLst/>
          </a:prstGeom>
          <a:noFill/>
        </p:spPr>
        <p:txBody>
          <a:bodyPr wrap="none" lIns="285750" tIns="0" rIns="0" bIns="0" anchor="t">
            <a:spAutoFit/>
          </a:bodyPr>
          <a:lstStyle/>
          <a:p>
            <a:pPr algn="l"/>
            <a:r>
              <a:rPr sz="2400" b="1" dirty="0">
                <a:solidFill>
                  <a:srgbClr val="0F172A"/>
                </a:solidFill>
                <a:latin typeface="Plus Jakarta Sans"/>
              </a:rPr>
              <a:t>Data Hotspot MODIS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BB3FF6B-7356-0E81-14FC-E7DFDEA42591}"/>
              </a:ext>
            </a:extLst>
          </p:cNvPr>
          <p:cNvSpPr txBox="1"/>
          <p:nvPr/>
        </p:nvSpPr>
        <p:spPr>
          <a:xfrm>
            <a:off x="1411288" y="6238874"/>
            <a:ext cx="3055324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400" dirty="0">
                <a:solidFill>
                  <a:srgbClr val="475569"/>
                </a:solidFill>
                <a:latin typeface="Plus Jakarta Sans"/>
              </a:rPr>
              <a:t>Radiance B21(3.939 µm)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DD19039-EEE9-037A-B3E0-2545CBF4731E}"/>
              </a:ext>
            </a:extLst>
          </p:cNvPr>
          <p:cNvSpPr txBox="1"/>
          <p:nvPr/>
        </p:nvSpPr>
        <p:spPr>
          <a:xfrm>
            <a:off x="7253089" y="3910013"/>
            <a:ext cx="166231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400" b="1" dirty="0">
                <a:solidFill>
                  <a:srgbClr val="0F172A"/>
                </a:solidFill>
                <a:latin typeface="Plus Jakarta Sans"/>
              </a:rPr>
              <a:t>Model Harris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57B6B31-D48D-F383-B0B9-53D3AC4EF87D}"/>
              </a:ext>
            </a:extLst>
          </p:cNvPr>
          <p:cNvSpPr txBox="1"/>
          <p:nvPr/>
        </p:nvSpPr>
        <p:spPr>
          <a:xfrm>
            <a:off x="6724452" y="4710113"/>
            <a:ext cx="146835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400" b="1" dirty="0">
                <a:solidFill>
                  <a:srgbClr val="0F172A"/>
                </a:solidFill>
                <a:latin typeface="Plus Jakarta Sans"/>
              </a:rPr>
              <a:t>Cold Model</a:t>
            </a:r>
            <a:endParaRPr sz="2400" b="1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8E6B9F4-3B71-7AF6-B28B-4185FCE010BF}"/>
              </a:ext>
            </a:extLst>
          </p:cNvPr>
          <p:cNvSpPr txBox="1"/>
          <p:nvPr/>
        </p:nvSpPr>
        <p:spPr>
          <a:xfrm>
            <a:off x="6724452" y="6450568"/>
            <a:ext cx="1365758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400" b="1" dirty="0">
                <a:solidFill>
                  <a:srgbClr val="0F172A"/>
                </a:solidFill>
                <a:latin typeface="Plus Jakarta Sans"/>
              </a:rPr>
              <a:t>Hot Model</a:t>
            </a:r>
            <a:endParaRPr sz="2400" b="1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9E5E62E-D29D-BB16-1014-EA9C0E371DB3}"/>
              </a:ext>
            </a:extLst>
          </p:cNvPr>
          <p:cNvSpPr txBox="1"/>
          <p:nvPr/>
        </p:nvSpPr>
        <p:spPr>
          <a:xfrm>
            <a:off x="13326169" y="4748213"/>
            <a:ext cx="161993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400" b="1" dirty="0">
                <a:solidFill>
                  <a:srgbClr val="0F172A"/>
                </a:solidFill>
                <a:latin typeface="Plus Jakarta Sans"/>
              </a:rPr>
              <a:t>Volume Lava</a:t>
            </a: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E1524B7F-6F3E-1924-95A6-9B93517BE1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30" t="60374" r="67158" b="32038"/>
          <a:stretch>
            <a:fillRect/>
          </a:stretch>
        </p:blipFill>
        <p:spPr bwMode="auto">
          <a:xfrm>
            <a:off x="6995913" y="5004996"/>
            <a:ext cx="3660852" cy="946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13" name="Picture 1">
            <a:extLst>
              <a:ext uri="{FF2B5EF4-FFF2-40B4-BE49-F238E27FC236}">
                <a16:creationId xmlns:a16="http://schemas.microsoft.com/office/drawing/2014/main" id="{01B501B5-1E31-47EB-87B0-07B4EC4F5E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78" t="61396" r="36930" b="32979"/>
          <a:stretch>
            <a:fillRect/>
          </a:stretch>
        </p:blipFill>
        <p:spPr bwMode="auto">
          <a:xfrm>
            <a:off x="6935362" y="6743700"/>
            <a:ext cx="3667392" cy="795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14" name="Picture 1">
            <a:extLst>
              <a:ext uri="{FF2B5EF4-FFF2-40B4-BE49-F238E27FC236}">
                <a16:creationId xmlns:a16="http://schemas.microsoft.com/office/drawing/2014/main" id="{3652FCD9-3BC3-42FF-181D-8C8BF05B0F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35" t="62602" r="5434" b="32398"/>
          <a:stretch>
            <a:fillRect/>
          </a:stretch>
        </p:blipFill>
        <p:spPr bwMode="auto">
          <a:xfrm>
            <a:off x="13678961" y="5494299"/>
            <a:ext cx="2076083" cy="684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15" name="TextBox 4">
            <a:extLst>
              <a:ext uri="{FF2B5EF4-FFF2-40B4-BE49-F238E27FC236}">
                <a16:creationId xmlns:a16="http://schemas.microsoft.com/office/drawing/2014/main" id="{30F24E61-E1E8-3994-6873-68747492B9EF}"/>
              </a:ext>
            </a:extLst>
          </p:cNvPr>
          <p:cNvSpPr txBox="1"/>
          <p:nvPr/>
        </p:nvSpPr>
        <p:spPr>
          <a:xfrm>
            <a:off x="825501" y="9053199"/>
            <a:ext cx="16737210" cy="10051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1899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Referensi</a:t>
            </a:r>
            <a:r>
              <a:rPr lang="en-US" sz="1899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: </a:t>
            </a:r>
          </a:p>
          <a:p>
            <a:pPr algn="just">
              <a:lnSpc>
                <a:spcPts val="2659"/>
              </a:lnSpc>
            </a:pPr>
            <a:r>
              <a:rPr lang="en-US" sz="1899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Harris, A. J. L., &amp; Ripepe, M. (2007). Regional earthquake as a trigger for enhanced volcanic activity: Evidence from MODIS thermal data. Geophysical Research Letters, 34, L02304. DOI: 10.1029/2006GL028251.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9D7FA0-EE16-77D4-02DE-D8E061A4EB0F}"/>
              </a:ext>
            </a:extLst>
          </p:cNvPr>
          <p:cNvSpPr txBox="1"/>
          <p:nvPr/>
        </p:nvSpPr>
        <p:spPr>
          <a:xfrm>
            <a:off x="6795888" y="7775268"/>
            <a:ext cx="427285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400" dirty="0">
                <a:solidFill>
                  <a:srgbClr val="475569"/>
                </a:solidFill>
                <a:latin typeface="Plus Jakarta Sans"/>
              </a:rPr>
              <a:t>Dengan :    R = </a:t>
            </a:r>
            <a:r>
              <a:rPr lang="el-GR" sz="2400" dirty="0">
                <a:solidFill>
                  <a:srgbClr val="475569"/>
                </a:solidFill>
                <a:latin typeface="Plus Jakarta Sans"/>
              </a:rPr>
              <a:t>Σ</a:t>
            </a:r>
            <a:r>
              <a:rPr lang="en-US" sz="2400" dirty="0">
                <a:solidFill>
                  <a:srgbClr val="475569"/>
                </a:solidFill>
                <a:latin typeface="Plus Jakarta Sans"/>
              </a:rPr>
              <a:t>B21</a:t>
            </a:r>
            <a:endParaRPr sz="2400" dirty="0">
              <a:solidFill>
                <a:srgbClr val="475569"/>
              </a:solidFill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427346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7888" b="-27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156277" y="0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0" y="0"/>
                </a:moveTo>
                <a:lnTo>
                  <a:pt x="3800579" y="0"/>
                </a:lnTo>
                <a:lnTo>
                  <a:pt x="38005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643698" y="0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0" y="0"/>
                </a:moveTo>
                <a:lnTo>
                  <a:pt x="3800579" y="0"/>
                </a:lnTo>
                <a:lnTo>
                  <a:pt x="38005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27973" y="723900"/>
            <a:ext cx="14506575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14"/>
              </a:lnSpc>
            </a:pPr>
            <a:r>
              <a:rPr lang="en-US" sz="7639" b="1" dirty="0" err="1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Grafik</a:t>
            </a:r>
            <a:r>
              <a:rPr lang="en-US" sz="7639" b="1" dirty="0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 </a:t>
            </a:r>
            <a:r>
              <a:rPr lang="en-US" sz="7639" b="1" dirty="0" err="1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Analisis</a:t>
            </a:r>
            <a:r>
              <a:rPr lang="en-US" sz="7639" b="1" dirty="0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 Anomali </a:t>
            </a:r>
          </a:p>
          <a:p>
            <a:pPr algn="ctr">
              <a:lnSpc>
                <a:spcPts val="9014"/>
              </a:lnSpc>
            </a:pPr>
            <a:r>
              <a:rPr lang="en-US" sz="7639" b="1" dirty="0" err="1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Termal</a:t>
            </a:r>
            <a:endParaRPr lang="en-US" sz="7639" b="1" dirty="0">
              <a:solidFill>
                <a:srgbClr val="000000"/>
              </a:solidFill>
              <a:latin typeface="Atkinson Hyperlegible Bold"/>
              <a:ea typeface="Atkinson Hyperlegible Bold"/>
              <a:cs typeface="Atkinson Hyperlegible Bold"/>
              <a:sym typeface="Atkinson Hyperlegible Bold"/>
            </a:endParaRPr>
          </a:p>
        </p:txBody>
      </p:sp>
      <p:sp>
        <p:nvSpPr>
          <p:cNvPr id="18" name="Rounded Rectangle 3">
            <a:extLst>
              <a:ext uri="{FF2B5EF4-FFF2-40B4-BE49-F238E27FC236}">
                <a16:creationId xmlns:a16="http://schemas.microsoft.com/office/drawing/2014/main" id="{ABCD529D-BA9D-3575-3CA9-1BCA8F53892A}"/>
              </a:ext>
            </a:extLst>
          </p:cNvPr>
          <p:cNvSpPr/>
          <p:nvPr/>
        </p:nvSpPr>
        <p:spPr>
          <a:xfrm>
            <a:off x="1199388" y="3775710"/>
            <a:ext cx="5280660" cy="21259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t"/>
          <a:lstStyle/>
          <a:p>
            <a:r>
              <a:rPr sz="2800" b="1" dirty="0">
                <a:solidFill>
                  <a:srgbClr val="06B6D4"/>
                </a:solidFill>
                <a:latin typeface="Calibri"/>
              </a:rPr>
              <a:t>(a)</a:t>
            </a:r>
          </a:p>
          <a:p>
            <a:pPr>
              <a:spcBef>
                <a:spcPts val="300"/>
              </a:spcBef>
            </a:pPr>
            <a:r>
              <a:rPr sz="2800" b="1" dirty="0" err="1">
                <a:solidFill>
                  <a:srgbClr val="0F172A"/>
                </a:solidFill>
                <a:latin typeface="Calibri"/>
              </a:rPr>
              <a:t>Jumlah</a:t>
            </a:r>
            <a:r>
              <a:rPr sz="2800" b="1" dirty="0">
                <a:solidFill>
                  <a:srgbClr val="0F172A"/>
                </a:solidFill>
                <a:latin typeface="Calibri"/>
              </a:rPr>
              <a:t> Hotspot </a:t>
            </a:r>
            <a:r>
              <a:rPr sz="2800" b="1" dirty="0" err="1">
                <a:solidFill>
                  <a:srgbClr val="0F172A"/>
                </a:solidFill>
                <a:latin typeface="Calibri"/>
              </a:rPr>
              <a:t>Terdeteksi</a:t>
            </a:r>
            <a:endParaRPr sz="2800" b="1" dirty="0">
              <a:solidFill>
                <a:srgbClr val="0F172A"/>
              </a:solidFill>
              <a:latin typeface="Calibri"/>
            </a:endParaRPr>
          </a:p>
          <a:p>
            <a:pPr>
              <a:spcBef>
                <a:spcPts val="600"/>
              </a:spcBef>
            </a:pPr>
            <a:r>
              <a:rPr sz="2800" dirty="0">
                <a:solidFill>
                  <a:srgbClr val="64748B"/>
                </a:solidFill>
                <a:latin typeface="Calibri"/>
              </a:rPr>
              <a:t>Pixel </a:t>
            </a:r>
            <a:r>
              <a:rPr sz="2800" dirty="0" err="1">
                <a:solidFill>
                  <a:srgbClr val="64748B"/>
                </a:solidFill>
                <a:latin typeface="Calibri"/>
              </a:rPr>
              <a:t>terbakar</a:t>
            </a:r>
            <a:r>
              <a:rPr sz="2800" dirty="0">
                <a:solidFill>
                  <a:srgbClr val="64748B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64748B"/>
                </a:solidFill>
                <a:latin typeface="Calibri"/>
              </a:rPr>
              <a:t>tiap</a:t>
            </a:r>
            <a:r>
              <a:rPr sz="2800" dirty="0">
                <a:solidFill>
                  <a:srgbClr val="64748B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64748B"/>
                </a:solidFill>
                <a:latin typeface="Calibri"/>
              </a:rPr>
              <a:t>observasi</a:t>
            </a:r>
            <a:endParaRPr sz="280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0" name="Rounded Rectangle 4">
            <a:extLst>
              <a:ext uri="{FF2B5EF4-FFF2-40B4-BE49-F238E27FC236}">
                <a16:creationId xmlns:a16="http://schemas.microsoft.com/office/drawing/2014/main" id="{19DB822A-E466-96B3-475E-50B14BAA75A8}"/>
              </a:ext>
            </a:extLst>
          </p:cNvPr>
          <p:cNvSpPr/>
          <p:nvPr/>
        </p:nvSpPr>
        <p:spPr>
          <a:xfrm>
            <a:off x="6781800" y="3775710"/>
            <a:ext cx="5410200" cy="23083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t"/>
          <a:lstStyle/>
          <a:p>
            <a:r>
              <a:rPr sz="2800" b="1" dirty="0">
                <a:solidFill>
                  <a:srgbClr val="06B6D4"/>
                </a:solidFill>
                <a:latin typeface="Calibri"/>
              </a:rPr>
              <a:t>(b)</a:t>
            </a:r>
          </a:p>
          <a:p>
            <a:pPr>
              <a:spcBef>
                <a:spcPts val="300"/>
              </a:spcBef>
            </a:pPr>
            <a:r>
              <a:rPr sz="2800" b="1" dirty="0">
                <a:solidFill>
                  <a:srgbClr val="0F172A"/>
                </a:solidFill>
                <a:latin typeface="Calibri"/>
              </a:rPr>
              <a:t>Spectral Radiance Maximum</a:t>
            </a:r>
          </a:p>
          <a:p>
            <a:pPr>
              <a:spcBef>
                <a:spcPts val="600"/>
              </a:spcBef>
            </a:pPr>
            <a:r>
              <a:rPr lang="en-US" sz="2400" dirty="0" err="1">
                <a:solidFill>
                  <a:srgbClr val="64748B"/>
                </a:solidFill>
                <a:latin typeface="Calibri"/>
              </a:rPr>
              <a:t>menunjukkan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besarnya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radiasi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termal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yang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terdeteksi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sensor MODIS pada Band 21</a:t>
            </a:r>
            <a:endParaRPr sz="240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2" name="Rounded Rectangle 5">
            <a:extLst>
              <a:ext uri="{FF2B5EF4-FFF2-40B4-BE49-F238E27FC236}">
                <a16:creationId xmlns:a16="http://schemas.microsoft.com/office/drawing/2014/main" id="{ECA2616D-D347-DBA2-67AF-9A8619D20839}"/>
              </a:ext>
            </a:extLst>
          </p:cNvPr>
          <p:cNvSpPr/>
          <p:nvPr/>
        </p:nvSpPr>
        <p:spPr>
          <a:xfrm>
            <a:off x="12364212" y="3775709"/>
            <a:ext cx="5410200" cy="239649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t"/>
          <a:lstStyle/>
          <a:p>
            <a:r>
              <a:rPr sz="2800" b="1" dirty="0">
                <a:solidFill>
                  <a:srgbClr val="06B6D4"/>
                </a:solidFill>
                <a:latin typeface="Calibri"/>
              </a:rPr>
              <a:t>(c)</a:t>
            </a:r>
          </a:p>
          <a:p>
            <a:pPr>
              <a:spcBef>
                <a:spcPts val="300"/>
              </a:spcBef>
            </a:pPr>
            <a:r>
              <a:rPr sz="2800" b="1" dirty="0">
                <a:solidFill>
                  <a:srgbClr val="0F172A"/>
                </a:solidFill>
                <a:latin typeface="Calibri"/>
              </a:rPr>
              <a:t>Spectral Radiance Total</a:t>
            </a:r>
          </a:p>
          <a:p>
            <a:pPr>
              <a:spcBef>
                <a:spcPts val="600"/>
              </a:spcBef>
            </a:pPr>
            <a:r>
              <a:rPr lang="en-US" sz="280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jumlah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keseluruhan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nilai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spectral radiance B21 (ΣB21)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dari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hotspot yang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terdeteksi</a:t>
            </a:r>
            <a:endParaRPr sz="240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4" name="Rounded Rectangle 6">
            <a:extLst>
              <a:ext uri="{FF2B5EF4-FFF2-40B4-BE49-F238E27FC236}">
                <a16:creationId xmlns:a16="http://schemas.microsoft.com/office/drawing/2014/main" id="{59A05C23-2457-8922-8EC6-32484C66389E}"/>
              </a:ext>
            </a:extLst>
          </p:cNvPr>
          <p:cNvSpPr/>
          <p:nvPr/>
        </p:nvSpPr>
        <p:spPr>
          <a:xfrm>
            <a:off x="838200" y="6646736"/>
            <a:ext cx="7467600" cy="30306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t"/>
          <a:lstStyle/>
          <a:p>
            <a:r>
              <a:rPr sz="2800" b="1" dirty="0">
                <a:solidFill>
                  <a:srgbClr val="06B6D4"/>
                </a:solidFill>
                <a:latin typeface="Calibri"/>
              </a:rPr>
              <a:t>(d)</a:t>
            </a:r>
          </a:p>
          <a:p>
            <a:pPr>
              <a:spcBef>
                <a:spcPts val="300"/>
              </a:spcBef>
            </a:pPr>
            <a:r>
              <a:rPr sz="2800" b="1" dirty="0">
                <a:solidFill>
                  <a:srgbClr val="0F172A"/>
                </a:solidFill>
                <a:latin typeface="Calibri"/>
              </a:rPr>
              <a:t>Heat &amp; Volume Flux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64748B"/>
                </a:solidFill>
                <a:latin typeface="Calibri"/>
              </a:rPr>
              <a:t>Heat Flux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menunjukkan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laju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pelepasan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energi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panas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dari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aktivitas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termal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yang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terdeteksi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.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64748B"/>
                </a:solidFill>
                <a:latin typeface="Calibri"/>
              </a:rPr>
              <a:t>Volume Flux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menunjukkan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laju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keluarnya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volume lava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atau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material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vulkanik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terhadap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waktu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.</a:t>
            </a:r>
            <a:endParaRPr sz="240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6" name="Rounded Rectangle 7">
            <a:extLst>
              <a:ext uri="{FF2B5EF4-FFF2-40B4-BE49-F238E27FC236}">
                <a16:creationId xmlns:a16="http://schemas.microsoft.com/office/drawing/2014/main" id="{6D121223-6373-AD3E-3F1F-A7277CF228D9}"/>
              </a:ext>
            </a:extLst>
          </p:cNvPr>
          <p:cNvSpPr/>
          <p:nvPr/>
        </p:nvSpPr>
        <p:spPr>
          <a:xfrm>
            <a:off x="8686800" y="6646736"/>
            <a:ext cx="8763000" cy="31449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t"/>
          <a:lstStyle/>
          <a:p>
            <a:r>
              <a:rPr sz="2800" b="1" dirty="0">
                <a:solidFill>
                  <a:srgbClr val="06B6D4"/>
                </a:solidFill>
                <a:latin typeface="Calibri"/>
              </a:rPr>
              <a:t>(e)</a:t>
            </a:r>
          </a:p>
          <a:p>
            <a:pPr>
              <a:spcBef>
                <a:spcPts val="300"/>
              </a:spcBef>
            </a:pPr>
            <a:r>
              <a:rPr sz="2800" b="1" dirty="0">
                <a:solidFill>
                  <a:srgbClr val="0F172A"/>
                </a:solidFill>
                <a:latin typeface="Calibri"/>
              </a:rPr>
              <a:t>Cumulative Power &amp; Volume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64748B"/>
                </a:solidFill>
                <a:latin typeface="Calibri"/>
              </a:rPr>
              <a:t>Cumulative Volume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menunjukkan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akumulasi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volume lava yang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dihitung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selama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periode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pengamatan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64748B"/>
                </a:solidFill>
                <a:latin typeface="Calibri"/>
              </a:rPr>
              <a:t>Cumulative Power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menunjukkan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akumulasi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nilai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panas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/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energi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yang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dihitung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dari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aktivitas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termal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selama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periode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US" sz="2400" dirty="0" err="1">
                <a:solidFill>
                  <a:srgbClr val="64748B"/>
                </a:solidFill>
                <a:latin typeface="Calibri"/>
              </a:rPr>
              <a:t>pengamatan</a:t>
            </a:r>
            <a:r>
              <a:rPr lang="en-US" sz="2400" dirty="0">
                <a:solidFill>
                  <a:srgbClr val="64748B"/>
                </a:solidFill>
                <a:latin typeface="Calibri"/>
              </a:rPr>
              <a:t>.</a:t>
            </a:r>
            <a:endParaRPr sz="2400" dirty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7888" b="-27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156277" y="0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0" y="0"/>
                </a:moveTo>
                <a:lnTo>
                  <a:pt x="3800579" y="0"/>
                </a:lnTo>
                <a:lnTo>
                  <a:pt x="38005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643698" y="0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0" y="0"/>
                </a:moveTo>
                <a:lnTo>
                  <a:pt x="3800579" y="0"/>
                </a:lnTo>
                <a:lnTo>
                  <a:pt x="38005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851546" y="1019027"/>
            <a:ext cx="14335125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14"/>
              </a:lnSpc>
              <a:spcBef>
                <a:spcPct val="0"/>
              </a:spcBef>
            </a:pPr>
            <a:r>
              <a:rPr lang="it-IT" sz="7639" b="1" dirty="0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Alur Pengolahan &amp; Visualisasi 3D DEM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6D1D897A-BAC6-4AD0-D96E-75740D231484}"/>
              </a:ext>
            </a:extLst>
          </p:cNvPr>
          <p:cNvSpPr/>
          <p:nvPr/>
        </p:nvSpPr>
        <p:spPr>
          <a:xfrm>
            <a:off x="800101" y="3467100"/>
            <a:ext cx="4541639" cy="5129213"/>
          </a:xfrm>
          <a:prstGeom prst="roundRect">
            <a:avLst>
              <a:gd name="adj" fmla="val 4404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92789A8F-1B4F-8D24-3DBD-514A32CF6A20}"/>
              </a:ext>
            </a:extLst>
          </p:cNvPr>
          <p:cNvSpPr/>
          <p:nvPr/>
        </p:nvSpPr>
        <p:spPr>
          <a:xfrm>
            <a:off x="6113264" y="3467100"/>
            <a:ext cx="5364811" cy="6477000"/>
          </a:xfrm>
          <a:prstGeom prst="roundRect">
            <a:avLst>
              <a:gd name="adj" fmla="val 3899"/>
            </a:avLst>
          </a:prstGeom>
          <a:solidFill>
            <a:srgbClr val="F0FDF4"/>
          </a:solidFill>
          <a:ln w="1905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881548EC-E023-E3F2-9897-30C1B6DACDC3}"/>
              </a:ext>
            </a:extLst>
          </p:cNvPr>
          <p:cNvSpPr/>
          <p:nvPr/>
        </p:nvSpPr>
        <p:spPr>
          <a:xfrm>
            <a:off x="12186344" y="3467100"/>
            <a:ext cx="5301555" cy="5129213"/>
          </a:xfrm>
          <a:prstGeom prst="roundRect">
            <a:avLst>
              <a:gd name="adj" fmla="val 3899"/>
            </a:avLst>
          </a:prstGeom>
          <a:solidFill>
            <a:srgbClr val="FFFBEB"/>
          </a:solidFill>
          <a:ln w="1905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9C57EC-2EAD-5275-DACB-22623A7536B0}"/>
              </a:ext>
            </a:extLst>
          </p:cNvPr>
          <p:cNvSpPr/>
          <p:nvPr/>
        </p:nvSpPr>
        <p:spPr>
          <a:xfrm>
            <a:off x="1171576" y="7810500"/>
            <a:ext cx="3798689" cy="4143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A617B9-D9D7-F019-F88B-C8A4B975DB6C}"/>
              </a:ext>
            </a:extLst>
          </p:cNvPr>
          <p:cNvSpPr/>
          <p:nvPr/>
        </p:nvSpPr>
        <p:spPr>
          <a:xfrm>
            <a:off x="6484739" y="7767637"/>
            <a:ext cx="4558605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243153-FBDC-E46D-2CC7-1753A2890245}"/>
              </a:ext>
            </a:extLst>
          </p:cNvPr>
          <p:cNvSpPr/>
          <p:nvPr/>
        </p:nvSpPr>
        <p:spPr>
          <a:xfrm>
            <a:off x="12557819" y="7767637"/>
            <a:ext cx="4558605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4C8789-C737-5992-3891-F50E97505814}"/>
              </a:ext>
            </a:extLst>
          </p:cNvPr>
          <p:cNvSpPr/>
          <p:nvPr/>
        </p:nvSpPr>
        <p:spPr>
          <a:xfrm>
            <a:off x="1171576" y="7810500"/>
            <a:ext cx="3798689" cy="14288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DA23A0-E72B-1A2E-8C91-7E4A4CC0A2BF}"/>
              </a:ext>
            </a:extLst>
          </p:cNvPr>
          <p:cNvSpPr/>
          <p:nvPr/>
        </p:nvSpPr>
        <p:spPr>
          <a:xfrm>
            <a:off x="6484739" y="7767638"/>
            <a:ext cx="4558605" cy="14288"/>
          </a:xfrm>
          <a:prstGeom prst="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CD56A9-C27F-D102-C5AC-2D48E0888A7C}"/>
              </a:ext>
            </a:extLst>
          </p:cNvPr>
          <p:cNvSpPr/>
          <p:nvPr/>
        </p:nvSpPr>
        <p:spPr>
          <a:xfrm>
            <a:off x="12557819" y="7767638"/>
            <a:ext cx="4558605" cy="14288"/>
          </a:xfrm>
          <a:prstGeom prst="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Rounded Rectangle 12">
            <a:extLst>
              <a:ext uri="{FF2B5EF4-FFF2-40B4-BE49-F238E27FC236}">
                <a16:creationId xmlns:a16="http://schemas.microsoft.com/office/drawing/2014/main" id="{552F3EBD-36F8-C877-A663-1B906786B222}"/>
              </a:ext>
            </a:extLst>
          </p:cNvPr>
          <p:cNvSpPr/>
          <p:nvPr/>
        </p:nvSpPr>
        <p:spPr>
          <a:xfrm>
            <a:off x="1171576" y="4781549"/>
            <a:ext cx="3798689" cy="1407319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Rounded Rectangle 13">
            <a:extLst>
              <a:ext uri="{FF2B5EF4-FFF2-40B4-BE49-F238E27FC236}">
                <a16:creationId xmlns:a16="http://schemas.microsoft.com/office/drawing/2014/main" id="{D5B61F03-8137-00B5-1C0D-DFF2654EAC18}"/>
              </a:ext>
            </a:extLst>
          </p:cNvPr>
          <p:cNvSpPr/>
          <p:nvPr/>
        </p:nvSpPr>
        <p:spPr>
          <a:xfrm>
            <a:off x="1171576" y="6591299"/>
            <a:ext cx="3861944" cy="1633537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Rounded Rectangle 14">
            <a:extLst>
              <a:ext uri="{FF2B5EF4-FFF2-40B4-BE49-F238E27FC236}">
                <a16:creationId xmlns:a16="http://schemas.microsoft.com/office/drawing/2014/main" id="{DB8BC348-3F34-B88B-37B6-32A253F29DF9}"/>
              </a:ext>
            </a:extLst>
          </p:cNvPr>
          <p:cNvSpPr/>
          <p:nvPr/>
        </p:nvSpPr>
        <p:spPr>
          <a:xfrm>
            <a:off x="6484739" y="4781550"/>
            <a:ext cx="4668950" cy="1385887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Rounded Rectangle 15">
            <a:extLst>
              <a:ext uri="{FF2B5EF4-FFF2-40B4-BE49-F238E27FC236}">
                <a16:creationId xmlns:a16="http://schemas.microsoft.com/office/drawing/2014/main" id="{9D5620EA-67B4-DA01-65D9-D9C5BDACE5EE}"/>
              </a:ext>
            </a:extLst>
          </p:cNvPr>
          <p:cNvSpPr/>
          <p:nvPr/>
        </p:nvSpPr>
        <p:spPr>
          <a:xfrm>
            <a:off x="6484739" y="6510337"/>
            <a:ext cx="4668950" cy="1335644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Rounded Rectangle 16">
            <a:extLst>
              <a:ext uri="{FF2B5EF4-FFF2-40B4-BE49-F238E27FC236}">
                <a16:creationId xmlns:a16="http://schemas.microsoft.com/office/drawing/2014/main" id="{FB43F981-855A-D884-5787-83BC9AC5C7D7}"/>
              </a:ext>
            </a:extLst>
          </p:cNvPr>
          <p:cNvSpPr/>
          <p:nvPr/>
        </p:nvSpPr>
        <p:spPr>
          <a:xfrm>
            <a:off x="6484739" y="8339137"/>
            <a:ext cx="4668950" cy="1391375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5" name="Rounded Rectangle 17">
            <a:extLst>
              <a:ext uri="{FF2B5EF4-FFF2-40B4-BE49-F238E27FC236}">
                <a16:creationId xmlns:a16="http://schemas.microsoft.com/office/drawing/2014/main" id="{4776C25E-F3CF-EAFC-546B-A01D54E3E8D5}"/>
              </a:ext>
            </a:extLst>
          </p:cNvPr>
          <p:cNvSpPr/>
          <p:nvPr/>
        </p:nvSpPr>
        <p:spPr>
          <a:xfrm>
            <a:off x="12557819" y="4781550"/>
            <a:ext cx="4558605" cy="842963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952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7" name="Rounded Rectangle 18">
            <a:extLst>
              <a:ext uri="{FF2B5EF4-FFF2-40B4-BE49-F238E27FC236}">
                <a16:creationId xmlns:a16="http://schemas.microsoft.com/office/drawing/2014/main" id="{6970C39F-E0BB-7967-945C-C817725EA2FB}"/>
              </a:ext>
            </a:extLst>
          </p:cNvPr>
          <p:cNvSpPr/>
          <p:nvPr/>
        </p:nvSpPr>
        <p:spPr>
          <a:xfrm>
            <a:off x="12557819" y="5738813"/>
            <a:ext cx="4558605" cy="842963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952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9" name="Rounded Rectangle 19">
            <a:extLst>
              <a:ext uri="{FF2B5EF4-FFF2-40B4-BE49-F238E27FC236}">
                <a16:creationId xmlns:a16="http://schemas.microsoft.com/office/drawing/2014/main" id="{13D6D566-9949-A52E-F527-E29B5D08680D}"/>
              </a:ext>
            </a:extLst>
          </p:cNvPr>
          <p:cNvSpPr/>
          <p:nvPr/>
        </p:nvSpPr>
        <p:spPr>
          <a:xfrm>
            <a:off x="12557819" y="6696075"/>
            <a:ext cx="4558605" cy="842963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952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41" name="Picture 40" descr="image.png">
            <a:extLst>
              <a:ext uri="{FF2B5EF4-FFF2-40B4-BE49-F238E27FC236}">
                <a16:creationId xmlns:a16="http://schemas.microsoft.com/office/drawing/2014/main" id="{6AD760CD-9A12-8EE8-02CB-F165956F5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7489" y="5874544"/>
            <a:ext cx="200025" cy="314325"/>
          </a:xfrm>
          <a:prstGeom prst="rect">
            <a:avLst/>
          </a:prstGeom>
        </p:spPr>
      </p:pic>
      <p:pic>
        <p:nvPicPr>
          <p:cNvPr id="43" name="Picture 42" descr="image.png">
            <a:extLst>
              <a:ext uri="{FF2B5EF4-FFF2-40B4-BE49-F238E27FC236}">
                <a16:creationId xmlns:a16="http://schemas.microsoft.com/office/drawing/2014/main" id="{4544B39A-AFCB-6BC1-95FE-B71260A9EE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0569" y="5874544"/>
            <a:ext cx="200025" cy="314325"/>
          </a:xfrm>
          <a:prstGeom prst="rect">
            <a:avLst/>
          </a:prstGeom>
        </p:spPr>
      </p:pic>
      <p:pic>
        <p:nvPicPr>
          <p:cNvPr id="45" name="Picture 44" descr="image.png">
            <a:extLst>
              <a:ext uri="{FF2B5EF4-FFF2-40B4-BE49-F238E27FC236}">
                <a16:creationId xmlns:a16="http://schemas.microsoft.com/office/drawing/2014/main" id="{3909AD41-8B5E-63C9-CCE0-DBB874825B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1575" y="3881437"/>
            <a:ext cx="571500" cy="571500"/>
          </a:xfrm>
          <a:prstGeom prst="rect">
            <a:avLst/>
          </a:prstGeom>
        </p:spPr>
      </p:pic>
      <p:pic>
        <p:nvPicPr>
          <p:cNvPr id="47" name="Picture 46" descr="image.png">
            <a:extLst>
              <a:ext uri="{FF2B5EF4-FFF2-40B4-BE49-F238E27FC236}">
                <a16:creationId xmlns:a16="http://schemas.microsoft.com/office/drawing/2014/main" id="{8D3C91C2-C958-D043-CA76-3B05BF741A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4739" y="3881437"/>
            <a:ext cx="571500" cy="571500"/>
          </a:xfrm>
          <a:prstGeom prst="rect">
            <a:avLst/>
          </a:prstGeom>
        </p:spPr>
      </p:pic>
      <p:pic>
        <p:nvPicPr>
          <p:cNvPr id="49" name="Picture 48" descr="image.png">
            <a:extLst>
              <a:ext uri="{FF2B5EF4-FFF2-40B4-BE49-F238E27FC236}">
                <a16:creationId xmlns:a16="http://schemas.microsoft.com/office/drawing/2014/main" id="{41D701AF-DD14-DF90-D9D0-3440B55ECD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57819" y="3881437"/>
            <a:ext cx="571500" cy="571500"/>
          </a:xfrm>
          <a:prstGeom prst="rect">
            <a:avLst/>
          </a:prstGeom>
        </p:spPr>
      </p:pic>
      <p:pic>
        <p:nvPicPr>
          <p:cNvPr id="51" name="Picture 50" descr="image.png">
            <a:extLst>
              <a:ext uri="{FF2B5EF4-FFF2-40B4-BE49-F238E27FC236}">
                <a16:creationId xmlns:a16="http://schemas.microsoft.com/office/drawing/2014/main" id="{39BA772E-06F4-AD3F-9B3F-503D5397339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43025" y="4038600"/>
            <a:ext cx="228600" cy="257175"/>
          </a:xfrm>
          <a:prstGeom prst="rect">
            <a:avLst/>
          </a:prstGeom>
        </p:spPr>
      </p:pic>
      <p:pic>
        <p:nvPicPr>
          <p:cNvPr id="53" name="Picture 52" descr="image.png">
            <a:extLst>
              <a:ext uri="{FF2B5EF4-FFF2-40B4-BE49-F238E27FC236}">
                <a16:creationId xmlns:a16="http://schemas.microsoft.com/office/drawing/2014/main" id="{3C8F9515-9015-FC1B-B220-9EE476D13E2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41901" y="4038600"/>
            <a:ext cx="257175" cy="257175"/>
          </a:xfrm>
          <a:prstGeom prst="rect">
            <a:avLst/>
          </a:prstGeom>
        </p:spPr>
      </p:pic>
      <p:pic>
        <p:nvPicPr>
          <p:cNvPr id="55" name="Picture 54" descr="image.png">
            <a:extLst>
              <a:ext uri="{FF2B5EF4-FFF2-40B4-BE49-F238E27FC236}">
                <a16:creationId xmlns:a16="http://schemas.microsoft.com/office/drawing/2014/main" id="{587C84B3-1450-0661-66FD-B3605330C87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00694" y="4038600"/>
            <a:ext cx="285750" cy="257175"/>
          </a:xfrm>
          <a:prstGeom prst="rect">
            <a:avLst/>
          </a:prstGeom>
        </p:spPr>
      </p:pic>
      <p:pic>
        <p:nvPicPr>
          <p:cNvPr id="57" name="Picture 56" descr="image.png">
            <a:extLst>
              <a:ext uri="{FF2B5EF4-FFF2-40B4-BE49-F238E27FC236}">
                <a16:creationId xmlns:a16="http://schemas.microsoft.com/office/drawing/2014/main" id="{8CEE128C-347F-281F-9B10-EBA85E1C817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85888" y="5010150"/>
            <a:ext cx="200025" cy="228600"/>
          </a:xfrm>
          <a:prstGeom prst="rect">
            <a:avLst/>
          </a:prstGeom>
        </p:spPr>
      </p:pic>
      <p:pic>
        <p:nvPicPr>
          <p:cNvPr id="59" name="Picture 58" descr="image.png">
            <a:extLst>
              <a:ext uri="{FF2B5EF4-FFF2-40B4-BE49-F238E27FC236}">
                <a16:creationId xmlns:a16="http://schemas.microsoft.com/office/drawing/2014/main" id="{450F5237-3DDB-8E14-F329-59A697D93A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85888" y="6167437"/>
            <a:ext cx="228600" cy="228600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231D0326-1007-C3ED-4069-3B7D54F2B057}"/>
              </a:ext>
            </a:extLst>
          </p:cNvPr>
          <p:cNvSpPr txBox="1"/>
          <p:nvPr/>
        </p:nvSpPr>
        <p:spPr>
          <a:xfrm>
            <a:off x="1914525" y="3838575"/>
            <a:ext cx="16002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284C7"/>
                </a:solidFill>
                <a:latin typeface="Plus Jakarta Sans"/>
              </a:rPr>
              <a:t>TAHAP 01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282DC69-6F08-AAEB-3663-44F7953A6212}"/>
              </a:ext>
            </a:extLst>
          </p:cNvPr>
          <p:cNvSpPr txBox="1"/>
          <p:nvPr/>
        </p:nvSpPr>
        <p:spPr>
          <a:xfrm>
            <a:off x="7227689" y="3838575"/>
            <a:ext cx="238601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6A34A"/>
                </a:solidFill>
                <a:latin typeface="Plus Jakarta Sans"/>
              </a:rPr>
              <a:t>TAHAP 02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074EED6-FE80-72FE-E2BD-B87E15838119}"/>
              </a:ext>
            </a:extLst>
          </p:cNvPr>
          <p:cNvSpPr txBox="1"/>
          <p:nvPr/>
        </p:nvSpPr>
        <p:spPr>
          <a:xfrm>
            <a:off x="13300769" y="3838575"/>
            <a:ext cx="242887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D97706"/>
                </a:solidFill>
                <a:latin typeface="Plus Jakarta Sans"/>
              </a:rPr>
              <a:t>TAHAP 03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BE6309A-91F9-A009-D7EE-A5D5E7B0AF5D}"/>
              </a:ext>
            </a:extLst>
          </p:cNvPr>
          <p:cNvSpPr txBox="1"/>
          <p:nvPr/>
        </p:nvSpPr>
        <p:spPr>
          <a:xfrm>
            <a:off x="1914525" y="4138613"/>
            <a:ext cx="1353447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Plus Jakarta Sans"/>
              </a:rPr>
              <a:t>Input Data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F575AD7-9999-7A20-74C9-0E3FA61DADA8}"/>
              </a:ext>
            </a:extLst>
          </p:cNvPr>
          <p:cNvSpPr txBox="1"/>
          <p:nvPr/>
        </p:nvSpPr>
        <p:spPr>
          <a:xfrm>
            <a:off x="1385888" y="4967288"/>
            <a:ext cx="2953244" cy="369332"/>
          </a:xfrm>
          <a:prstGeom prst="rect">
            <a:avLst/>
          </a:prstGeom>
          <a:noFill/>
        </p:spPr>
        <p:txBody>
          <a:bodyPr wrap="none" lIns="285750" tIns="0" rIns="0" bIns="0" anchor="t">
            <a:spAutoFit/>
          </a:bodyPr>
          <a:lstStyle/>
          <a:p>
            <a:pPr algn="l"/>
            <a:r>
              <a:rPr sz="2400" b="1" dirty="0">
                <a:solidFill>
                  <a:srgbClr val="0F172A"/>
                </a:solidFill>
                <a:latin typeface="Plus Jakarta Sans"/>
              </a:rPr>
              <a:t>Data Hotspot MODIS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706A00E-90C5-9F2C-0649-81E17A615144}"/>
              </a:ext>
            </a:extLst>
          </p:cNvPr>
          <p:cNvSpPr txBox="1"/>
          <p:nvPr/>
        </p:nvSpPr>
        <p:spPr>
          <a:xfrm>
            <a:off x="1385888" y="5324475"/>
            <a:ext cx="3026598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dirty="0" err="1">
                <a:solidFill>
                  <a:srgbClr val="475569"/>
                </a:solidFill>
                <a:latin typeface="Plus Jakarta Sans"/>
              </a:rPr>
              <a:t>Suhu</a:t>
            </a:r>
            <a:r>
              <a:rPr sz="2400" dirty="0">
                <a:solidFill>
                  <a:srgbClr val="475569"/>
                </a:solidFill>
                <a:latin typeface="Plus Jakarta Sans"/>
              </a:rPr>
              <a:t> (K), NTI, </a:t>
            </a:r>
            <a:r>
              <a:rPr sz="2400" dirty="0" err="1">
                <a:solidFill>
                  <a:srgbClr val="475569"/>
                </a:solidFill>
                <a:latin typeface="Plus Jakarta Sans"/>
              </a:rPr>
              <a:t>koordinat</a:t>
            </a:r>
            <a:r>
              <a:rPr sz="2400" dirty="0">
                <a:solidFill>
                  <a:srgbClr val="475569"/>
                </a:solidFill>
                <a:latin typeface="Plus Jakarta Sans"/>
              </a:rPr>
              <a:t> </a:t>
            </a:r>
            <a:endParaRPr lang="en-US" sz="2400" dirty="0">
              <a:solidFill>
                <a:srgbClr val="475569"/>
              </a:solidFill>
              <a:latin typeface="Plus Jakarta Sans"/>
            </a:endParaRPr>
          </a:p>
          <a:p>
            <a:pPr algn="l"/>
            <a:r>
              <a:rPr sz="2400" dirty="0">
                <a:solidFill>
                  <a:srgbClr val="475569"/>
                </a:solidFill>
                <a:latin typeface="Plus Jakarta Sans"/>
              </a:rPr>
              <a:t>Lon/Lat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8CC8379-0602-D31D-732F-25F7B20020C7}"/>
              </a:ext>
            </a:extLst>
          </p:cNvPr>
          <p:cNvSpPr txBox="1"/>
          <p:nvPr/>
        </p:nvSpPr>
        <p:spPr>
          <a:xfrm>
            <a:off x="1385888" y="6779181"/>
            <a:ext cx="2915029" cy="369332"/>
          </a:xfrm>
          <a:prstGeom prst="rect">
            <a:avLst/>
          </a:prstGeom>
          <a:noFill/>
        </p:spPr>
        <p:txBody>
          <a:bodyPr wrap="none" lIns="314325" tIns="0" rIns="0" bIns="0" anchor="t">
            <a:spAutoFit/>
          </a:bodyPr>
          <a:lstStyle/>
          <a:p>
            <a:pPr algn="l"/>
            <a:r>
              <a:rPr sz="2400" b="1" dirty="0">
                <a:solidFill>
                  <a:srgbClr val="0F172A"/>
                </a:solidFill>
                <a:latin typeface="Plus Jakarta Sans"/>
              </a:rPr>
              <a:t>Raster </a:t>
            </a:r>
            <a:r>
              <a:rPr sz="2400" b="1" dirty="0" err="1">
                <a:solidFill>
                  <a:srgbClr val="0F172A"/>
                </a:solidFill>
                <a:latin typeface="Plus Jakarta Sans"/>
              </a:rPr>
              <a:t>GeoTIFF</a:t>
            </a:r>
            <a:r>
              <a:rPr sz="2400" b="1" dirty="0">
                <a:solidFill>
                  <a:srgbClr val="0F172A"/>
                </a:solidFill>
                <a:latin typeface="Plus Jakarta Sans"/>
              </a:rPr>
              <a:t> DEM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55ABD6D-EE19-B7AE-D3FA-BD95A5F4A986}"/>
              </a:ext>
            </a:extLst>
          </p:cNvPr>
          <p:cNvSpPr txBox="1"/>
          <p:nvPr/>
        </p:nvSpPr>
        <p:spPr>
          <a:xfrm>
            <a:off x="1385888" y="7136368"/>
            <a:ext cx="3170163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dirty="0">
                <a:solidFill>
                  <a:srgbClr val="475569"/>
                </a:solidFill>
                <a:latin typeface="Plus Jakarta Sans"/>
              </a:rPr>
              <a:t>Grid </a:t>
            </a:r>
            <a:r>
              <a:rPr sz="2400" dirty="0" err="1">
                <a:solidFill>
                  <a:srgbClr val="475569"/>
                </a:solidFill>
                <a:latin typeface="Plus Jakarta Sans"/>
              </a:rPr>
              <a:t>ketinggian</a:t>
            </a:r>
            <a:r>
              <a:rPr sz="2400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2400" dirty="0" err="1">
                <a:solidFill>
                  <a:srgbClr val="475569"/>
                </a:solidFill>
                <a:latin typeface="Plus Jakarta Sans"/>
              </a:rPr>
              <a:t>topografi</a:t>
            </a:r>
            <a:r>
              <a:rPr sz="2400" dirty="0">
                <a:solidFill>
                  <a:srgbClr val="475569"/>
                </a:solidFill>
                <a:latin typeface="Plus Jakarta Sans"/>
              </a:rPr>
              <a:t> </a:t>
            </a:r>
            <a:endParaRPr lang="en-US" sz="2400" dirty="0">
              <a:solidFill>
                <a:srgbClr val="475569"/>
              </a:solidFill>
              <a:latin typeface="Plus Jakarta Sans"/>
            </a:endParaRPr>
          </a:p>
          <a:p>
            <a:pPr algn="l"/>
            <a:r>
              <a:rPr sz="2400" dirty="0" err="1">
                <a:solidFill>
                  <a:srgbClr val="475569"/>
                </a:solidFill>
                <a:latin typeface="Plus Jakarta Sans"/>
              </a:rPr>
              <a:t>gunung</a:t>
            </a:r>
            <a:endParaRPr sz="2400" dirty="0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162E3F7-957E-67DC-1072-7A5AE051890B}"/>
              </a:ext>
            </a:extLst>
          </p:cNvPr>
          <p:cNvSpPr txBox="1"/>
          <p:nvPr/>
        </p:nvSpPr>
        <p:spPr>
          <a:xfrm>
            <a:off x="7227689" y="4138613"/>
            <a:ext cx="2166234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400" b="1" dirty="0" err="1">
                <a:solidFill>
                  <a:srgbClr val="0F172A"/>
                </a:solidFill>
                <a:latin typeface="Plus Jakarta Sans"/>
              </a:rPr>
              <a:t>Pengolahan</a:t>
            </a:r>
            <a:r>
              <a:rPr lang="en-US" sz="2400" b="1" dirty="0">
                <a:solidFill>
                  <a:srgbClr val="0F172A"/>
                </a:solidFill>
                <a:latin typeface="Plus Jakarta Sans"/>
              </a:rPr>
              <a:t> Data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2C1805F-8CCD-D2BB-3595-331CF1E57735}"/>
              </a:ext>
            </a:extLst>
          </p:cNvPr>
          <p:cNvSpPr txBox="1"/>
          <p:nvPr/>
        </p:nvSpPr>
        <p:spPr>
          <a:xfrm>
            <a:off x="6699052" y="4938713"/>
            <a:ext cx="373435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400" b="1" dirty="0">
                <a:solidFill>
                  <a:srgbClr val="0F172A"/>
                </a:solidFill>
                <a:latin typeface="Plus Jakarta Sans"/>
              </a:rPr>
              <a:t>1. </a:t>
            </a:r>
            <a:r>
              <a:rPr lang="en-US" sz="2400" b="1" dirty="0" err="1">
                <a:solidFill>
                  <a:srgbClr val="0F172A"/>
                </a:solidFill>
                <a:latin typeface="Plus Jakarta Sans"/>
              </a:rPr>
              <a:t>Downsample</a:t>
            </a:r>
            <a:r>
              <a:rPr lang="en-US" sz="2400" b="1" dirty="0">
                <a:solidFill>
                  <a:srgbClr val="0F172A"/>
                </a:solidFill>
                <a:latin typeface="Plus Jakarta Sans"/>
              </a:rPr>
              <a:t> &amp; </a:t>
            </a:r>
            <a:r>
              <a:rPr lang="en-US" sz="2400" b="1" dirty="0" err="1">
                <a:solidFill>
                  <a:srgbClr val="0F172A"/>
                </a:solidFill>
                <a:latin typeface="Plus Jakarta Sans"/>
              </a:rPr>
              <a:t>Reproyeksi</a:t>
            </a:r>
            <a:endParaRPr sz="2400" b="1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18EC260-9CEE-6E01-29E7-FACE5C6FCAFF}"/>
              </a:ext>
            </a:extLst>
          </p:cNvPr>
          <p:cNvSpPr txBox="1"/>
          <p:nvPr/>
        </p:nvSpPr>
        <p:spPr>
          <a:xfrm>
            <a:off x="6699051" y="5238750"/>
            <a:ext cx="3759362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400" dirty="0">
                <a:solidFill>
                  <a:srgbClr val="475569"/>
                </a:solidFill>
                <a:latin typeface="Plus Jakarta Sans"/>
              </a:rPr>
              <a:t>Grid DEM </a:t>
            </a:r>
            <a:r>
              <a:rPr lang="en-US" sz="2400" dirty="0" err="1">
                <a:solidFill>
                  <a:srgbClr val="475569"/>
                </a:solidFill>
                <a:latin typeface="Plus Jakarta Sans"/>
              </a:rPr>
              <a:t>maksimal</a:t>
            </a:r>
            <a:r>
              <a:rPr lang="en-US" sz="2400" dirty="0">
                <a:solidFill>
                  <a:srgbClr val="475569"/>
                </a:solidFill>
                <a:latin typeface="Plus Jakarta Sans"/>
              </a:rPr>
              <a:t> 200×200, </a:t>
            </a:r>
          </a:p>
          <a:p>
            <a:pPr algn="l"/>
            <a:r>
              <a:rPr lang="en-US" sz="2400" dirty="0">
                <a:solidFill>
                  <a:srgbClr val="475569"/>
                </a:solidFill>
                <a:latin typeface="Plus Jakarta Sans"/>
              </a:rPr>
              <a:t>CRS EPSG:4326</a:t>
            </a:r>
            <a:endParaRPr sz="2400" dirty="0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626381E-630D-1865-EE68-34C253134970}"/>
              </a:ext>
            </a:extLst>
          </p:cNvPr>
          <p:cNvSpPr txBox="1"/>
          <p:nvPr/>
        </p:nvSpPr>
        <p:spPr>
          <a:xfrm>
            <a:off x="6699052" y="6683931"/>
            <a:ext cx="3519040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dirty="0">
                <a:solidFill>
                  <a:srgbClr val="0F172A"/>
                </a:solidFill>
                <a:latin typeface="Plus Jakarta Sans"/>
              </a:rPr>
              <a:t>2. </a:t>
            </a:r>
            <a:r>
              <a:rPr lang="en-US" sz="2400" b="1" dirty="0">
                <a:solidFill>
                  <a:srgbClr val="0F172A"/>
                </a:solidFill>
                <a:latin typeface="Plus Jakarta Sans"/>
              </a:rPr>
              <a:t>Sampling </a:t>
            </a:r>
            <a:r>
              <a:rPr lang="en-US" sz="2400" b="1" dirty="0" err="1">
                <a:solidFill>
                  <a:srgbClr val="0F172A"/>
                </a:solidFill>
                <a:latin typeface="Plus Jakarta Sans"/>
              </a:rPr>
              <a:t>Elevasi</a:t>
            </a:r>
            <a:r>
              <a:rPr lang="en-US" sz="2400" b="1" dirty="0">
                <a:solidFill>
                  <a:srgbClr val="0F172A"/>
                </a:solidFill>
                <a:latin typeface="Plus Jakarta Sans"/>
              </a:rPr>
              <a:t> Hotspot</a:t>
            </a:r>
            <a:endParaRPr sz="2400" b="1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0B0BCCB-0743-021D-336E-D04B17409E0F}"/>
              </a:ext>
            </a:extLst>
          </p:cNvPr>
          <p:cNvSpPr txBox="1"/>
          <p:nvPr/>
        </p:nvSpPr>
        <p:spPr>
          <a:xfrm>
            <a:off x="6699051" y="6983968"/>
            <a:ext cx="3760197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400" dirty="0" err="1">
                <a:solidFill>
                  <a:srgbClr val="475569"/>
                </a:solidFill>
                <a:latin typeface="Plus Jakarta Sans"/>
              </a:rPr>
              <a:t>Mengambil</a:t>
            </a:r>
            <a:r>
              <a:rPr lang="en-US" sz="2400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Plus Jakarta Sans"/>
              </a:rPr>
              <a:t>elevasi</a:t>
            </a:r>
            <a:r>
              <a:rPr lang="en-US" sz="2400" dirty="0">
                <a:solidFill>
                  <a:srgbClr val="475569"/>
                </a:solidFill>
                <a:latin typeface="Plus Jakarta Sans"/>
              </a:rPr>
              <a:t> DEM pada </a:t>
            </a:r>
          </a:p>
          <a:p>
            <a:pPr algn="l"/>
            <a:r>
              <a:rPr lang="en-US" sz="2400" dirty="0" err="1">
                <a:solidFill>
                  <a:srgbClr val="475569"/>
                </a:solidFill>
                <a:latin typeface="Plus Jakarta Sans"/>
              </a:rPr>
              <a:t>lokasi</a:t>
            </a:r>
            <a:r>
              <a:rPr lang="en-US" sz="2400" dirty="0">
                <a:solidFill>
                  <a:srgbClr val="475569"/>
                </a:solidFill>
                <a:latin typeface="Plus Jakarta Sans"/>
              </a:rPr>
              <a:t> hotspot</a:t>
            </a:r>
            <a:endParaRPr sz="2400" dirty="0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67C8ABF-D3D4-DF27-6812-D40884AF01D5}"/>
              </a:ext>
            </a:extLst>
          </p:cNvPr>
          <p:cNvSpPr txBox="1"/>
          <p:nvPr/>
        </p:nvSpPr>
        <p:spPr>
          <a:xfrm>
            <a:off x="6672586" y="8480827"/>
            <a:ext cx="3538854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dirty="0">
                <a:solidFill>
                  <a:srgbClr val="0F172A"/>
                </a:solidFill>
                <a:latin typeface="Plus Jakarta Sans"/>
              </a:rPr>
              <a:t>3. </a:t>
            </a:r>
            <a:r>
              <a:rPr lang="en-US" sz="2400" b="1" dirty="0" err="1">
                <a:solidFill>
                  <a:srgbClr val="0F172A"/>
                </a:solidFill>
                <a:latin typeface="Plus Jakarta Sans"/>
              </a:rPr>
              <a:t>Triangulasi</a:t>
            </a:r>
            <a:r>
              <a:rPr lang="en-US" sz="2400" b="1" dirty="0">
                <a:solidFill>
                  <a:srgbClr val="0F172A"/>
                </a:solidFill>
                <a:latin typeface="Plus Jakarta Sans"/>
              </a:rPr>
              <a:t> &amp; Convex Hull</a:t>
            </a:r>
            <a:endParaRPr sz="2400" b="1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4BE9338-B9CD-E285-DE85-35AB7D539AED}"/>
              </a:ext>
            </a:extLst>
          </p:cNvPr>
          <p:cNvSpPr txBox="1"/>
          <p:nvPr/>
        </p:nvSpPr>
        <p:spPr>
          <a:xfrm>
            <a:off x="6672586" y="8991848"/>
            <a:ext cx="3227871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nl-NL" sz="2400" dirty="0">
                <a:solidFill>
                  <a:srgbClr val="475569"/>
                </a:solidFill>
                <a:latin typeface="Plus Jakarta Sans"/>
              </a:rPr>
              <a:t>Membentuk jaringan dan </a:t>
            </a:r>
          </a:p>
          <a:p>
            <a:pPr algn="l"/>
            <a:r>
              <a:rPr lang="nl-NL" sz="2400" dirty="0">
                <a:solidFill>
                  <a:srgbClr val="475569"/>
                </a:solidFill>
                <a:latin typeface="Plus Jakarta Sans"/>
              </a:rPr>
              <a:t>batas hotspot</a:t>
            </a:r>
            <a:endParaRPr sz="2400" dirty="0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8D111C6-C245-6074-201A-671F8586F905}"/>
              </a:ext>
            </a:extLst>
          </p:cNvPr>
          <p:cNvSpPr txBox="1"/>
          <p:nvPr/>
        </p:nvSpPr>
        <p:spPr>
          <a:xfrm>
            <a:off x="13300769" y="4138613"/>
            <a:ext cx="1324080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400" b="1" dirty="0" err="1">
                <a:solidFill>
                  <a:srgbClr val="0F172A"/>
                </a:solidFill>
                <a:latin typeface="Plus Jakarta Sans"/>
              </a:rPr>
              <a:t>Visualisasi</a:t>
            </a:r>
            <a:endParaRPr sz="2400" b="1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E4431B6-A0A8-7EA0-CE10-90B146EB7290}"/>
              </a:ext>
            </a:extLst>
          </p:cNvPr>
          <p:cNvSpPr txBox="1"/>
          <p:nvPr/>
        </p:nvSpPr>
        <p:spPr>
          <a:xfrm>
            <a:off x="12772132" y="4938713"/>
            <a:ext cx="3397084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Plus Jakarta Sans"/>
              </a:rPr>
              <a:t>1. Surface Mesh 3D Elevasi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66B8528-EFDF-27F3-A313-9EEF2B063EDE}"/>
              </a:ext>
            </a:extLst>
          </p:cNvPr>
          <p:cNvSpPr txBox="1"/>
          <p:nvPr/>
        </p:nvSpPr>
        <p:spPr>
          <a:xfrm>
            <a:off x="12772131" y="5238750"/>
            <a:ext cx="394396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400" dirty="0" err="1">
                <a:solidFill>
                  <a:srgbClr val="475569"/>
                </a:solidFill>
                <a:latin typeface="Plus Jakarta Sans"/>
              </a:rPr>
              <a:t>Visualisasi</a:t>
            </a:r>
            <a:r>
              <a:rPr lang="en-US" sz="2400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Plus Jakarta Sans"/>
              </a:rPr>
              <a:t>topografi</a:t>
            </a:r>
            <a:r>
              <a:rPr lang="en-US" sz="2400" dirty="0">
                <a:solidFill>
                  <a:srgbClr val="475569"/>
                </a:solidFill>
                <a:latin typeface="Plus Jakarta Sans"/>
              </a:rPr>
              <a:t> dan </a:t>
            </a:r>
            <a:r>
              <a:rPr lang="en-US" sz="2400" dirty="0" err="1">
                <a:solidFill>
                  <a:srgbClr val="475569"/>
                </a:solidFill>
                <a:latin typeface="Plus Jakarta Sans"/>
              </a:rPr>
              <a:t>elevasi</a:t>
            </a:r>
            <a:endParaRPr sz="2400" dirty="0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55FE6FC-B26C-1FB5-F347-052C385B5338}"/>
              </a:ext>
            </a:extLst>
          </p:cNvPr>
          <p:cNvSpPr txBox="1"/>
          <p:nvPr/>
        </p:nvSpPr>
        <p:spPr>
          <a:xfrm>
            <a:off x="12772131" y="5895975"/>
            <a:ext cx="306359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dirty="0">
                <a:solidFill>
                  <a:srgbClr val="0F172A"/>
                </a:solidFill>
                <a:latin typeface="Plus Jakarta Sans"/>
              </a:rPr>
              <a:t>2. </a:t>
            </a:r>
            <a:r>
              <a:rPr lang="en-US" sz="2400" b="1" dirty="0">
                <a:solidFill>
                  <a:srgbClr val="0F172A"/>
                </a:solidFill>
                <a:latin typeface="Plus Jakarta Sans"/>
              </a:rPr>
              <a:t>Hotspot &amp; </a:t>
            </a:r>
            <a:r>
              <a:rPr lang="en-US" sz="2400" b="1" dirty="0" err="1">
                <a:solidFill>
                  <a:srgbClr val="0F172A"/>
                </a:solidFill>
                <a:latin typeface="Plus Jakarta Sans"/>
              </a:rPr>
              <a:t>Triangulasi</a:t>
            </a:r>
            <a:endParaRPr sz="2400" b="1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A8174EB-D417-6812-B2C0-51EF8928705A}"/>
              </a:ext>
            </a:extLst>
          </p:cNvPr>
          <p:cNvSpPr txBox="1"/>
          <p:nvPr/>
        </p:nvSpPr>
        <p:spPr>
          <a:xfrm>
            <a:off x="12772132" y="6196012"/>
            <a:ext cx="374442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400" dirty="0" err="1">
                <a:solidFill>
                  <a:srgbClr val="475569"/>
                </a:solidFill>
                <a:latin typeface="Plus Jakarta Sans"/>
              </a:rPr>
              <a:t>Titik</a:t>
            </a:r>
            <a:r>
              <a:rPr lang="en-US" sz="2400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Plus Jakarta Sans"/>
              </a:rPr>
              <a:t>suhu</a:t>
            </a:r>
            <a:r>
              <a:rPr lang="en-US" sz="2400" dirty="0">
                <a:solidFill>
                  <a:srgbClr val="475569"/>
                </a:solidFill>
                <a:latin typeface="Plus Jakarta Sans"/>
              </a:rPr>
              <a:t> + </a:t>
            </a:r>
            <a:r>
              <a:rPr lang="en-US" sz="2400" dirty="0" err="1">
                <a:solidFill>
                  <a:srgbClr val="475569"/>
                </a:solidFill>
                <a:latin typeface="Plus Jakarta Sans"/>
              </a:rPr>
              <a:t>jaringan</a:t>
            </a:r>
            <a:r>
              <a:rPr lang="en-US" sz="2400" dirty="0">
                <a:solidFill>
                  <a:srgbClr val="475569"/>
                </a:solidFill>
                <a:latin typeface="Plus Jakarta Sans"/>
              </a:rPr>
              <a:t> Delaunay</a:t>
            </a:r>
            <a:endParaRPr sz="2400" dirty="0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BC795D3-9D7F-0BED-4756-D6AE3A9B53C3}"/>
              </a:ext>
            </a:extLst>
          </p:cNvPr>
          <p:cNvSpPr txBox="1"/>
          <p:nvPr/>
        </p:nvSpPr>
        <p:spPr>
          <a:xfrm>
            <a:off x="12772132" y="6853238"/>
            <a:ext cx="3264548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dirty="0">
                <a:solidFill>
                  <a:srgbClr val="0F172A"/>
                </a:solidFill>
                <a:latin typeface="Plus Jakarta Sans"/>
              </a:rPr>
              <a:t>3. </a:t>
            </a:r>
            <a:r>
              <a:rPr lang="en-US" sz="2400" b="1" dirty="0">
                <a:solidFill>
                  <a:srgbClr val="0F172A"/>
                </a:solidFill>
                <a:latin typeface="Plus Jakarta Sans"/>
              </a:rPr>
              <a:t>Convex Hull &amp; </a:t>
            </a:r>
            <a:r>
              <a:rPr lang="en-US" sz="2400" b="1" dirty="0" err="1">
                <a:solidFill>
                  <a:srgbClr val="0F172A"/>
                </a:solidFill>
                <a:latin typeface="Plus Jakarta Sans"/>
              </a:rPr>
              <a:t>Interaksi</a:t>
            </a:r>
            <a:endParaRPr sz="2400" b="1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2274884-79D2-3625-49D0-AD4A47C9C971}"/>
              </a:ext>
            </a:extLst>
          </p:cNvPr>
          <p:cNvSpPr txBox="1"/>
          <p:nvPr/>
        </p:nvSpPr>
        <p:spPr>
          <a:xfrm>
            <a:off x="12772132" y="7153275"/>
            <a:ext cx="337502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400" dirty="0">
                <a:solidFill>
                  <a:srgbClr val="475569"/>
                </a:solidFill>
                <a:latin typeface="Plus Jakarta Sans"/>
              </a:rPr>
              <a:t>Batas area + Rotate / Zoom</a:t>
            </a:r>
            <a:endParaRPr sz="2400" dirty="0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0B411-035F-1350-BA2A-C8AC3CAC9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1FBFA38-7435-F0DE-A977-DC18370987E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7888" b="-27888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1A0BFBF-2B87-B744-2104-B78680C4525B}"/>
              </a:ext>
            </a:extLst>
          </p:cNvPr>
          <p:cNvGrpSpPr/>
          <p:nvPr/>
        </p:nvGrpSpPr>
        <p:grpSpPr>
          <a:xfrm>
            <a:off x="0" y="0"/>
            <a:ext cx="18809123" cy="7520057"/>
            <a:chOff x="0" y="0"/>
            <a:chExt cx="2914025" cy="116505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FC2B2E8-3705-951B-E51E-780489E60DAC}"/>
                </a:ext>
              </a:extLst>
            </p:cNvPr>
            <p:cNvSpPr/>
            <p:nvPr/>
          </p:nvSpPr>
          <p:spPr>
            <a:xfrm>
              <a:off x="0" y="0"/>
              <a:ext cx="2914025" cy="1165054"/>
            </a:xfrm>
            <a:custGeom>
              <a:avLst/>
              <a:gdLst/>
              <a:ahLst/>
              <a:cxnLst/>
              <a:rect l="l" t="t" r="r" b="b"/>
              <a:pathLst>
                <a:path w="2914025" h="1165054">
                  <a:moveTo>
                    <a:pt x="9467" y="0"/>
                  </a:moveTo>
                  <a:lnTo>
                    <a:pt x="2904559" y="0"/>
                  </a:lnTo>
                  <a:cubicBezTo>
                    <a:pt x="2909787" y="0"/>
                    <a:pt x="2914025" y="4238"/>
                    <a:pt x="2914025" y="9467"/>
                  </a:cubicBezTo>
                  <a:lnTo>
                    <a:pt x="2914025" y="1155587"/>
                  </a:lnTo>
                  <a:cubicBezTo>
                    <a:pt x="2914025" y="1158098"/>
                    <a:pt x="2913028" y="1160506"/>
                    <a:pt x="2911253" y="1162281"/>
                  </a:cubicBezTo>
                  <a:cubicBezTo>
                    <a:pt x="2909477" y="1164056"/>
                    <a:pt x="2907069" y="1165054"/>
                    <a:pt x="2904559" y="1165054"/>
                  </a:cubicBezTo>
                  <a:lnTo>
                    <a:pt x="9467" y="1165054"/>
                  </a:lnTo>
                  <a:cubicBezTo>
                    <a:pt x="6956" y="1165054"/>
                    <a:pt x="4548" y="1164056"/>
                    <a:pt x="2773" y="1162281"/>
                  </a:cubicBezTo>
                  <a:cubicBezTo>
                    <a:pt x="997" y="1160506"/>
                    <a:pt x="0" y="1158098"/>
                    <a:pt x="0" y="1155587"/>
                  </a:cubicBezTo>
                  <a:lnTo>
                    <a:pt x="0" y="9467"/>
                  </a:lnTo>
                  <a:cubicBezTo>
                    <a:pt x="0" y="6956"/>
                    <a:pt x="997" y="4548"/>
                    <a:pt x="2773" y="2773"/>
                  </a:cubicBezTo>
                  <a:cubicBezTo>
                    <a:pt x="4548" y="997"/>
                    <a:pt x="6956" y="0"/>
                    <a:pt x="9467" y="0"/>
                  </a:cubicBezTo>
                  <a:close/>
                </a:path>
              </a:pathLst>
            </a:custGeom>
            <a:blipFill>
              <a:blip r:embed="rId3"/>
              <a:stretch>
                <a:fillRect t="-7840" b="-7840"/>
              </a:stretch>
            </a:blipFill>
          </p:spPr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1F2D3014-54D0-8334-BE3E-A1B63158EB7C}"/>
              </a:ext>
            </a:extLst>
          </p:cNvPr>
          <p:cNvSpPr/>
          <p:nvPr/>
        </p:nvSpPr>
        <p:spPr>
          <a:xfrm>
            <a:off x="-1385939" y="2606869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0" y="0"/>
                </a:moveTo>
                <a:lnTo>
                  <a:pt x="3800578" y="0"/>
                </a:lnTo>
                <a:lnTo>
                  <a:pt x="38005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3BE3941-97AC-E323-41DC-7F499DA1C075}"/>
              </a:ext>
            </a:extLst>
          </p:cNvPr>
          <p:cNvSpPr/>
          <p:nvPr/>
        </p:nvSpPr>
        <p:spPr>
          <a:xfrm>
            <a:off x="15873361" y="2606869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0" y="0"/>
                </a:moveTo>
                <a:lnTo>
                  <a:pt x="3800578" y="0"/>
                </a:lnTo>
                <a:lnTo>
                  <a:pt x="38005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027BFE2-E024-4A7A-5352-A94E78B76FE4}"/>
              </a:ext>
            </a:extLst>
          </p:cNvPr>
          <p:cNvSpPr txBox="1"/>
          <p:nvPr/>
        </p:nvSpPr>
        <p:spPr>
          <a:xfrm>
            <a:off x="1907833" y="7825387"/>
            <a:ext cx="15351467" cy="1152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14"/>
              </a:lnSpc>
            </a:pPr>
            <a:r>
              <a:rPr lang="en-US" sz="7639" b="1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IMPLEMENTASI DASHBOARD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9EEC6A5-D589-1516-7E51-7439CB14F53B}"/>
              </a:ext>
            </a:extLst>
          </p:cNvPr>
          <p:cNvSpPr txBox="1"/>
          <p:nvPr/>
        </p:nvSpPr>
        <p:spPr>
          <a:xfrm>
            <a:off x="3397809" y="9006840"/>
            <a:ext cx="12013506" cy="531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  <a:spcBef>
                <a:spcPct val="0"/>
              </a:spcBef>
            </a:pPr>
            <a:r>
              <a:rPr lang="en-US" sz="200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Pengguna memilih gunung dan periode pengamatan untuk melihat hasil estimasi dari data MODIS.</a:t>
            </a:r>
          </a:p>
          <a:p>
            <a:pPr algn="l">
              <a:lnSpc>
                <a:spcPts val="2040"/>
              </a:lnSpc>
              <a:spcBef>
                <a:spcPct val="0"/>
              </a:spcBef>
            </a:pPr>
            <a:endParaRPr lang="en-US" sz="2000">
              <a:solidFill>
                <a:srgbClr val="30444F"/>
              </a:solidFill>
              <a:latin typeface="Be Vietnam"/>
              <a:ea typeface="Be Vietnam"/>
              <a:cs typeface="Be Vietnam"/>
              <a:sym typeface="Be Vietnam"/>
            </a:endParaRPr>
          </a:p>
        </p:txBody>
      </p:sp>
    </p:spTree>
    <p:extLst>
      <p:ext uri="{BB962C8B-B14F-4D97-AF65-F5344CB8AC3E}">
        <p14:creationId xmlns:p14="http://schemas.microsoft.com/office/powerpoint/2010/main" val="3126907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7888" b="-27888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7243711" y="8229600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3800578" y="0"/>
                </a:moveTo>
                <a:lnTo>
                  <a:pt x="0" y="0"/>
                </a:lnTo>
                <a:lnTo>
                  <a:pt x="0" y="4114800"/>
                </a:lnTo>
                <a:lnTo>
                  <a:pt x="3800578" y="4114800"/>
                </a:lnTo>
                <a:lnTo>
                  <a:pt x="380057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3114341" y="290059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3800579" y="0"/>
                </a:moveTo>
                <a:lnTo>
                  <a:pt x="0" y="0"/>
                </a:lnTo>
                <a:lnTo>
                  <a:pt x="0" y="4114800"/>
                </a:lnTo>
                <a:lnTo>
                  <a:pt x="3800579" y="4114800"/>
                </a:lnTo>
                <a:lnTo>
                  <a:pt x="380057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7259300" y="290059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3800579" y="0"/>
                </a:moveTo>
                <a:lnTo>
                  <a:pt x="0" y="0"/>
                </a:lnTo>
                <a:lnTo>
                  <a:pt x="0" y="4114800"/>
                </a:lnTo>
                <a:lnTo>
                  <a:pt x="3800579" y="4114800"/>
                </a:lnTo>
                <a:lnTo>
                  <a:pt x="380057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-2905831" y="659210"/>
            <a:ext cx="10837753" cy="1501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799"/>
              </a:lnSpc>
            </a:pPr>
            <a:r>
              <a:rPr lang="en-US" sz="9999" b="1" dirty="0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Dashboard </a:t>
            </a:r>
          </a:p>
        </p:txBody>
      </p:sp>
      <p:sp>
        <p:nvSpPr>
          <p:cNvPr id="8" name="Freeform 8"/>
          <p:cNvSpPr/>
          <p:nvPr/>
        </p:nvSpPr>
        <p:spPr>
          <a:xfrm>
            <a:off x="1405010" y="2150099"/>
            <a:ext cx="6975263" cy="7939541"/>
          </a:xfrm>
          <a:custGeom>
            <a:avLst/>
            <a:gdLst/>
            <a:ahLst/>
            <a:cxnLst/>
            <a:rect l="l" t="t" r="r" b="b"/>
            <a:pathLst>
              <a:path w="6975263" h="7939541">
                <a:moveTo>
                  <a:pt x="0" y="0"/>
                </a:moveTo>
                <a:lnTo>
                  <a:pt x="6975263" y="0"/>
                </a:lnTo>
                <a:lnTo>
                  <a:pt x="6975263" y="7939542"/>
                </a:lnTo>
                <a:lnTo>
                  <a:pt x="0" y="79395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436" b="-159816"/>
            </a:stretch>
          </a:blipFill>
        </p:spPr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F7A2797-E76A-FE81-8811-DFD501F34F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6666"/>
          <a:stretch>
            <a:fillRect/>
          </a:stretch>
        </p:blipFill>
        <p:spPr>
          <a:xfrm>
            <a:off x="11628044" y="481447"/>
            <a:ext cx="5763253" cy="93241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7888" b="-27888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144000" y="-1429514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0" y="0"/>
                </a:moveTo>
                <a:lnTo>
                  <a:pt x="3800579" y="0"/>
                </a:lnTo>
                <a:lnTo>
                  <a:pt x="38005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676400" y="4861211"/>
            <a:ext cx="9610890" cy="564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sz="6600" b="1" dirty="0" err="1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Visualisasi</a:t>
            </a:r>
            <a:r>
              <a:rPr lang="en-US" sz="6600" b="1" dirty="0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 </a:t>
            </a:r>
            <a:r>
              <a:rPr lang="en-US" sz="6600" b="1" dirty="0" err="1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Unduh</a:t>
            </a:r>
            <a:r>
              <a:rPr lang="en-US" sz="6600" b="1" dirty="0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 PNG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A59962F-BF90-7346-CF7A-2C1AA56AB80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3477" y="781050"/>
            <a:ext cx="6252089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BDEBD-A2DD-B2C4-FE82-5221B4E4E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08693E7-D64D-9F30-0AE9-E10BEF71E52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7888" b="-27888"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772B1EDF-B196-30D7-A8BD-7B13443E2349}"/>
              </a:ext>
            </a:extLst>
          </p:cNvPr>
          <p:cNvGrpSpPr/>
          <p:nvPr/>
        </p:nvGrpSpPr>
        <p:grpSpPr>
          <a:xfrm>
            <a:off x="8763000" y="5418563"/>
            <a:ext cx="9247812" cy="4515614"/>
            <a:chOff x="0" y="0"/>
            <a:chExt cx="1432728" cy="6995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4B53059-DD42-D392-9845-F9D29AFF98AE}"/>
                </a:ext>
              </a:extLst>
            </p:cNvPr>
            <p:cNvSpPr/>
            <p:nvPr/>
          </p:nvSpPr>
          <p:spPr>
            <a:xfrm>
              <a:off x="0" y="0"/>
              <a:ext cx="1432728" cy="699587"/>
            </a:xfrm>
            <a:custGeom>
              <a:avLst/>
              <a:gdLst/>
              <a:ahLst/>
              <a:cxnLst/>
              <a:rect l="l" t="t" r="r" b="b"/>
              <a:pathLst>
                <a:path w="1432728" h="699587">
                  <a:moveTo>
                    <a:pt x="19255" y="0"/>
                  </a:moveTo>
                  <a:lnTo>
                    <a:pt x="1413473" y="0"/>
                  </a:lnTo>
                  <a:cubicBezTo>
                    <a:pt x="1418580" y="0"/>
                    <a:pt x="1423478" y="2029"/>
                    <a:pt x="1427088" y="5640"/>
                  </a:cubicBezTo>
                  <a:cubicBezTo>
                    <a:pt x="1430699" y="9251"/>
                    <a:pt x="1432728" y="14148"/>
                    <a:pt x="1432728" y="19255"/>
                  </a:cubicBezTo>
                  <a:lnTo>
                    <a:pt x="1432728" y="680332"/>
                  </a:lnTo>
                  <a:cubicBezTo>
                    <a:pt x="1432728" y="685439"/>
                    <a:pt x="1430699" y="690336"/>
                    <a:pt x="1427088" y="693947"/>
                  </a:cubicBezTo>
                  <a:cubicBezTo>
                    <a:pt x="1423478" y="697558"/>
                    <a:pt x="1418580" y="699587"/>
                    <a:pt x="1413473" y="699587"/>
                  </a:cubicBezTo>
                  <a:lnTo>
                    <a:pt x="19255" y="699587"/>
                  </a:lnTo>
                  <a:cubicBezTo>
                    <a:pt x="14148" y="699587"/>
                    <a:pt x="9251" y="697558"/>
                    <a:pt x="5640" y="693947"/>
                  </a:cubicBezTo>
                  <a:cubicBezTo>
                    <a:pt x="2029" y="690336"/>
                    <a:pt x="0" y="685439"/>
                    <a:pt x="0" y="680332"/>
                  </a:cubicBezTo>
                  <a:lnTo>
                    <a:pt x="0" y="19255"/>
                  </a:lnTo>
                  <a:cubicBezTo>
                    <a:pt x="0" y="14148"/>
                    <a:pt x="2029" y="9251"/>
                    <a:pt x="5640" y="5640"/>
                  </a:cubicBezTo>
                  <a:cubicBezTo>
                    <a:pt x="9251" y="2029"/>
                    <a:pt x="14148" y="0"/>
                    <a:pt x="19255" y="0"/>
                  </a:cubicBezTo>
                  <a:close/>
                </a:path>
              </a:pathLst>
            </a:custGeom>
            <a:blipFill>
              <a:blip r:embed="rId3"/>
              <a:stretch>
                <a:fillRect t="-12782" b="-12782"/>
              </a:stretch>
            </a:blipFill>
          </p:spPr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E80D141-A2FB-C9D4-1FFC-DF7414370441}"/>
              </a:ext>
            </a:extLst>
          </p:cNvPr>
          <p:cNvSpPr/>
          <p:nvPr/>
        </p:nvSpPr>
        <p:spPr>
          <a:xfrm>
            <a:off x="9144000" y="-1429514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0" y="0"/>
                </a:moveTo>
                <a:lnTo>
                  <a:pt x="3800579" y="0"/>
                </a:lnTo>
                <a:lnTo>
                  <a:pt x="38005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125E3A3-B342-C308-3D19-78B310CD6889}"/>
              </a:ext>
            </a:extLst>
          </p:cNvPr>
          <p:cNvSpPr/>
          <p:nvPr/>
        </p:nvSpPr>
        <p:spPr>
          <a:xfrm>
            <a:off x="270597" y="663189"/>
            <a:ext cx="10230462" cy="4092185"/>
          </a:xfrm>
          <a:custGeom>
            <a:avLst/>
            <a:gdLst/>
            <a:ahLst/>
            <a:cxnLst/>
            <a:rect l="l" t="t" r="r" b="b"/>
            <a:pathLst>
              <a:path w="10230462" h="4092185">
                <a:moveTo>
                  <a:pt x="0" y="0"/>
                </a:moveTo>
                <a:lnTo>
                  <a:pt x="10230463" y="0"/>
                </a:lnTo>
                <a:lnTo>
                  <a:pt x="10230463" y="4092185"/>
                </a:lnTo>
                <a:lnTo>
                  <a:pt x="0" y="40921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180D8D6-E05E-18D5-5B97-02687A6F892F}"/>
              </a:ext>
            </a:extLst>
          </p:cNvPr>
          <p:cNvSpPr txBox="1"/>
          <p:nvPr/>
        </p:nvSpPr>
        <p:spPr>
          <a:xfrm>
            <a:off x="9382290" y="2048368"/>
            <a:ext cx="9610890" cy="1393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5"/>
              </a:lnSpc>
            </a:pPr>
            <a:r>
              <a:rPr lang="en-US" sz="5400" b="1" dirty="0" err="1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Visualisasi</a:t>
            </a:r>
            <a:r>
              <a:rPr lang="en-US" sz="5400" b="1" dirty="0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 </a:t>
            </a:r>
          </a:p>
          <a:p>
            <a:pPr algn="ctr">
              <a:lnSpc>
                <a:spcPts val="3365"/>
              </a:lnSpc>
            </a:pPr>
            <a:endParaRPr lang="en-US" sz="5400" b="1" dirty="0">
              <a:solidFill>
                <a:srgbClr val="30444F"/>
              </a:solidFill>
              <a:latin typeface="Atkinson Hyperlegible Bold"/>
              <a:ea typeface="Atkinson Hyperlegible Bold"/>
              <a:cs typeface="Atkinson Hyperlegible Bold"/>
              <a:sym typeface="Atkinson Hyperlegible Bold"/>
            </a:endParaRPr>
          </a:p>
          <a:p>
            <a:pPr algn="ctr">
              <a:lnSpc>
                <a:spcPts val="3365"/>
              </a:lnSpc>
            </a:pPr>
            <a:r>
              <a:rPr lang="en-US" sz="5400" b="1" dirty="0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Data Modis </a:t>
            </a: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324608F1-D663-D9FD-A3AE-8851BEFC099F}"/>
              </a:ext>
            </a:extLst>
          </p:cNvPr>
          <p:cNvSpPr txBox="1"/>
          <p:nvPr/>
        </p:nvSpPr>
        <p:spPr>
          <a:xfrm>
            <a:off x="-228600" y="6803742"/>
            <a:ext cx="9610890" cy="1393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5"/>
              </a:lnSpc>
            </a:pPr>
            <a:r>
              <a:rPr lang="en-US" sz="5400" b="1" dirty="0" err="1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Visualisasi</a:t>
            </a:r>
            <a:r>
              <a:rPr lang="en-US" sz="5400" b="1" dirty="0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 </a:t>
            </a:r>
          </a:p>
          <a:p>
            <a:pPr algn="ctr">
              <a:lnSpc>
                <a:spcPts val="3365"/>
              </a:lnSpc>
            </a:pPr>
            <a:endParaRPr lang="en-US" sz="5400" b="1" dirty="0">
              <a:solidFill>
                <a:srgbClr val="30444F"/>
              </a:solidFill>
              <a:latin typeface="Atkinson Hyperlegible Bold"/>
              <a:ea typeface="Atkinson Hyperlegible Bold"/>
              <a:cs typeface="Atkinson Hyperlegible Bold"/>
              <a:sym typeface="Atkinson Hyperlegible Bold"/>
            </a:endParaRPr>
          </a:p>
          <a:p>
            <a:pPr algn="ctr">
              <a:lnSpc>
                <a:spcPts val="3365"/>
              </a:lnSpc>
            </a:pPr>
            <a:r>
              <a:rPr lang="en-US" sz="5400" b="1" dirty="0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Detail </a:t>
            </a:r>
            <a:r>
              <a:rPr lang="en-US" sz="5400" b="1" dirty="0" err="1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Perhitungan</a:t>
            </a:r>
            <a:endParaRPr lang="en-US" sz="5400" b="1" dirty="0">
              <a:solidFill>
                <a:srgbClr val="30444F"/>
              </a:solidFill>
              <a:latin typeface="Atkinson Hyperlegible Bold"/>
              <a:ea typeface="Atkinson Hyperlegible Bold"/>
              <a:cs typeface="Atkinson Hyperlegible Bold"/>
              <a:sym typeface="Atkinson Hyperlegible Bold"/>
            </a:endParaRPr>
          </a:p>
        </p:txBody>
      </p:sp>
    </p:spTree>
    <p:extLst>
      <p:ext uri="{BB962C8B-B14F-4D97-AF65-F5344CB8AC3E}">
        <p14:creationId xmlns:p14="http://schemas.microsoft.com/office/powerpoint/2010/main" val="23318679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7888" b="-27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771879" y="4563297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0" y="0"/>
                </a:moveTo>
                <a:lnTo>
                  <a:pt x="3800579" y="0"/>
                </a:lnTo>
                <a:lnTo>
                  <a:pt x="38005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7259300" y="4563297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3800579" y="0"/>
                </a:moveTo>
                <a:lnTo>
                  <a:pt x="0" y="0"/>
                </a:lnTo>
                <a:lnTo>
                  <a:pt x="0" y="4114800"/>
                </a:lnTo>
                <a:lnTo>
                  <a:pt x="3800579" y="4114800"/>
                </a:lnTo>
                <a:lnTo>
                  <a:pt x="380057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84921" y="3480810"/>
            <a:ext cx="7310075" cy="3325380"/>
          </a:xfrm>
          <a:custGeom>
            <a:avLst/>
            <a:gdLst/>
            <a:ahLst/>
            <a:cxnLst/>
            <a:rect l="l" t="t" r="r" b="b"/>
            <a:pathLst>
              <a:path w="7310075" h="3325380">
                <a:moveTo>
                  <a:pt x="0" y="0"/>
                </a:moveTo>
                <a:lnTo>
                  <a:pt x="7310074" y="0"/>
                </a:lnTo>
                <a:lnTo>
                  <a:pt x="7310074" y="3325380"/>
                </a:lnTo>
                <a:lnTo>
                  <a:pt x="0" y="33253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669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84921" y="649137"/>
            <a:ext cx="13503052" cy="2295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14"/>
              </a:lnSpc>
            </a:pPr>
            <a:r>
              <a:rPr lang="en-US" sz="7639" b="1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Visualisasi </a:t>
            </a:r>
          </a:p>
          <a:p>
            <a:pPr algn="just">
              <a:lnSpc>
                <a:spcPts val="9014"/>
              </a:lnSpc>
            </a:pPr>
            <a:r>
              <a:rPr lang="en-US" sz="7639" b="1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Monitor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BE2C4B-048C-4CA1-44CF-BFF271E7C6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3362" y="438150"/>
            <a:ext cx="8793152" cy="94107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C0572-22BF-58E8-F287-6024EF959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FB10B87-2DFD-6003-51FF-782397A2B7C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7888" b="-27888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CC47FB7-D5FE-1A35-2514-D1B6B56006D9}"/>
              </a:ext>
            </a:extLst>
          </p:cNvPr>
          <p:cNvSpPr/>
          <p:nvPr/>
        </p:nvSpPr>
        <p:spPr>
          <a:xfrm>
            <a:off x="-2771879" y="4563297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0" y="0"/>
                </a:moveTo>
                <a:lnTo>
                  <a:pt x="3800579" y="0"/>
                </a:lnTo>
                <a:lnTo>
                  <a:pt x="38005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4D1BD39-10EF-4615-95DB-6EA28C07CE73}"/>
              </a:ext>
            </a:extLst>
          </p:cNvPr>
          <p:cNvSpPr/>
          <p:nvPr/>
        </p:nvSpPr>
        <p:spPr>
          <a:xfrm flipH="1">
            <a:off x="17259300" y="4563297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3800579" y="0"/>
                </a:moveTo>
                <a:lnTo>
                  <a:pt x="0" y="0"/>
                </a:lnTo>
                <a:lnTo>
                  <a:pt x="0" y="4114800"/>
                </a:lnTo>
                <a:lnTo>
                  <a:pt x="3800579" y="4114800"/>
                </a:lnTo>
                <a:lnTo>
                  <a:pt x="380057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6F279B1-3B60-B185-6F36-9266D7525CF3}"/>
              </a:ext>
            </a:extLst>
          </p:cNvPr>
          <p:cNvSpPr txBox="1"/>
          <p:nvPr/>
        </p:nvSpPr>
        <p:spPr>
          <a:xfrm>
            <a:off x="784921" y="649137"/>
            <a:ext cx="13503052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14"/>
              </a:lnSpc>
            </a:pPr>
            <a:r>
              <a:rPr lang="en-US" sz="7639" b="1" dirty="0" err="1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Visualisasi</a:t>
            </a:r>
            <a:r>
              <a:rPr lang="en-US" sz="7639" b="1" dirty="0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 </a:t>
            </a:r>
            <a:r>
              <a:rPr lang="en-US" sz="7639" b="1" dirty="0" err="1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Unduh</a:t>
            </a:r>
            <a:r>
              <a:rPr lang="en-US" sz="7639" b="1" dirty="0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 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5A6F1F-493C-DED2-2ED7-0C689B65E7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1991913"/>
            <a:ext cx="15430500" cy="7877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117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592411" y="1329493"/>
            <a:ext cx="15103177" cy="4156196"/>
            <a:chOff x="0" y="0"/>
            <a:chExt cx="2339877" cy="6439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77" cy="643904"/>
            </a:xfrm>
            <a:custGeom>
              <a:avLst/>
              <a:gdLst/>
              <a:ahLst/>
              <a:cxnLst/>
              <a:rect l="l" t="t" r="r" b="b"/>
              <a:pathLst>
                <a:path w="2339877" h="643904">
                  <a:moveTo>
                    <a:pt x="11790" y="0"/>
                  </a:moveTo>
                  <a:lnTo>
                    <a:pt x="2328088" y="0"/>
                  </a:lnTo>
                  <a:cubicBezTo>
                    <a:pt x="2331214" y="0"/>
                    <a:pt x="2334213" y="1242"/>
                    <a:pt x="2336424" y="3453"/>
                  </a:cubicBezTo>
                  <a:cubicBezTo>
                    <a:pt x="2338635" y="5664"/>
                    <a:pt x="2339877" y="8663"/>
                    <a:pt x="2339877" y="11790"/>
                  </a:cubicBezTo>
                  <a:lnTo>
                    <a:pt x="2339877" y="632114"/>
                  </a:lnTo>
                  <a:cubicBezTo>
                    <a:pt x="2339877" y="635241"/>
                    <a:pt x="2338635" y="638239"/>
                    <a:pt x="2336424" y="640450"/>
                  </a:cubicBezTo>
                  <a:cubicBezTo>
                    <a:pt x="2334213" y="642661"/>
                    <a:pt x="2331214" y="643904"/>
                    <a:pt x="2328088" y="643904"/>
                  </a:cubicBezTo>
                  <a:lnTo>
                    <a:pt x="11790" y="643904"/>
                  </a:lnTo>
                  <a:cubicBezTo>
                    <a:pt x="8663" y="643904"/>
                    <a:pt x="5664" y="642661"/>
                    <a:pt x="3453" y="640450"/>
                  </a:cubicBezTo>
                  <a:cubicBezTo>
                    <a:pt x="1242" y="638239"/>
                    <a:pt x="0" y="635241"/>
                    <a:pt x="0" y="632114"/>
                  </a:cubicBezTo>
                  <a:lnTo>
                    <a:pt x="0" y="11790"/>
                  </a:lnTo>
                  <a:cubicBezTo>
                    <a:pt x="0" y="8663"/>
                    <a:pt x="1242" y="5664"/>
                    <a:pt x="3453" y="3453"/>
                  </a:cubicBezTo>
                  <a:cubicBezTo>
                    <a:pt x="5664" y="1242"/>
                    <a:pt x="8663" y="0"/>
                    <a:pt x="11790" y="0"/>
                  </a:cubicBezTo>
                  <a:close/>
                </a:path>
              </a:pathLst>
            </a:custGeom>
            <a:blipFill>
              <a:blip r:embed="rId2"/>
              <a:stretch>
                <a:fillRect t="-11776" b="-11776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-2771879" y="4563297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0" y="0"/>
                </a:moveTo>
                <a:lnTo>
                  <a:pt x="3800579" y="0"/>
                </a:lnTo>
                <a:lnTo>
                  <a:pt x="38005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7259300" y="4563297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3800579" y="0"/>
                </a:moveTo>
                <a:lnTo>
                  <a:pt x="0" y="0"/>
                </a:lnTo>
                <a:lnTo>
                  <a:pt x="0" y="4114800"/>
                </a:lnTo>
                <a:lnTo>
                  <a:pt x="3800579" y="4114800"/>
                </a:lnTo>
                <a:lnTo>
                  <a:pt x="380057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92411" y="6350593"/>
            <a:ext cx="14709596" cy="124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19"/>
              </a:lnSpc>
            </a:pPr>
            <a:r>
              <a:rPr lang="en-US" sz="8321" b="1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KENDALA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92411" y="7862502"/>
            <a:ext cx="15103177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Server MODIS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tidak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dapat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diakses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saat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ini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,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sehingga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proses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pengambilan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data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terhenti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7888" b="-27888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385939" y="2606869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0" y="0"/>
                </a:moveTo>
                <a:lnTo>
                  <a:pt x="3800578" y="0"/>
                </a:lnTo>
                <a:lnTo>
                  <a:pt x="38005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873361" y="2606869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0" y="0"/>
                </a:moveTo>
                <a:lnTo>
                  <a:pt x="3800578" y="0"/>
                </a:lnTo>
                <a:lnTo>
                  <a:pt x="38005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609861" y="1475762"/>
            <a:ext cx="15351467" cy="1152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14"/>
              </a:lnSpc>
            </a:pPr>
            <a:r>
              <a:rPr lang="en-US" sz="7639" b="1" dirty="0">
                <a:solidFill>
                  <a:srgbClr val="30444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KESIMPULAN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BAD6297E-880E-4DC5-E4AF-B89534930F96}"/>
              </a:ext>
            </a:extLst>
          </p:cNvPr>
          <p:cNvSpPr txBox="1"/>
          <p:nvPr/>
        </p:nvSpPr>
        <p:spPr>
          <a:xfrm>
            <a:off x="2145333" y="3765190"/>
            <a:ext cx="13728028" cy="51937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 algn="just">
              <a:lnSpc>
                <a:spcPts val="2659"/>
              </a:lnSpc>
              <a:buFont typeface="+mj-lt"/>
              <a:buAutoNum type="arabicPeriod"/>
            </a:pP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Sistem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pemantauan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berhasil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dikembangkan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untuk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mengolah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dan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menyajikan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data hotspot MODIS pada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Gunung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Ibu dan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Gunung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Lewotolok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melalui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dashboard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berbasis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web. </a:t>
            </a:r>
          </a:p>
          <a:p>
            <a:pPr marL="514350" indent="-514350" algn="just">
              <a:lnSpc>
                <a:spcPts val="2659"/>
              </a:lnSpc>
              <a:buFont typeface="+mj-lt"/>
              <a:buAutoNum type="arabicPeriod"/>
            </a:pPr>
            <a:endParaRPr lang="en-US" sz="2800" dirty="0">
              <a:solidFill>
                <a:srgbClr val="30444F"/>
              </a:solidFill>
              <a:latin typeface="Be Vietnam"/>
              <a:ea typeface="Be Vietnam"/>
              <a:cs typeface="Be Vietnam"/>
              <a:sym typeface="Be Vietnam"/>
            </a:endParaRPr>
          </a:p>
          <a:p>
            <a:pPr marL="514350" indent="-514350" algn="just">
              <a:lnSpc>
                <a:spcPts val="2659"/>
              </a:lnSpc>
              <a:buFont typeface="+mj-lt"/>
              <a:buAutoNum type="arabicPeriod"/>
            </a:pP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Pengumpulan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data MODIS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dilakukan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secara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otomatis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menggunakan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worker/scheduler,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kemudian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data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disimpan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ke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database dan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dapat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ditampilkan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berdasarkan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gunungapi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serta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periode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pengamatan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. </a:t>
            </a:r>
          </a:p>
          <a:p>
            <a:pPr marL="514350" indent="-514350" algn="just">
              <a:lnSpc>
                <a:spcPts val="2659"/>
              </a:lnSpc>
              <a:buFont typeface="+mj-lt"/>
              <a:buAutoNum type="arabicPeriod"/>
            </a:pPr>
            <a:endParaRPr lang="en-US" sz="2800" dirty="0">
              <a:solidFill>
                <a:srgbClr val="30444F"/>
              </a:solidFill>
              <a:latin typeface="Be Vietnam"/>
              <a:ea typeface="Be Vietnam"/>
              <a:cs typeface="Be Vietnam"/>
              <a:sym typeface="Be Vietnam"/>
            </a:endParaRPr>
          </a:p>
          <a:p>
            <a:pPr marL="514350" indent="-514350" algn="just">
              <a:lnSpc>
                <a:spcPts val="2659"/>
              </a:lnSpc>
              <a:buFont typeface="+mj-lt"/>
              <a:buAutoNum type="arabicPeriod"/>
            </a:pP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Data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termal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MODIS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dapat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diolah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menggunakan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metode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Harris &amp; Ripepe (2007)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untuk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menghasilkan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informasi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spectral radiance, heat flux, volume flux,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serta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estimasi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volume lava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secara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interval dan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kumulatif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. </a:t>
            </a:r>
          </a:p>
          <a:p>
            <a:pPr marL="514350" indent="-514350" algn="just">
              <a:lnSpc>
                <a:spcPts val="2659"/>
              </a:lnSpc>
              <a:buFont typeface="+mj-lt"/>
              <a:buAutoNum type="arabicPeriod"/>
            </a:pPr>
            <a:endParaRPr lang="en-US" sz="2800" dirty="0">
              <a:solidFill>
                <a:srgbClr val="30444F"/>
              </a:solidFill>
              <a:latin typeface="Be Vietnam"/>
              <a:ea typeface="Be Vietnam"/>
              <a:cs typeface="Be Vietnam"/>
              <a:sym typeface="Be Vietnam"/>
            </a:endParaRPr>
          </a:p>
          <a:p>
            <a:pPr marL="514350" indent="-514350" algn="just">
              <a:lnSpc>
                <a:spcPts val="2659"/>
              </a:lnSpc>
              <a:buFont typeface="+mj-lt"/>
              <a:buAutoNum type="arabicPeriod"/>
            </a:pP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Dashboard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menyediakan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visualisasi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analisis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termal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dan 3D DEM,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sehingga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data hotspot,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topografi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,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persebaran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hotspot,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serta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hasil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perhitungan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dapat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diamati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secara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lebih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800" dirty="0" err="1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terstruktur</a:t>
            </a:r>
            <a:r>
              <a:rPr lang="en-US" sz="2800" dirty="0">
                <a:solidFill>
                  <a:srgbClr val="30444F"/>
                </a:solidFill>
                <a:latin typeface="Be Vietnam"/>
                <a:ea typeface="Be Vietnam"/>
                <a:cs typeface="Be Vietnam"/>
                <a:sym typeface="Be Vietnam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920076" y="4494164"/>
            <a:ext cx="12447848" cy="1317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9"/>
              </a:lnSpc>
            </a:pPr>
            <a:r>
              <a:rPr lang="en-US" sz="8788" b="1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777</Words>
  <Application>Microsoft Office PowerPoint</Application>
  <PresentationFormat>Custom</PresentationFormat>
  <Paragraphs>133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Plus Jakarta Sans</vt:lpstr>
      <vt:lpstr>Calibri</vt:lpstr>
      <vt:lpstr>Atkinson Hyperlegible</vt:lpstr>
      <vt:lpstr>Be Vietnam Ultra-Bold</vt:lpstr>
      <vt:lpstr>Atkinson Hyperlegible Bold</vt:lpstr>
      <vt:lpstr>Arial</vt:lpstr>
      <vt:lpstr>Be Vietnam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Gray Minimalist Mountain Presentation</dc:title>
  <dc:creator>Asus</dc:creator>
  <cp:lastModifiedBy>salma aulia nisa</cp:lastModifiedBy>
  <cp:revision>15</cp:revision>
  <dcterms:created xsi:type="dcterms:W3CDTF">2006-08-16T00:00:00Z</dcterms:created>
  <dcterms:modified xsi:type="dcterms:W3CDTF">2026-09-29T10:50:07Z</dcterms:modified>
  <dc:identifier>DAHVU4Cnq-w</dc:identifier>
</cp:coreProperties>
</file>